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de0f5653fe449b" /><Relationship Type="http://schemas.openxmlformats.org/officeDocument/2006/relationships/extended-properties" Target="/docProps/app.xml" Id="R6b64653bf0f54e38" /><Relationship Type="http://schemas.openxmlformats.org/officeDocument/2006/relationships/officeDocument" Target="/ppt/presentation.xml" Id="R0842505b3c014b60" /></Relationships>
</file>

<file path=ppt/presentation.xml><?xml version="1.0" encoding="utf-8"?>
<p:presentation xmlns:p="http://schemas.openxmlformats.org/presentationml/2006/main">
  <p:sldMasterIdLst>
    <p:sldMasterId xmlns:r="http://schemas.openxmlformats.org/officeDocument/2006/relationships" id="2147483648" r:id="R6606d268fad247ea"/>
  </p:sldMasterIdLst>
  <p:notesMasterIdLst>
    <p:notesMasterId xmlns:r="http://schemas.openxmlformats.org/officeDocument/2006/relationships" r:id="Rca4c002418514f49"/>
  </p:notesMasterIdLst>
  <p:sldIdLst>
    <p:sldId xmlns:r="http://schemas.openxmlformats.org/officeDocument/2006/relationships" id="256" r:id="Rc5456f54d8ee4831"/>
    <p:sldId xmlns:r="http://schemas.openxmlformats.org/officeDocument/2006/relationships" id="257" r:id="Rc1180aadb6ef4e96"/>
    <p:sldId xmlns:r="http://schemas.openxmlformats.org/officeDocument/2006/relationships" id="258" r:id="Rb687dd76580d4fb2"/>
    <p:sldId xmlns:r="http://schemas.openxmlformats.org/officeDocument/2006/relationships" id="259" r:id="R998050fa36664f3e"/>
    <p:sldId xmlns:r="http://schemas.openxmlformats.org/officeDocument/2006/relationships" id="260" r:id="Rb14b7578b2634425"/>
    <p:sldId xmlns:r="http://schemas.openxmlformats.org/officeDocument/2006/relationships" id="261" r:id="Rcbeb088fface4acd"/>
    <p:sldId xmlns:r="http://schemas.openxmlformats.org/officeDocument/2006/relationships" id="262" r:id="R6f749badf3634c00"/>
    <p:sldId xmlns:r="http://schemas.openxmlformats.org/officeDocument/2006/relationships" id="263" r:id="R0ae6425a3bf54a39"/>
    <p:sldId xmlns:r="http://schemas.openxmlformats.org/officeDocument/2006/relationships" id="264" r:id="R8a447fac42444f1f"/>
    <p:sldId xmlns:r="http://schemas.openxmlformats.org/officeDocument/2006/relationships" id="265" r:id="R09755f5d1aa9417b"/>
    <p:sldId xmlns:r="http://schemas.openxmlformats.org/officeDocument/2006/relationships" id="266" r:id="Rf4d34107bf7048aa"/>
    <p:sldId xmlns:r="http://schemas.openxmlformats.org/officeDocument/2006/relationships" id="267" r:id="R3fbad7e6a98b41a2"/>
    <p:sldId xmlns:r="http://schemas.openxmlformats.org/officeDocument/2006/relationships" id="268" r:id="R19204d095e7f474c"/>
    <p:sldId xmlns:r="http://schemas.openxmlformats.org/officeDocument/2006/relationships" id="269" r:id="Ra5f4725dc4ff4532"/>
    <p:sldId xmlns:r="http://schemas.openxmlformats.org/officeDocument/2006/relationships" id="270" r:id="Rf522b6096d5b4dcc"/>
    <p:sldId xmlns:r="http://schemas.openxmlformats.org/officeDocument/2006/relationships" id="271" r:id="Re1f71db78f0a4573"/>
    <p:sldId xmlns:r="http://schemas.openxmlformats.org/officeDocument/2006/relationships" id="272" r:id="Rdc1292febb924bad"/>
    <p:sldId xmlns:r="http://schemas.openxmlformats.org/officeDocument/2006/relationships" id="273" r:id="R196945381ef5495d"/>
    <p:sldId xmlns:r="http://schemas.openxmlformats.org/officeDocument/2006/relationships" id="274" r:id="R2ffe72da6e9b4caf"/>
    <p:sldId xmlns:r="http://schemas.openxmlformats.org/officeDocument/2006/relationships" id="275" r:id="Ra8e7a631b69d47dd"/>
    <p:sldId xmlns:r="http://schemas.openxmlformats.org/officeDocument/2006/relationships" id="276" r:id="R096d41bc7d644186"/>
    <p:sldId xmlns:r="http://schemas.openxmlformats.org/officeDocument/2006/relationships" id="277" r:id="R9672e163e5fd4d56"/>
    <p:sldId xmlns:r="http://schemas.openxmlformats.org/officeDocument/2006/relationships" id="278" r:id="Rea4bdc88439b4d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875d3d0e32485d" /><Relationship Type="http://schemas.openxmlformats.org/officeDocument/2006/relationships/slideMaster" Target="/ppt/slideMasters/slideMaster1.xml" Id="R6606d268fad247ea" /><Relationship Type="http://schemas.openxmlformats.org/officeDocument/2006/relationships/notesMaster" Target="/ppt/notesMasters/notesMaster1.xml" Id="Rca4c002418514f49" /><Relationship Type="http://schemas.openxmlformats.org/officeDocument/2006/relationships/presProps" Target="/ppt/presProps.xml" Id="R45e917f06f6c4581" /><Relationship Type="http://schemas.openxmlformats.org/officeDocument/2006/relationships/tableStyles" Target="/ppt/tableStyles.xml" Id="Rcfbce1581d924d3e" /><Relationship Type="http://schemas.openxmlformats.org/officeDocument/2006/relationships/slide" Target="/ppt/slides/slide1.xml" Id="Rc5456f54d8ee4831" /><Relationship Type="http://schemas.openxmlformats.org/officeDocument/2006/relationships/slide" Target="/ppt/slides/slide2.xml" Id="Rc1180aadb6ef4e96" /><Relationship Type="http://schemas.openxmlformats.org/officeDocument/2006/relationships/slide" Target="/ppt/slides/slide3.xml" Id="Rb687dd76580d4fb2" /><Relationship Type="http://schemas.openxmlformats.org/officeDocument/2006/relationships/slide" Target="/ppt/slides/slide4.xml" Id="R998050fa36664f3e" /><Relationship Type="http://schemas.openxmlformats.org/officeDocument/2006/relationships/slide" Target="/ppt/slides/slide5.xml" Id="Rb14b7578b2634425" /><Relationship Type="http://schemas.openxmlformats.org/officeDocument/2006/relationships/slide" Target="/ppt/slides/slide6.xml" Id="Rcbeb088fface4acd" /><Relationship Type="http://schemas.openxmlformats.org/officeDocument/2006/relationships/slide" Target="/ppt/slides/slide7.xml" Id="R6f749badf3634c00" /><Relationship Type="http://schemas.openxmlformats.org/officeDocument/2006/relationships/slide" Target="/ppt/slides/slide8.xml" Id="R0ae6425a3bf54a39" /><Relationship Type="http://schemas.openxmlformats.org/officeDocument/2006/relationships/slide" Target="/ppt/slides/slide9.xml" Id="R8a447fac42444f1f" /><Relationship Type="http://schemas.openxmlformats.org/officeDocument/2006/relationships/slide" Target="/ppt/slides/slide10.xml" Id="R09755f5d1aa9417b" /><Relationship Type="http://schemas.openxmlformats.org/officeDocument/2006/relationships/slide" Target="/ppt/slides/slide11.xml" Id="Rf4d34107bf7048aa" /><Relationship Type="http://schemas.openxmlformats.org/officeDocument/2006/relationships/slide" Target="/ppt/slides/slide12.xml" Id="R3fbad7e6a98b41a2" /><Relationship Type="http://schemas.openxmlformats.org/officeDocument/2006/relationships/slide" Target="/ppt/slides/slide13.xml" Id="R19204d095e7f474c" /><Relationship Type="http://schemas.openxmlformats.org/officeDocument/2006/relationships/slide" Target="/ppt/slides/slide14.xml" Id="Ra5f4725dc4ff4532" /><Relationship Type="http://schemas.openxmlformats.org/officeDocument/2006/relationships/slide" Target="/ppt/slides/slide15.xml" Id="Rf522b6096d5b4dcc" /><Relationship Type="http://schemas.openxmlformats.org/officeDocument/2006/relationships/slide" Target="/ppt/slides/slide16.xml" Id="Re1f71db78f0a4573" /><Relationship Type="http://schemas.openxmlformats.org/officeDocument/2006/relationships/slide" Target="/ppt/slides/slide17.xml" Id="Rdc1292febb924bad" /><Relationship Type="http://schemas.openxmlformats.org/officeDocument/2006/relationships/slide" Target="/ppt/slides/slide18.xml" Id="R196945381ef5495d" /><Relationship Type="http://schemas.openxmlformats.org/officeDocument/2006/relationships/slide" Target="/ppt/slides/slide19.xml" Id="R2ffe72da6e9b4caf" /><Relationship Type="http://schemas.openxmlformats.org/officeDocument/2006/relationships/slide" Target="/ppt/slides/slide20.xml" Id="Ra8e7a631b69d47dd" /><Relationship Type="http://schemas.openxmlformats.org/officeDocument/2006/relationships/slide" Target="/ppt/slides/slide21.xml" Id="R096d41bc7d644186" /><Relationship Type="http://schemas.openxmlformats.org/officeDocument/2006/relationships/slide" Target="/ppt/slides/slide22.xml" Id="R9672e163e5fd4d56" /><Relationship Type="http://schemas.openxmlformats.org/officeDocument/2006/relationships/slide" Target="/ppt/slides/slide23.xml" Id="Rea4bdc88439b4d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822c73bbc14c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d01282edc94f48" /><Relationship Type="http://schemas.openxmlformats.org/officeDocument/2006/relationships/notesMaster" Target="/ppt/notesMasters/notesMaster1.xml" Id="R0febe34be8e44b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bc2fbdc14c4a8c" /><Relationship Type="http://schemas.openxmlformats.org/officeDocument/2006/relationships/notesMaster" Target="/ppt/notesMasters/notesMaster1.xml" Id="R655edb74e2fe45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b0212945c54e8e" /><Relationship Type="http://schemas.openxmlformats.org/officeDocument/2006/relationships/notesMaster" Target="/ppt/notesMasters/notesMaster1.xml" Id="Rc34c1c6e448649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f7c9051a804e9f" /><Relationship Type="http://schemas.openxmlformats.org/officeDocument/2006/relationships/notesMaster" Target="/ppt/notesMasters/notesMaster1.xml" Id="R33875065ba7044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a0f3e422614f47" /><Relationship Type="http://schemas.openxmlformats.org/officeDocument/2006/relationships/notesMaster" Target="/ppt/notesMasters/notesMaster1.xml" Id="R682451eec44b4f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145ea8d8324415" /><Relationship Type="http://schemas.openxmlformats.org/officeDocument/2006/relationships/notesMaster" Target="/ppt/notesMasters/notesMaster1.xml" Id="R80fd1a57dd144a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3d6d4ca4c94a6a" /><Relationship Type="http://schemas.openxmlformats.org/officeDocument/2006/relationships/notesMaster" Target="/ppt/notesMasters/notesMaster1.xml" Id="Rb4d76d5006bc49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84334212364757" /><Relationship Type="http://schemas.openxmlformats.org/officeDocument/2006/relationships/notesMaster" Target="/ppt/notesMasters/notesMaster1.xml" Id="Rb5ca4e8864bb47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86b1b832e84b8e" /><Relationship Type="http://schemas.openxmlformats.org/officeDocument/2006/relationships/notesMaster" Target="/ppt/notesMasters/notesMaster1.xml" Id="Rd78bb01b6b0a4a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0f92d53f0d4abf" /><Relationship Type="http://schemas.openxmlformats.org/officeDocument/2006/relationships/notesMaster" Target="/ppt/notesMasters/notesMaster1.xml" Id="R1ce5e18c2ad54c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cf95f7fb7624511" /><Relationship Type="http://schemas.openxmlformats.org/officeDocument/2006/relationships/notesMaster" Target="/ppt/notesMasters/notesMaster1.xml" Id="R3d9694ce834442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107daeafbd4222" /><Relationship Type="http://schemas.openxmlformats.org/officeDocument/2006/relationships/notesMaster" Target="/ppt/notesMasters/notesMaster1.xml" Id="R9243d170cd6740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8e3f1106aa4762" /><Relationship Type="http://schemas.openxmlformats.org/officeDocument/2006/relationships/notesMaster" Target="/ppt/notesMasters/notesMaster1.xml" Id="R63a6ebede54744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8025908fa341f3" /><Relationship Type="http://schemas.openxmlformats.org/officeDocument/2006/relationships/notesMaster" Target="/ppt/notesMasters/notesMaster1.xml" Id="R0c0bc409e29d42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18c2b237b94e0e" /><Relationship Type="http://schemas.openxmlformats.org/officeDocument/2006/relationships/notesMaster" Target="/ppt/notesMasters/notesMaster1.xml" Id="R661b65b20fb543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6b2a56ddbed430d" /><Relationship Type="http://schemas.openxmlformats.org/officeDocument/2006/relationships/notesMaster" Target="/ppt/notesMasters/notesMaster1.xml" Id="R60e7c39688dd4d5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befc69effa4a44" /><Relationship Type="http://schemas.openxmlformats.org/officeDocument/2006/relationships/notesMaster" Target="/ppt/notesMasters/notesMaster1.xml" Id="R0c75232b0e39408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fec30c4abcd4a69" /><Relationship Type="http://schemas.openxmlformats.org/officeDocument/2006/relationships/notesMaster" Target="/ppt/notesMasters/notesMaster1.xml" Id="R8a29291570c642e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c99541adea42da" /><Relationship Type="http://schemas.openxmlformats.org/officeDocument/2006/relationships/notesMaster" Target="/ppt/notesMasters/notesMaster1.xml" Id="R4b12a92e566040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42469dfaeae48b0" /><Relationship Type="http://schemas.openxmlformats.org/officeDocument/2006/relationships/notesMaster" Target="/ppt/notesMasters/notesMaster1.xml" Id="Rc8ba5644eaa140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d231c62998475d" /><Relationship Type="http://schemas.openxmlformats.org/officeDocument/2006/relationships/notesMaster" Target="/ppt/notesMasters/notesMaster1.xml" Id="R3f879064c9dc4de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8adb9124d4476d" /><Relationship Type="http://schemas.openxmlformats.org/officeDocument/2006/relationships/notesMaster" Target="/ppt/notesMasters/notesMaster1.xml" Id="R69173ea84d624b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9586d35bc4544ed" /><Relationship Type="http://schemas.openxmlformats.org/officeDocument/2006/relationships/notesMaster" Target="/ppt/notesMasters/notesMaster1.xml" Id="R1f602344b6524e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status at the requested stopping point. No further model training or evaluation runs occurred for this presentation. LUCID author-source reconfirmation remains pending.</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counts derive from the corpus documentation and local source inventory. The 240-row lexical reference is retained locally with provenance reconfirmation pending. OCSC and NYU counts of usable children and sections derive from the frozen cohort manifest, not the source website totals. LUCID is a separate lexical reference.</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https://talkbank.org/childes/access/Eng-NA/OCSC.html</a:t>
            </a:r>
          </a:p>
          <a:p xmlns:a="http://schemas.openxmlformats.org/drawingml/2006/main">
            <a:r>
              <a:t>https://talkbank.org/asd/access/English/NYU-Emerson.html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corpus also contains sentence reading and picture naming. Our selected packages concern dialogue. TextGrids contain word text, times and speaker tiers. The downloaded collection contains 60 babble,60 L2,60 no-barrier and120 vocoder TextGrids. Multiple vocoder candidates explain why300 transcripts do not equal240 reference samples. Original source files remain unchanged.</a:t>
            </a:r>
          </a:p>
          <a:p xmlns:a="http://schemas.openxmlformats.org/drawingml/2006/main">
            <a:r>
              <a:t/>
            </a:r>
          </a:p>
          <a:p xmlns:a="http://schemas.openxmlformats.org/drawingml/2006/main">
            <a:r>
              <a:t>Sources</a:t>
            </a:r>
          </a:p>
          <a:p xmlns:a="http://schemas.openxmlformats.org/drawingml/2006/main">
            <a:r>
              <a:t>https://valeriehazan.com/index.php/lucid-corpus-london-ucl-clear-speech-in-interaction/</a:t>
            </a:r>
          </a:p>
          <a:p xmlns:a="http://schemas.openxmlformats.org/drawingml/2006/main">
            <a:r>
              <a:t>/Users/nafeekazi/Desktop/PhD/speech_pipeline_code/dataset/public/lucid_published/source_docs/LUCID - TextGrid README.txt</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gems are ExpPictures, Howto and DescriptivePictures. Two of303 child transcripts contain no eligible discourse section and remain documented exclusions. The official media release provides lapel-microphone audio. Age4–9 is the published description; local CHAT age headers are not fully harmonized and include a younger minimum. Our explanatory age medians use those headers explicitly.</a:t>
            </a:r>
          </a:p>
          <a:p xmlns:a="http://schemas.openxmlformats.org/drawingml/2006/main">
            <a:r>
              <a:t/>
            </a:r>
          </a:p>
          <a:p xmlns:a="http://schemas.openxmlformats.org/drawingml/2006/main">
            <a:r>
              <a:t>Sources</a:t>
            </a:r>
          </a:p>
          <a:p xmlns:a="http://schemas.openxmlformats.org/drawingml/2006/main">
            <a:r>
              <a:t>https://talkbank.org/childes/access/Eng-NA/OCSC.html</a:t>
            </a:r>
          </a:p>
          <a:p xmlns:a="http://schemas.openxmlformats.org/drawingml/2006/main">
            <a:r>
              <a:t>/Users/nafeekazi/Desktop/PhD/speech_pipeline_code/outputs/validation/cohorts_v1/manifest.json</a:t>
            </a:r>
          </a:p>
          <a:p xmlns:a="http://schemas.openxmlformats.org/drawingml/2006/main">
            <a:r>
              <a:t>/Users/nafeekazi/Desktop/PhD/speech_pipeline_code/outputs/results/cv_hyperparameter_v4/NYU_EXPLANATION.md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Corpus citation: Steen, Buonocore, Luyster, Sancimino and Arunachalam (2026), Introducing the NYU–Emerson Corpus, Meeting on Language in Autism. Sections include free play/conversation, independent pretend play, pretend play with parent, and sensory/cause-and-effect play. Current published data include autistic children, although the larger parent study also recruited non-autistic children. User-requested comparison uses the released set only.</a:t>
            </a:r>
          </a:p>
          <a:p xmlns:a="http://schemas.openxmlformats.org/drawingml/2006/main">
            <a:r>
              <a:t/>
            </a:r>
          </a:p>
          <a:p xmlns:a="http://schemas.openxmlformats.org/drawingml/2006/main">
            <a:r>
              <a:t>Sources</a:t>
            </a:r>
          </a:p>
          <a:p xmlns:a="http://schemas.openxmlformats.org/drawingml/2006/main">
            <a:r>
              <a:t>https://talkbank.org/asd/access/English/NYU-Emerson.html</a:t>
            </a:r>
          </a:p>
          <a:p xmlns:a="http://schemas.openxmlformats.org/drawingml/2006/main">
            <a:r>
              <a:t>/Users/nafeekazi/Desktop/PhD/speech_pipeline_code/outputs/validation/cohorts_v1/manifest.json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Task-section counts: OCSC train567/eval125/test111, NYU63/14/15, total630/139/126. NYU originally assigns22 to train, of whom2 have no eligible records. OCSC2 exclusions have no selected discourse tasks. Train/eval/test participants are disjoint. Existing test results have prior benchmark exposure and are descriptive; preserving disjointness does not create newly unexposed confirmation.</a:t>
            </a:r>
          </a:p>
          <a:p xmlns:a="http://schemas.openxmlformats.org/drawingml/2006/main">
            <a:r>
              <a:t/>
            </a:r>
          </a:p>
          <a:p xmlns:a="http://schemas.openxmlformats.org/drawingml/2006/main">
            <a:r>
              <a:t>Sources</a:t>
            </a:r>
          </a:p>
          <a:p xmlns:a="http://schemas.openxmlformats.org/drawingml/2006/main">
            <a:r>
              <a:t>/Users/nafeekazi/Desktop/PhD/speech_pipeline_code/outputs/validation/cohorts_v1/AUDIT.md</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Absolute percentage error is100*abs(predicted-reference)/abs(reference). Zero or undefined denominators remain unavailable. LUCID uses per-recording values before participant averaging. Eligible count differs from total verbal units. MLU means length in words, not morphemes. Native CHAT FREQ and MLU have different word eligibility. Results include exclusions/missingness, never replace unavailable values with zero.</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workflow is turn_ml with margin0.25. Observed turns merge consecutive same-speaker transcript rows. Human utterance endings are withheld at inference. Lexical calculations and native CHAT surface scoring are separate branches. The audio/ASR node is planned, not an input to these reported results.</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/Users/nafeekazi/Desktop/PhD/speech_pipeline_code/outputs/results/cv_hyperparameter_v4/PIPELINE.md</a:t>
            </a:r>
          </a:p>
          <a:p xmlns:a="http://schemas.openxmlformats.org/drawingml/2006/main">
            <a:r>
              <a:t>/Users/nafeekazi/Desktop/PhD/speech_pipeline_code/speech_pipeline/lexical_compat.py</a:t>
            </a:r>
          </a:p>
          <a:p xmlns:a="http://schemas.openxmlformats.org/drawingml/2006/main">
            <a:r>
              <a:t>/Users/nafeekazi/Desktop/PhD/speech_pipeline_code/speech_pipeline/segmentation.py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MiniLM-L12-H384-uncased, learned16-dimensional rule embedding and128-unit GELU/dropout gap head. The current model is not merely an unchanged off-the-shelf model. Native CLAN MLU/FREQ and historical TAALED compatibility are external/software-rule components. Source-supported historical processing uses the installed spaCy model, not a reconstructed2021 environment.</a:t>
            </a:r>
          </a:p>
          <a:p xmlns:a="http://schemas.openxmlformats.org/drawingml/2006/main">
            <a:r>
              <a:t/>
            </a:r>
          </a:p>
          <a:p xmlns:a="http://schemas.openxmlformats.org/drawingml/2006/main">
            <a:r>
              <a:t>Sources</a:t>
            </a:r>
          </a:p>
          <a:p xmlns:a="http://schemas.openxmlformats.org/drawingml/2006/main">
            <a:r>
              <a:t>https://huggingface.co/microsoft/MiniLM-L12-H384-uncased</a:t>
            </a:r>
          </a:p>
          <a:p xmlns:a="http://schemas.openxmlformats.org/drawingml/2006/main">
            <a:r>
              <a:t>/Users/nafeekazi/Desktop/PhD/speech_pipeline_code/speech_pipeline/segmentation.py</a:t>
            </a:r>
          </a:p>
          <a:p xmlns:a="http://schemas.openxmlformats.org/drawingml/2006/main">
            <a:r>
              <a:t>/Users/nafeekazi/Desktop/PhD/speech_pipeline_code/speech_pipeline/lexical_compat.py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chosen earlier production workflow is turn_ml, margin0.25. A batching inconsistency in the initial boundary calibration was caught before accepting selection, then original preprocessing and parity checks were used. A single-eval ensemble branch was superseded by the CV search. Three CV configurations completed all five folds; a fourth stopped during fold1. We preserve that history and do not claim it produced a new final model.</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/Users/nafeekazi/Desktop/PhD/speech_pipeline_code/outputs/results/transcript_validation/REPORT.md</a:t>
            </a:r>
          </a:p>
          <a:p xmlns:a="http://schemas.openxmlformats.org/drawingml/2006/main">
            <a:r>
              <a:t>/Users/nafeekazi/Desktop/PhD/speech_pipeline_code/outputs/results/cv_hyperparameter_v4/METHODS.md</a:t>
            </a:r>
          </a:p>
          <a:p xmlns:a="http://schemas.openxmlformats.org/drawingml/2006/main">
            <a:r>
              <a:t>/Users/nafeekazi/Desktop/PhD/speech_pipeline_code/outputs/results/cv_hyperparameter_v4/stopped_search_summary.json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CV objective equally averages count, MLUw and length-SD participant APE across the two corpora. Configurations: lr2_count1,lr2_count025,lr3_count1. Same grouped folds per recipe. Fit147–148,inner37,heldout46–47 per fold. Three configurations complete15 assessments. Fourth lr3_count025 stopped in first fold and is excluded entirely. Original eval/test do not enter recipe comparison. The selected CV minimum is a tuning score, not an unbiased final accuracy estimate.</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/Users/nafeekazi/Desktop/PhD/speech_pipeline_code/outputs/results/cv_hyperparameter_v4/METHODS.md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reference is recorded as the authors’ OSF TAALED export. It matches saved OSF metadata, but current access failed and independent author-source reconfirmation is pending. Comparison matches speaker, condition and scene without selecting recordings by score agreement. Exact historical cleaned inputs remain unavailable.</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/Users/nafeekazi/Desktop/PhD/speech_pipeline_code/outputs/results/transcript_validation/lucid_results.json</a:t>
            </a:r>
          </a:p>
          <a:p xmlns:a="http://schemas.openxmlformats.org/drawingml/2006/main">
            <a:r>
              <a:t>https://doi.org/10.3389/fpsyg.2021.661415</a:t>
            </a:r>
          </a:p>
          <a:p xmlns:a="http://schemas.openxmlformats.org/drawingml/2006/main">
            <a:r>
              <a:t>https://osf.io/dfhpu/?view_only=49d95d90424941da82217a239ab7450c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Baese-Berk and colleagues2021 used TAALED for lexical diversity and TAALES for sophistication. Footnote2 links exported data/code/preregistration to OSF. Our comparison does not reproduce their TAALES measures, mixed-model coefficients or p-values. All15 exact columns and source chain appear in the local provenance note. Figure4 explicitly uses moving-average forward/backward MTLD, while our compared field is mtld_original_aw. CSV/hash consistency alone is not independent proof of historical transfer.</a:t>
            </a:r>
          </a:p>
          <a:p xmlns:a="http://schemas.openxmlformats.org/drawingml/2006/main">
            <a:r>
              <a:t/>
            </a:r>
          </a:p>
          <a:p xmlns:a="http://schemas.openxmlformats.org/drawingml/2006/main">
            <a:r>
              <a:t>Sources</a:t>
            </a:r>
          </a:p>
          <a:p xmlns:a="http://schemas.openxmlformats.org/drawingml/2006/main">
            <a:r>
              <a:t>https://doi.org/10.3389/fpsyg.2021.661415</a:t>
            </a:r>
          </a:p>
          <a:p xmlns:a="http://schemas.openxmlformats.org/drawingml/2006/main">
            <a:r>
              <a:t>https://osf.io/dfhpu/?view_only=49d95d90424941da82217a239ab7450c</a:t>
            </a:r>
          </a:p>
          <a:p xmlns:a="http://schemas.openxmlformats.org/drawingml/2006/main">
            <a:r>
              <a:t>https://www.linguisticanalysistools.org/taaled.html</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come from retained transcript_validation/lucid_results.json, not printed paper accuracy percentages. Each available condition has60 samples from20 speakers. All240 local reference rows remain in coverage,180 scored. All15 shared means meet project engineering targets in babble/L2, but those are internal goals, not clinical standards or paper thresholds. Exact historical cleaned inputs/software are unavailable. Possible source/preparation differences remain, particularly no-barrier. Independent remote source verification is pending.</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OCSC raw source303 children,301 usable with803 selected sections. Retained model input uses words and observed turns from the corresponding selected sections. Original human CHAT boundaries and coding remain in the reference path. Existing test45 children111 sections. The same native CLAN commands score predictions and references.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Methodturn_ml/margin0.25. Available sections: all111 for TNW/NDW/TTR/count/MLUw,104 for MATTR,109 for length SD. All45 participants contribute to these summaries. Missing values stay missing. Eligible count is the CLAN MLU-eligible count, not all verbal units. Project5% count/MLU and10% SD engineering goals remain unmet. Historical test exposure is documented. These values are not scores from the later CV fold models.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NYU30 source children,28 usable with92 selected sections, test4 children15 sections. Two assigned training children lack eligible boundary gaps and remain explicit exclusions. Human CHAT references include coding/eligibility information beyond what plain predictions can recreate. We do not invent human annotations.</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/Users/nafeekazi/Desktop/PhD/speech_pipeline_code/outputs/validation/cohorts_v1/manifest.json</a:t>
            </a:r>
          </a:p>
          <a:p xmlns:a="http://schemas.openxmlformats.org/drawingml/2006/main">
            <a:r>
              <a:t>https://talkbank.org/manuals/CLAN.pdf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All15 test sections contribute to these metrics and all4 test participants contribute. Methodturn_ml/margin0.25. Existing test results are retained descriptive evaluations. NYU length-SD error13.70% is slightly lower than OCSC14.24%, so the conclusion is metric-specific. Count/MLU are worse; not every measure is worse. No new final fit/test followed the CV search.</a:t>
            </a:r>
          </a:p>
          <a:p xmlns:a="http://schemas.openxmlformats.org/drawingml/2006/main">
            <a:r>
              <a:t/>
            </a:r>
          </a:p>
          <a:p xmlns:a="http://schemas.openxmlformats.org/drawingml/2006/main">
            <a:r>
              <a:t>Sources</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/Users/nafeekazi/Desktop/PhD/speech_pipeline_code/outputs/validation/cohorts_v1/AUDIT.md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CV row pools five heldout models under one consistent recipe. Do not combine minimum cells across rows or relabel these tuning values as external test performance. Earlier fixed-recipe v1 compared with current v4 protocol remains a historical comparison; within-v4 baseline versus lower-count is the paired recipe comparison. Fourth configuration excluded entirely. No fresh final model was trained after the user stopped the search.</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/Users/nafeekazi/Desktop/PhD/speech_pipeline_code/outputs/results/cv_hyperparameter_v4/REPORT.md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profiling uses original train+eval only, not test-based tuning. Training source words: NYU5336,OCSC229378. Native FREQ/MLU word-total gaps7.22% vs1.79%. Different eligibility/coding and small reference denominators may amplify percentage errors. NYU was not worse on every metric: preceding CV micro boundaryF1 NYU88.81% versusOCSC87.22%; retained test length SD NYU13.70% vsOCSC14.24%. LUCID no-barrier discrepancies also suggest unresolved source/preparation differences. No causal attribution has been established.</a:t>
            </a:r>
          </a:p>
          <a:p xmlns:a="http://schemas.openxmlformats.org/drawingml/2006/main">
            <a:r>
              <a:t/>
            </a:r>
          </a:p>
          <a:p xmlns:a="http://schemas.openxmlformats.org/drawingml/2006/main">
            <a:r>
              <a:t>Sources</a:t>
            </a:r>
          </a:p>
          <a:p xmlns:a="http://schemas.openxmlformats.org/drawingml/2006/main">
            <a:r>
              <a:t>/Users/nafeekazi/Desktop/PhD/speech_pipeline_code/outputs/results/cv_hyperparameter_v4/NYU_EXPLANATION.md</a:t>
            </a:r>
          </a:p>
          <a:p xmlns:a="http://schemas.openxmlformats.org/drawingml/2006/main">
            <a:r>
              <a:t>/Users/nafeekazi/Desktop/PhD/speech_pipeline_code/outputs/validation/cv_hyperparameter_v4/development_input_profile.json</a:t>
            </a:r>
          </a:p>
          <a:p xmlns:a="http://schemas.openxmlformats.org/drawingml/2006/main">
            <a:r>
              <a:t>/Users/nafeekazi/Desktop/PhD/speech_pipeline_code/outputs/validation/cv_hyperparameter_v4/development_age_profile.json</a:t>
            </a:r>
          </a:p>
          <a:p xmlns:a="http://schemas.openxmlformats.org/drawingml/2006/main">
            <a:r>
              <a:t>/Users/nafeekazi/Desktop/PhD/speech_pipeline_code/outputs/results/transcript_validation/LUCID_METRIC_PROVENANCE.md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proposed work only. Use matching task intervals and target-speaker channels so adult speech, privacy edits and excluded tasks do not contaminate comparison. Compare ASR transcript to human words, then compute downstream metric differences with the frozen text pipeline. MOSS can provide multi-speaker transcription outputs; target identity/channel handling must be verified before scoring. Published LUCID lexical references remain pending provenance confirmation and vocoder mapping. No audio results are asserted.</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/Users/nafeekazi/Desktop/PhD/speech_pipeline_code/SESSION_HANDOFF.md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study plan:10 autistic participants and37 recordings, aged8–17 in project documents. Revisit those recordings after the public transcript work, without moving public-test participants into train/eval. Acquisition plan has301 OCSC,28 NYU and300 LUCID recordings. LUCID WAVs alone need29.09GiB; TalkBank requires authorized cookies. Downloads preserve existing roles and raw media. This presentation does not restart stopped training or authorize contacting authors.</a:t>
            </a:r>
          </a:p>
          <a:p xmlns:a="http://schemas.openxmlformats.org/drawingml/2006/main">
            <a:r>
              <a:t/>
            </a:r>
          </a:p>
          <a:p xmlns:a="http://schemas.openxmlformats.org/drawingml/2006/main">
            <a:r>
              <a:t>Sources</a:t>
            </a:r>
          </a:p>
          <a:p xmlns:a="http://schemas.openxmlformats.org/drawingml/2006/main">
            <a:r>
              <a:t>/Users/nafeekazi/Desktop/PhD/speech_pipeline_code/scripts/README_AUDIO_DOWNLOAD.md</a:t>
            </a:r>
          </a:p>
          <a:p xmlns:a="http://schemas.openxmlformats.org/drawingml/2006/main">
            <a:r>
              <a:t>/Users/nafeekazi/Desktop/PhD/speech_pipeline_code/SESSION_HANDOFF.md</a:t>
            </a:r>
          </a:p>
          <a:p xmlns:a="http://schemas.openxmlformats.org/drawingml/2006/main">
            <a:r>
              <a:t>/Users/nafeekazi/Desktop/PhD/speech_pipeline_code/outputs/validation/audio_acquisition_v1/access_check.json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external references</a:t>
            </a:r>
          </a:p>
          <a:p xmlns:a="http://schemas.openxmlformats.org/drawingml/2006/main">
            <a:r>
              <a:t>ocsc: https://talkbank.org/childes/access/Eng-NA/OCSC.html</a:t>
            </a:r>
          </a:p>
          <a:p xmlns:a="http://schemas.openxmlformats.org/drawingml/2006/main">
            <a:r>
              <a:t>nyu: https://talkbank.org/asd/access/English/NYU-Emerson.html</a:t>
            </a:r>
          </a:p>
          <a:p xmlns:a="http://schemas.openxmlformats.org/drawingml/2006/main">
            <a:r>
              <a:t>lucid: https://valeriehazan.com/index.php/lucid-corpus-london-ucl-clear-speech-in-interaction/</a:t>
            </a:r>
          </a:p>
          <a:p xmlns:a="http://schemas.openxmlformats.org/drawingml/2006/main">
            <a:r>
              <a:t>paper: https://doi.org/10.3389/fpsyg.2021.661415</a:t>
            </a:r>
          </a:p>
          <a:p xmlns:a="http://schemas.openxmlformats.org/drawingml/2006/main">
            <a:r>
              <a:t>osf: https://osf.io/dfhpu/?view_only=49d95d90424941da82217a239ab7450c</a:t>
            </a:r>
          </a:p>
          <a:p xmlns:a="http://schemas.openxmlformats.org/drawingml/2006/main">
            <a:r>
              <a:t>taaled: https://www.linguisticanalysistools.org/taaled.html</a:t>
            </a:r>
          </a:p>
          <a:p xmlns:a="http://schemas.openxmlformats.org/drawingml/2006/main">
            <a:r>
              <a:t>clan: https://talkbank.org/manuals/CLAN.pdf</a:t>
            </a:r>
          </a:p>
          <a:p xmlns:a="http://schemas.openxmlformats.org/drawingml/2006/main">
            <a:r>
              <a:t>model: https://huggingface.co/microsoft/MiniLM-L12-H384-uncased</a:t>
            </a:r>
          </a:p>
          <a:p xmlns:a="http://schemas.openxmlformats.org/drawingml/2006/main">
            <a:r>
              <a:t>OCSC paper: https://doi.org/10.1016/j.specom.2025.103206</a:t>
            </a:r>
          </a:p>
          <a:p xmlns:a="http://schemas.openxmlformats.org/drawingml/2006/main">
            <a:r>
              <a:t/>
            </a:r>
          </a:p>
          <a:p xmlns:a="http://schemas.openxmlformats.org/drawingml/2006/main">
            <a:r>
              <a:t>Local provenance and results</a:t>
            </a:r>
          </a:p>
          <a:p xmlns:a="http://schemas.openxmlformats.org/drawingml/2006/main">
            <a:r>
              <a:t>/Users/nafeekazi/Desktop/PhD/speech_pipeline_code/outputs/results/transcript_validation/LUCID_METRIC_PROVENANCE.md</a:t>
            </a:r>
          </a:p>
          <a:p xmlns:a="http://schemas.openxmlformats.org/drawingml/2006/main">
            <a:r>
              <a:t>/Users/nafeekazi/Desktop/PhD/speech_pipeline_code/outputs/results/transcript_validation/chat_calibrated_results.json</a:t>
            </a:r>
          </a:p>
          <a:p xmlns:a="http://schemas.openxmlformats.org/drawingml/2006/main">
            <a:r>
              <a:t>/Users/nafeekazi/Desktop/PhD/speech_pipeline_code/outputs/results/transcript_validation/lucid_results.json</a:t>
            </a:r>
          </a:p>
          <a:p xmlns:a="http://schemas.openxmlformats.org/drawingml/2006/main">
            <a:r>
              <a:t>/Users/nafeekazi/Desktop/PhD/speech_pipeline_code/outputs/results/cv_hyperparameter_v4/stopped_search_summary.json</a:t>
            </a:r>
          </a:p>
          <a:p xmlns:a="http://schemas.openxmlformats.org/drawingml/2006/main">
            <a:r>
              <a:t>/Users/nafeekazi/Desktop/PhD/speech_pipeline_code/outputs/validation/cohorts_v1/manifest.json</a:t>
            </a:r>
          </a:p>
          <a:p xmlns:a="http://schemas.openxmlformats.org/drawingml/2006/main">
            <a:r>
              <a:t/>
            </a:r>
          </a:p>
          <a:p xmlns:a="http://schemas.openxmlformats.org/drawingml/2006/main">
            <a:r>
              <a:t>All LUCID comparison values in this presentation remain provisional for publication pending independent source reconfirmation. Existing CHAT test values and later CV tuning values have different evaluation roles. No additional research scoring occurred.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1ada16a3b644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8d5f24a2624e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8f7ce9d04e04b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beca7e20db241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9058b0a9674a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67bc38475942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DBADE7-954F-445B-BA15-E079A1B0D2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87C5CF-008B-4F07-87C3-C13E3D737E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80C07A-FB3E-4A01-9E7B-F82885F9EB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361704-AE0E-44E1-BAA6-200D2DD8C0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277741-3852-4355-815A-D2B2FFDD88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C7ADC8D-E41D-4ABD-B66C-CB51FCFF09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21A0CC-E718-4CCD-BD56-6D9B10FC0C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06F90C-EF51-420A-AB87-4F01CB9DAA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3EDA4F-F4BE-4C1B-96C9-1814F0E825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02B0CB-E813-4C48-A307-06E4D5BDC7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1356119e1b42a1" /><Relationship Type="http://schemas.openxmlformats.org/officeDocument/2006/relationships/slideLayout" Target="/ppt/slideLayouts/slideLayout1.xml" Id="Ra8d888e428de4413" /><Relationship Type="http://schemas.openxmlformats.org/officeDocument/2006/relationships/slideLayout" Target="/ppt/slideLayouts/slideLayout2.xml" Id="R887b25b6e10b4658" /><Relationship Type="http://schemas.openxmlformats.org/officeDocument/2006/relationships/slideLayout" Target="/ppt/slideLayouts/slideLayout3.xml" Id="Rd8578e20668849cb" /><Relationship Type="http://schemas.openxmlformats.org/officeDocument/2006/relationships/slideLayout" Target="/ppt/slideLayouts/slideLayout4.xml" Id="R3155e5b0050041ff" /><Relationship Type="http://schemas.openxmlformats.org/officeDocument/2006/relationships/slideLayout" Target="/ppt/slideLayouts/slideLayout5.xml" Id="R245eff9316c84370" /><Relationship Type="http://schemas.openxmlformats.org/officeDocument/2006/relationships/slideLayout" Target="/ppt/slideLayouts/slideLayout6.xml" Id="R71c6ce82eda345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d888e428de4413"/>
    <p:sldLayoutId xmlns:r="http://schemas.openxmlformats.org/officeDocument/2006/relationships" id="2147483650" r:id="R887b25b6e10b4658"/>
    <p:sldLayoutId xmlns:r="http://schemas.openxmlformats.org/officeDocument/2006/relationships" id="2147483651" r:id="Rd8578e20668849cb"/>
    <p:sldLayoutId xmlns:r="http://schemas.openxmlformats.org/officeDocument/2006/relationships" id="2147483652" r:id="R3155e5b0050041ff"/>
    <p:sldLayoutId xmlns:r="http://schemas.openxmlformats.org/officeDocument/2006/relationships" id="2147483653" r:id="R245eff9316c84370"/>
    <p:sldLayoutId xmlns:r="http://schemas.openxmlformats.org/officeDocument/2006/relationships" id="2147483654" r:id="R71c6ce82eda345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16ed6362254d29" /><Relationship Type="http://schemas.openxmlformats.org/officeDocument/2006/relationships/notesSlide" Target="/ppt/notesSlides/notesSlide1.xml" Id="Rfb2385ef3bb146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ff394745124316" /><Relationship Type="http://schemas.openxmlformats.org/officeDocument/2006/relationships/notesSlide" Target="/ppt/notesSlides/notesSlide2.xml" Id="Rf1bf2ec7970e4a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a43e734a8f477b" /><Relationship Type="http://schemas.openxmlformats.org/officeDocument/2006/relationships/notesSlide" Target="/ppt/notesSlides/notesSlide3.xml" Id="R30431c80437940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929d826b134ac2" /><Relationship Type="http://schemas.openxmlformats.org/officeDocument/2006/relationships/notesSlide" Target="/ppt/notesSlides/notesSlide4.xml" Id="Rbe273facb32343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9c6e7df5f634989" /><Relationship Type="http://schemas.openxmlformats.org/officeDocument/2006/relationships/notesSlide" Target="/ppt/notesSlides/notesSlide5.xml" Id="Rdfdf5de085ce4a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3b401099204613" /><Relationship Type="http://schemas.openxmlformats.org/officeDocument/2006/relationships/notesSlide" Target="/ppt/notesSlides/notesSlide6.xml" Id="Re3d54f5d840643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4d7054e7924ae7" /><Relationship Type="http://schemas.openxmlformats.org/officeDocument/2006/relationships/notesSlide" Target="/ppt/notesSlides/notesSlide7.xml" Id="Rec6022b1c42942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184451f03b4739" /><Relationship Type="http://schemas.openxmlformats.org/officeDocument/2006/relationships/notesSlide" Target="/ppt/notesSlides/notesSlide8.xml" Id="Rc8f61b88f76649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fce0fe09a34e08" /><Relationship Type="http://schemas.openxmlformats.org/officeDocument/2006/relationships/notesSlide" Target="/ppt/notesSlides/notesSlide9.xml" Id="R91a1c6c5f3ea44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9707a9b7f1f425b" /><Relationship Type="http://schemas.openxmlformats.org/officeDocument/2006/relationships/notesSlide" Target="/ppt/notesSlides/notesSlide10.xml" Id="R09d32d880eb843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3c04349b0474d5e" /><Relationship Type="http://schemas.openxmlformats.org/officeDocument/2006/relationships/notesSlide" Target="/ppt/notesSlides/notesSlide11.xml" Id="R67fdf309e35b486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cbf84b8417d426c" /><Relationship Type="http://schemas.openxmlformats.org/officeDocument/2006/relationships/notesSlide" Target="/ppt/notesSlides/notesSlide12.xml" Id="R5baf81149e2847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a7961394c754a23" /><Relationship Type="http://schemas.openxmlformats.org/officeDocument/2006/relationships/notesSlide" Target="/ppt/notesSlides/notesSlide13.xml" Id="R83f36b12df2043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f6e295bd43a44d3" /><Relationship Type="http://schemas.openxmlformats.org/officeDocument/2006/relationships/notesSlide" Target="/ppt/notesSlides/notesSlide14.xml" Id="R34714ab59f5340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80860f458f54772" /><Relationship Type="http://schemas.openxmlformats.org/officeDocument/2006/relationships/notesSlide" Target="/ppt/notesSlides/notesSlide15.xml" Id="Rb37d2184957146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a88ef95e5884f86" /><Relationship Type="http://schemas.openxmlformats.org/officeDocument/2006/relationships/notesSlide" Target="/ppt/notesSlides/notesSlide16.xml" Id="Rc59ea07cccf044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f77ff90cab44e07" /><Relationship Type="http://schemas.openxmlformats.org/officeDocument/2006/relationships/notesSlide" Target="/ppt/notesSlides/notesSlide17.xml" Id="R57f63be1810448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2bae045d4084b5c" /><Relationship Type="http://schemas.openxmlformats.org/officeDocument/2006/relationships/notesSlide" Target="/ppt/notesSlides/notesSlide18.xml" Id="R99d1f4e4b1bd49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4cef61bd2d24e0b" /><Relationship Type="http://schemas.openxmlformats.org/officeDocument/2006/relationships/notesSlide" Target="/ppt/notesSlides/notesSlide19.xml" Id="Ra1706ad1250c43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29a9ebd1dbe4bb1" /><Relationship Type="http://schemas.openxmlformats.org/officeDocument/2006/relationships/notesSlide" Target="/ppt/notesSlides/notesSlide20.xml" Id="R7bdabde277364b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0f09c2e63d441bb" /><Relationship Type="http://schemas.openxmlformats.org/officeDocument/2006/relationships/notesSlide" Target="/ppt/notesSlides/notesSlide21.xml" Id="Rcbf6c2ce4d104f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d0ab651b1d94512" /><Relationship Type="http://schemas.openxmlformats.org/officeDocument/2006/relationships/notesSlide" Target="/ppt/notesSlides/notesSlide22.xml" Id="R42de42ca131a4f8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69dbab60c314afb" /><Relationship Type="http://schemas.openxmlformats.org/officeDocument/2006/relationships/notesSlide" Target="/ppt/notesSlides/notesSlide23.xml" Id="Rbfd1d2ab2c674c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F7E12105-987F-408E-A808-F00EFD07FD2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Speech pipeline: data, methods and results</a:t>
            </a:r>
          </a:p>
        </p:txBody>
      </p:sp>
      <p:sp>
        <p:nvSpPr>
          <p:cNvPr id="2" name="text-1">
            <a:extLst xmlns:a="http://schemas.openxmlformats.org/drawingml/2006/main">
              <a:ext uri="{FF2B5EF4-FFF2-40B4-BE49-F238E27FC236}">
                <a16:creationId xmlns:a16="http://schemas.microsoft.com/office/drawing/2014/main" id="{EED72D9A-D18A-482D-A18E-144CD1694DE8}"/>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a:t>
            </a:r>
          </a:p>
        </p:txBody>
      </p:sp>
      <p:sp>
        <p:nvSpPr>
          <p:cNvPr id="3" name="text-2">
            <a:extLst xmlns:a="http://schemas.openxmlformats.org/drawingml/2006/main">
              <a:ext uri="{FF2B5EF4-FFF2-40B4-BE49-F238E27FC236}">
                <a16:creationId xmlns:a16="http://schemas.microsoft.com/office/drawing/2014/main" id="{B20B5BA4-7D02-4B4A-8671-A5B502BBC48E}"/>
              </a:ext>
            </a:extLst>
          </p:cNvPr>
          <p:cNvSpPr>
            <a:spLocks xmlns:a="http://schemas.openxmlformats.org/drawingml/2006/main" noGrp="1"/>
          </p:cNvSpPr>
          <p:nvPr/>
        </p:nvSpPr>
        <p:spPr>
          <a:xfrm xmlns:a="http://schemas.openxmlformats.org/drawingml/2006/main">
            <a:off x="628650" y="209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02020"/>
                </a:solidFill>
                <a:latin typeface="Arial"/>
                <a:ea typeface="Arial"/>
                <a:cs typeface="Arial"/>
              </a:defRPr>
            </a:defPPr>
          </a:lstStyle>
          <a:p xmlns:a="http://schemas.openxmlformats.org/drawingml/2006/main">
            <a:pPr algn="l">
              <a:defRPr sz="3000" b="0">
                <a:solidFill>
                  <a:srgbClr val="202020"/>
                </a:solidFill>
                <a:latin typeface="Arial"/>
                <a:ea typeface="Arial"/>
                <a:cs typeface="Arial"/>
              </a:defRPr>
            </a:pPr>
            <a:r>
              <a:rPr sz="3000" b="0">
                <a:solidFill>
                  <a:srgbClr val="202020"/>
                </a:solidFill>
                <a:latin typeface="Arial"/>
                <a:ea typeface="Arial"/>
                <a:cs typeface="Arial"/>
              </a:rPr>
              <a:t>LUCID, OCSC and NYU–Emerson</a:t>
            </a:r>
          </a:p>
        </p:txBody>
      </p:sp>
      <p:sp>
        <p:nvSpPr>
          <p:cNvPr id="4" name="text-3">
            <a:extLst xmlns:a="http://schemas.openxmlformats.org/drawingml/2006/main">
              <a:ext uri="{FF2B5EF4-FFF2-40B4-BE49-F238E27FC236}">
                <a16:creationId xmlns:a16="http://schemas.microsoft.com/office/drawing/2014/main" id="{D118C042-77A0-493A-B4FC-89199508E504}"/>
              </a:ext>
            </a:extLst>
          </p:cNvPr>
          <p:cNvSpPr>
            <a:spLocks xmlns:a="http://schemas.openxmlformats.org/drawingml/2006/main" noGrp="1"/>
          </p:cNvSpPr>
          <p:nvPr/>
        </p:nvSpPr>
        <p:spPr>
          <a:xfrm xmlns:a="http://schemas.openxmlformats.org/drawingml/2006/main">
            <a:off x="628650" y="3143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202020"/>
                </a:solidFill>
                <a:latin typeface="Arial"/>
                <a:ea typeface="Arial"/>
                <a:cs typeface="Arial"/>
              </a:defRPr>
            </a:defPPr>
          </a:lstStyle>
          <a:p xmlns:a="http://schemas.openxmlformats.org/drawingml/2006/main">
            <a:pPr algn="l">
              <a:defRPr sz="2475" b="0">
                <a:solidFill>
                  <a:srgbClr val="202020"/>
                </a:solidFill>
                <a:latin typeface="Arial"/>
                <a:ea typeface="Arial"/>
                <a:cs typeface="Arial"/>
              </a:defRPr>
            </a:pPr>
            <a:r>
              <a:rPr sz="2475" b="0">
                <a:solidFill>
                  <a:srgbClr val="202020"/>
                </a:solidFill>
                <a:latin typeface="Arial"/>
                <a:ea typeface="Arial"/>
                <a:cs typeface="Arial"/>
              </a:rPr>
              <a:t>Current transcript comparisons and the planned audio evaluation</a:t>
            </a:r>
          </a:p>
        </p:txBody>
      </p:sp>
      <p:sp>
        <p:nvSpPr>
          <p:cNvPr id="5" name="text-4">
            <a:extLst xmlns:a="http://schemas.openxmlformats.org/drawingml/2006/main">
              <a:ext uri="{FF2B5EF4-FFF2-40B4-BE49-F238E27FC236}">
                <a16:creationId xmlns:a16="http://schemas.microsoft.com/office/drawing/2014/main" id="{A08B7502-1E19-4CDB-B9AC-5B55D986B717}"/>
              </a:ext>
            </a:extLst>
          </p:cNvPr>
          <p:cNvSpPr>
            <a:spLocks xmlns:a="http://schemas.openxmlformats.org/drawingml/2006/main" noGrp="1"/>
          </p:cNvSpPr>
          <p:nvPr/>
        </p:nvSpPr>
        <p:spPr>
          <a:xfrm xmlns:a="http://schemas.openxmlformats.org/drawingml/2006/main">
            <a:off x="628650" y="5095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16 October 2026</a:t>
            </a:r>
          </a:p>
        </p:txBody>
      </p:sp>
    </p:spTree>
    <p:extLst>
      <p:ext uri="{BB962C8B-B14F-4D97-AF65-F5344CB8AC3E}">
        <p14:creationId xmlns:p14="http://schemas.microsoft.com/office/powerpoint/2010/main" val="19590002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02EECA9-3B98-4602-A6CF-E21A55CFFC8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The three datasets</a:t>
            </a:r>
          </a:p>
        </p:txBody>
      </p:sp>
      <p:sp>
        <p:nvSpPr>
          <p:cNvPr id="2" name="text-1">
            <a:extLst xmlns:a="http://schemas.openxmlformats.org/drawingml/2006/main">
              <a:ext uri="{FF2B5EF4-FFF2-40B4-BE49-F238E27FC236}">
                <a16:creationId xmlns:a16="http://schemas.microsoft.com/office/drawing/2014/main" id="{F1A05702-50F8-4B53-AC84-CA691C17CBFE}"/>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Source participants and the subset used in our transcript comparisons</a:t>
            </a:r>
          </a:p>
        </p:txBody>
      </p:sp>
      <p:sp>
        <p:nvSpPr>
          <p:cNvPr id="3" name="text-2">
            <a:extLst xmlns:a="http://schemas.openxmlformats.org/drawingml/2006/main">
              <a:ext uri="{FF2B5EF4-FFF2-40B4-BE49-F238E27FC236}">
                <a16:creationId xmlns:a16="http://schemas.microsoft.com/office/drawing/2014/main" id="{ACE06164-A576-4406-9DC6-3D2AE3339A9E}"/>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744E190E-B0D8-4CC7-A876-CC9D2FA70107}"/>
              </a:ext>
            </a:extLst>
          </p:cNvPr>
          <p:cNvGraphicFramePr/>
          <p:nvPr/>
        </p:nvGraphicFramePr>
        <p:xfrm>
          <a:off xmlns:a="http://schemas.openxmlformats.org/drawingml/2006/main" x="609600" y="1809750"/>
          <a:ext xmlns:a="http://schemas.openxmlformats.org/drawingml/2006/main" cx="10972800" cy="3333750"/>
        </p:xfrm>
        <a:graphic xmlns:a="http://schemas.openxmlformats.org/drawingml/2006/main">
          <a:graphicData uri="http://schemas.openxmlformats.org/drawingml/2006/table">
            <a:tbl>
              <a:tblPr firstRow="1" bandRow="0"/>
              <a:tblGrid>
                <a:gridCol w="2667000"/>
                <a:gridCol w="3333750"/>
                <a:gridCol w="4972050"/>
              </a:tblGrid>
              <a:tr h="833438">
                <a:tc>
                  <a:txBody>
                    <a:bodyPr lIns="114300" tIns="114300" rIns="114300" bIns="114300"/>
                    <a:lstStyle/>
                    <a:p>
                      <a:pPr algn="l"/>
                      <a:r>
                        <a:rPr sz="2025" b="1">
                          <a:solidFill>
                            <a:srgbClr val="202020"/>
                          </a:solidFill>
                          <a:latin typeface="Arial"/>
                          <a:ea typeface="Arial"/>
                          <a:cs typeface="Arial"/>
                        </a:rPr>
                        <a:t>Dataset</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Source participants</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Our usable subset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833438">
                <a:tc>
                  <a:txBody>
                    <a:bodyPr lIns="114300" tIns="114300" rIns="114300" bIns="114300"/>
                    <a:lstStyle/>
                    <a:p>
                      <a:pPr algn="l"/>
                      <a:r>
                        <a:rPr sz="2025" b="0">
                          <a:solidFill>
                            <a:srgbClr val="202020"/>
                          </a:solidFill>
                          <a:latin typeface="Arial"/>
                          <a:ea typeface="Arial"/>
                          <a:cs typeface="Arial"/>
                        </a:rPr>
                        <a:t>LUCID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40 adults</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300 TextGrids</a:t>
                      </a:r>
                    </a:p>
                    <a:p>
                      <a:pPr algn="l"/>
                      <a:r>
                        <a:rPr sz="2025" b="0">
                          <a:solidFill>
                            <a:srgbClr val="202020"/>
                          </a:solidFill>
                          <a:latin typeface="Arial"/>
                          <a:ea typeface="Arial"/>
                          <a:cs typeface="Arial"/>
                        </a:rPr>
                        <a:t>180 of 240 reference rows scored</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833438">
                <a:tc>
                  <a:txBody>
                    <a:bodyPr lIns="114300" tIns="114300" rIns="114300" bIns="114300"/>
                    <a:lstStyle/>
                    <a:p>
                      <a:pPr algn="l"/>
                      <a:r>
                        <a:rPr sz="202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303 children</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301 children</a:t>
                      </a:r>
                    </a:p>
                    <a:p>
                      <a:pPr algn="l"/>
                      <a:r>
                        <a:rPr sz="2025" b="0">
                          <a:solidFill>
                            <a:srgbClr val="202020"/>
                          </a:solidFill>
                          <a:latin typeface="Arial"/>
                          <a:ea typeface="Arial"/>
                          <a:cs typeface="Arial"/>
                        </a:rPr>
                        <a:t>803 task sections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833438">
                <a:tc>
                  <a:txBody>
                    <a:bodyPr lIns="114300" tIns="114300" rIns="114300" bIns="114300"/>
                    <a:lstStyle/>
                    <a:p>
                      <a:pPr algn="l"/>
                      <a:r>
                        <a:rPr sz="202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30 autistic children</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28 children</a:t>
                      </a:r>
                    </a:p>
                    <a:p>
                      <a:pPr algn="l"/>
                      <a:r>
                        <a:rPr sz="2025" b="0">
                          <a:solidFill>
                            <a:srgbClr val="202020"/>
                          </a:solidFill>
                          <a:latin typeface="Arial"/>
                          <a:ea typeface="Arial"/>
                          <a:cs typeface="Arial"/>
                        </a:rPr>
                        <a:t>92 task sections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2D9DE9F4-DBBC-46B8-B0D4-54C4720D193F}"/>
              </a:ext>
            </a:extLst>
          </p:cNvPr>
          <p:cNvSpPr>
            <a:spLocks xmlns:a="http://schemas.openxmlformats.org/drawingml/2006/main" noGrp="1"/>
          </p:cNvSpPr>
          <p:nvPr/>
        </p:nvSpPr>
        <p:spPr>
          <a:xfrm xmlns:a="http://schemas.openxmlformats.org/drawingml/2006/main">
            <a:off x="628650" y="5619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A participant can contribute several recordings or task sections.</a:t>
            </a:r>
          </a:p>
        </p:txBody>
      </p:sp>
    </p:spTree>
    <p:extLst>
      <p:ext uri="{BB962C8B-B14F-4D97-AF65-F5344CB8AC3E}">
        <p14:creationId xmlns:p14="http://schemas.microsoft.com/office/powerpoint/2010/main" val="151508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05A977F-42ED-417E-913F-110962E1F9E9}"/>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adult conversations</a:t>
            </a:r>
          </a:p>
        </p:txBody>
      </p:sp>
      <p:sp>
        <p:nvSpPr>
          <p:cNvPr id="2" name="text-1">
            <a:extLst xmlns:a="http://schemas.openxmlformats.org/drawingml/2006/main">
              <a:ext uri="{FF2B5EF4-FFF2-40B4-BE49-F238E27FC236}">
                <a16:creationId xmlns:a16="http://schemas.microsoft.com/office/drawing/2014/main" id="{31E5867F-7A2D-4C74-8215-B5A8878D8643}"/>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Rachel Baker and Valerie Hazan, University College London</a:t>
            </a:r>
          </a:p>
        </p:txBody>
      </p:sp>
      <p:sp>
        <p:nvSpPr>
          <p:cNvPr id="3" name="text-2">
            <a:extLst xmlns:a="http://schemas.openxmlformats.org/drawingml/2006/main">
              <a:ext uri="{FF2B5EF4-FFF2-40B4-BE49-F238E27FC236}">
                <a16:creationId xmlns:a16="http://schemas.microsoft.com/office/drawing/2014/main" id="{E732DEE9-681F-41FF-BA16-CAE42207532C}"/>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3</a:t>
            </a:r>
          </a:p>
        </p:txBody>
      </p:sp>
      <p:sp>
        <p:nvSpPr>
          <p:cNvPr id="4" name="text-3">
            <a:extLst xmlns:a="http://schemas.openxmlformats.org/drawingml/2006/main">
              <a:ext uri="{FF2B5EF4-FFF2-40B4-BE49-F238E27FC236}">
                <a16:creationId xmlns:a16="http://schemas.microsoft.com/office/drawing/2014/main" id="{6E8400F1-5F84-4687-BBE1-254C886FB42F}"/>
              </a:ext>
            </a:extLst>
          </p:cNvPr>
          <p:cNvSpPr>
            <a:spLocks xmlns:a="http://schemas.openxmlformats.org/drawingml/2006/main" noGrp="1"/>
          </p:cNvSpPr>
          <p:nvPr/>
        </p:nvSpPr>
        <p:spPr>
          <a:xfrm xmlns:a="http://schemas.openxmlformats.org/drawingml/2006/main">
            <a:off x="723900" y="1857375"/>
            <a:ext cx="107442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02020"/>
                </a:solidFill>
                <a:latin typeface="Arial"/>
                <a:ea typeface="Arial"/>
                <a:cs typeface="Arial"/>
              </a:defRPr>
            </a:defPPr>
          </a:lstStyle>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40 adults aged 18–29, speaking southern British English.</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Pairs described pictures to find differences.</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Recordings cover normal listening, background babble, vocoded listening and an English learner as partner.</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We use target-speaker words from human TextGrids.</a:t>
            </a:r>
          </a:p>
        </p:txBody>
      </p:sp>
      <p:sp>
        <p:nvSpPr>
          <p:cNvPr id="5" name="text-4">
            <a:extLst xmlns:a="http://schemas.openxmlformats.org/drawingml/2006/main">
              <a:ext uri="{FF2B5EF4-FFF2-40B4-BE49-F238E27FC236}">
                <a16:creationId xmlns:a16="http://schemas.microsoft.com/office/drawing/2014/main" id="{A9A0DE92-B7B6-41C9-9EEE-A218EB9CE731}"/>
              </a:ext>
            </a:extLst>
          </p:cNvPr>
          <p:cNvSpPr>
            <a:spLocks xmlns:a="http://schemas.openxmlformats.org/drawingml/2006/main" noGrp="1"/>
          </p:cNvSpPr>
          <p:nvPr/>
        </p:nvSpPr>
        <p:spPr>
          <a:xfrm xmlns:a="http://schemas.openxmlformats.org/drawingml/2006/main">
            <a:off x="628650" y="54673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Corpus files: SpeechBox at Northwestern. Lexical reference: the paper-linked OSF export.</a:t>
            </a:r>
          </a:p>
        </p:txBody>
      </p:sp>
    </p:spTree>
    <p:extLst>
      <p:ext uri="{BB962C8B-B14F-4D97-AF65-F5344CB8AC3E}">
        <p14:creationId xmlns:p14="http://schemas.microsoft.com/office/powerpoint/2010/main" val="20362859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36E7F54-CF91-4C24-A127-B52345C9963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children describing and explaining</a:t>
            </a:r>
          </a:p>
        </p:txBody>
      </p:sp>
      <p:sp>
        <p:nvSpPr>
          <p:cNvPr id="2" name="text-1">
            <a:extLst xmlns:a="http://schemas.openxmlformats.org/drawingml/2006/main">
              <a:ext uri="{FF2B5EF4-FFF2-40B4-BE49-F238E27FC236}">
                <a16:creationId xmlns:a16="http://schemas.microsoft.com/office/drawing/2014/main" id="{548D5E7D-5AB4-46E6-884D-CA9866DC39CB}"/>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Ohio Child Speech Corpus, Wagner and colleagues, 2025</a:t>
            </a:r>
          </a:p>
        </p:txBody>
      </p:sp>
      <p:sp>
        <p:nvSpPr>
          <p:cNvPr id="3" name="text-2">
            <a:extLst xmlns:a="http://schemas.openxmlformats.org/drawingml/2006/main">
              <a:ext uri="{FF2B5EF4-FFF2-40B4-BE49-F238E27FC236}">
                <a16:creationId xmlns:a16="http://schemas.microsoft.com/office/drawing/2014/main" id="{924124E2-8C0D-4EB8-80E6-1102EB587C29}"/>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4</a:t>
            </a:r>
          </a:p>
        </p:txBody>
      </p:sp>
      <p:sp>
        <p:nvSpPr>
          <p:cNvPr id="4" name="text-3">
            <a:extLst xmlns:a="http://schemas.openxmlformats.org/drawingml/2006/main">
              <a:ext uri="{FF2B5EF4-FFF2-40B4-BE49-F238E27FC236}">
                <a16:creationId xmlns:a16="http://schemas.microsoft.com/office/drawing/2014/main" id="{B8D798DE-D3BB-4DCC-A9C7-676F408954F1}"/>
              </a:ext>
            </a:extLst>
          </p:cNvPr>
          <p:cNvSpPr>
            <a:spLocks xmlns:a="http://schemas.openxmlformats.org/drawingml/2006/main" noGrp="1"/>
          </p:cNvSpPr>
          <p:nvPr/>
        </p:nvSpPr>
        <p:spPr>
          <a:xfrm xmlns:a="http://schemas.openxmlformats.org/drawingml/2006/main">
            <a:off x="723900" y="1857375"/>
            <a:ext cx="1074420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02020"/>
                </a:solidFill>
                <a:latin typeface="Arial"/>
                <a:ea typeface="Arial"/>
                <a:cs typeface="Arial"/>
              </a:defRPr>
            </a:defPPr>
          </a:lstStyle>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303 children, ages 4–9 in the published corpus description.</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Researchers collected speech in a science-museum lab in Ohio.</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We downloaded human CHAT transcripts from TalkBank CHILDES.</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We use picture descriptions and “how to” explanations: 301 children and 803 sections.</a:t>
            </a:r>
          </a:p>
        </p:txBody>
      </p:sp>
      <p:sp>
        <p:nvSpPr>
          <p:cNvPr id="5" name="text-4">
            <a:extLst xmlns:a="http://schemas.openxmlformats.org/drawingml/2006/main">
              <a:ext uri="{FF2B5EF4-FFF2-40B4-BE49-F238E27FC236}">
                <a16:creationId xmlns:a16="http://schemas.microsoft.com/office/drawing/2014/main" id="{3B2B9D25-4982-442E-99E8-3B6573640BA7}"/>
              </a:ext>
            </a:extLst>
          </p:cNvPr>
          <p:cNvSpPr>
            <a:spLocks xmlns:a="http://schemas.openxmlformats.org/drawingml/2006/main" noGrp="1"/>
          </p:cNvSpPr>
          <p:nvPr/>
        </p:nvSpPr>
        <p:spPr>
          <a:xfrm xmlns:a="http://schemas.openxmlformats.org/drawingml/2006/main">
            <a:off x="628650" y="54006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We leave reading, alphabet, number and Wug tasks outside this discourse comparison.</a:t>
            </a:r>
          </a:p>
        </p:txBody>
      </p:sp>
    </p:spTree>
    <p:extLst>
      <p:ext uri="{BB962C8B-B14F-4D97-AF65-F5344CB8AC3E}">
        <p14:creationId xmlns:p14="http://schemas.microsoft.com/office/powerpoint/2010/main" val="3269360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0A45940-9ED8-45BF-9E0D-80364A23594B}"/>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NYU–Emerson: parent–child play</a:t>
            </a:r>
          </a:p>
        </p:txBody>
      </p:sp>
      <p:sp>
        <p:nvSpPr>
          <p:cNvPr id="2" name="text-1">
            <a:extLst xmlns:a="http://schemas.openxmlformats.org/drawingml/2006/main">
              <a:ext uri="{FF2B5EF4-FFF2-40B4-BE49-F238E27FC236}">
                <a16:creationId xmlns:a16="http://schemas.microsoft.com/office/drawing/2014/main" id="{792617A2-1CFE-4458-89F1-0A6390287DFD}"/>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NYU and Emerson College, shared through TalkBank ASDBank</a:t>
            </a:r>
          </a:p>
        </p:txBody>
      </p:sp>
      <p:sp>
        <p:nvSpPr>
          <p:cNvPr id="3" name="text-2">
            <a:extLst xmlns:a="http://schemas.openxmlformats.org/drawingml/2006/main">
              <a:ext uri="{FF2B5EF4-FFF2-40B4-BE49-F238E27FC236}">
                <a16:creationId xmlns:a16="http://schemas.microsoft.com/office/drawing/2014/main" id="{343DFF16-8C32-442F-9B44-4DDB568DEF3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5</a:t>
            </a:r>
          </a:p>
        </p:txBody>
      </p:sp>
      <p:sp>
        <p:nvSpPr>
          <p:cNvPr id="4" name="text-3">
            <a:extLst xmlns:a="http://schemas.openxmlformats.org/drawingml/2006/main">
              <a:ext uri="{FF2B5EF4-FFF2-40B4-BE49-F238E27FC236}">
                <a16:creationId xmlns:a16="http://schemas.microsoft.com/office/drawing/2014/main" id="{1E22C81C-0D3A-4204-9E48-46C614AFA278}"/>
              </a:ext>
            </a:extLst>
          </p:cNvPr>
          <p:cNvSpPr>
            <a:spLocks xmlns:a="http://schemas.openxmlformats.org/drawingml/2006/main" noGrp="1"/>
          </p:cNvSpPr>
          <p:nvPr/>
        </p:nvSpPr>
        <p:spPr>
          <a:xfrm xmlns:a="http://schemas.openxmlformats.org/drawingml/2006/main">
            <a:off x="723900" y="1809750"/>
            <a:ext cx="107442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02020"/>
                </a:solidFill>
                <a:latin typeface="Arial"/>
                <a:ea typeface="Arial"/>
                <a:cs typeface="Arial"/>
              </a:defRPr>
            </a:defPPr>
          </a:lstStyle>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The released set contains 30 autistic children. Recruitment targeted ages 3 to under 6.</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Families took part in play and conversation, mainly over Zoom at home.</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We use the child’s speech from human CHAT transcripts.</a:t>
            </a:r>
          </a:p>
          <a:p xmlns:a="http://schemas.openxmlformats.org/drawingml/2006/main">
            <a:pPr marL="279400" indent="-139700" algn="l">
              <a:spcAft>
                <a:spcPts val="1600"/>
              </a:spcAft>
              <a:buChar char="•"/>
              <a:defRPr sz="2250" b="0">
                <a:solidFill>
                  <a:srgbClr val="202020"/>
                </a:solidFill>
                <a:latin typeface="Arial"/>
                <a:ea typeface="Arial"/>
                <a:cs typeface="Arial"/>
              </a:defRPr>
            </a:pPr>
            <a:r>
              <a:rPr sz="2250">
                <a:solidFill>
                  <a:srgbClr val="202020"/>
                </a:solidFill>
                <a:latin typeface="Arial"/>
                <a:ea typeface="Arial"/>
                <a:cs typeface="Arial"/>
              </a:rPr>
              <a:t>28 children contribute 92 usable task sections. Two have too little eligible speech for boundary scoring.</a:t>
            </a:r>
          </a:p>
        </p:txBody>
      </p:sp>
      <p:sp>
        <p:nvSpPr>
          <p:cNvPr id="5" name="text-4">
            <a:extLst xmlns:a="http://schemas.openxmlformats.org/drawingml/2006/main">
              <a:ext uri="{FF2B5EF4-FFF2-40B4-BE49-F238E27FC236}">
                <a16:creationId xmlns:a16="http://schemas.microsoft.com/office/drawing/2014/main" id="{5648632D-FE06-4C95-849B-4EF8C1EC04D6}"/>
              </a:ext>
            </a:extLst>
          </p:cNvPr>
          <p:cNvSpPr>
            <a:spLocks xmlns:a="http://schemas.openxmlformats.org/drawingml/2006/main" noGrp="1"/>
          </p:cNvSpPr>
          <p:nvPr/>
        </p:nvSpPr>
        <p:spPr>
          <a:xfrm xmlns:a="http://schemas.openxmlformats.org/drawingml/2006/main">
            <a:off x="628650" y="5753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source includes video. Future audio testing will extract its audio track.</a:t>
            </a:r>
          </a:p>
        </p:txBody>
      </p:sp>
    </p:spTree>
    <p:extLst>
      <p:ext uri="{BB962C8B-B14F-4D97-AF65-F5344CB8AC3E}">
        <p14:creationId xmlns:p14="http://schemas.microsoft.com/office/powerpoint/2010/main" val="20056174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57A8DC8-F5BF-4330-B049-CEFAA41A57E2}"/>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Participant splits</a:t>
            </a:r>
          </a:p>
        </p:txBody>
      </p:sp>
      <p:sp>
        <p:nvSpPr>
          <p:cNvPr id="2" name="text-1">
            <a:extLst xmlns:a="http://schemas.openxmlformats.org/drawingml/2006/main">
              <a:ext uri="{FF2B5EF4-FFF2-40B4-BE49-F238E27FC236}">
                <a16:creationId xmlns:a16="http://schemas.microsoft.com/office/drawing/2014/main" id="{161A4261-73A6-41BE-913B-05DB878C490C}"/>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Every section and training crop from a child stays in the same cohort</a:t>
            </a:r>
          </a:p>
        </p:txBody>
      </p:sp>
      <p:sp>
        <p:nvSpPr>
          <p:cNvPr id="3" name="text-2">
            <a:extLst xmlns:a="http://schemas.openxmlformats.org/drawingml/2006/main">
              <a:ext uri="{FF2B5EF4-FFF2-40B4-BE49-F238E27FC236}">
                <a16:creationId xmlns:a16="http://schemas.microsoft.com/office/drawing/2014/main" id="{B4B7B054-2DCC-41A7-B29F-25FAF444130C}"/>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185C866D-BBCB-4204-AD68-4D08B3D00ECB}"/>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4000500"/>
                <a:gridCol w="2324100"/>
                <a:gridCol w="2324100"/>
                <a:gridCol w="2324100"/>
              </a:tblGrid>
              <a:tr h="678656">
                <a:tc>
                  <a:txBody>
                    <a:bodyPr lIns="114300" tIns="114300" rIns="114300" bIns="114300"/>
                    <a:lstStyle/>
                    <a:p>
                      <a:pPr algn="l"/>
                      <a:r>
                        <a:rPr sz="2175" b="1">
                          <a:solidFill>
                            <a:srgbClr val="202020"/>
                          </a:solidFill>
                          <a:latin typeface="Arial"/>
                          <a:ea typeface="Arial"/>
                          <a:cs typeface="Arial"/>
                        </a:rPr>
                        <a:t>Usable children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Train</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Eval</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75" b="1">
                          <a:solidFill>
                            <a:srgbClr val="202020"/>
                          </a:solidFill>
                          <a:latin typeface="Arial"/>
                          <a:ea typeface="Arial"/>
                          <a:cs typeface="Arial"/>
                        </a:rPr>
                        <a:t>Test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678656">
                <a:tc>
                  <a:txBody>
                    <a:bodyPr lIns="114300" tIns="114300" rIns="114300" bIns="114300"/>
                    <a:lstStyle/>
                    <a:p>
                      <a:pPr algn="l"/>
                      <a:r>
                        <a:rPr sz="217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211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45</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78656">
                <a:tc>
                  <a:txBody>
                    <a:bodyPr lIns="114300" tIns="114300" rIns="114300" bIns="114300"/>
                    <a:lstStyle/>
                    <a:p>
                      <a:pPr algn="l"/>
                      <a:r>
                        <a:rPr sz="217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78656">
                <a:tc>
                  <a:txBody>
                    <a:bodyPr lIns="114300" tIns="114300" rIns="114300" bIns="114300"/>
                    <a:lstStyle/>
                    <a:p>
                      <a:pPr algn="l"/>
                      <a:r>
                        <a:rPr sz="2175" b="0">
                          <a:solidFill>
                            <a:srgbClr val="202020"/>
                          </a:solidFill>
                          <a:latin typeface="Arial"/>
                          <a:ea typeface="Arial"/>
                          <a:cs typeface="Arial"/>
                        </a:rPr>
                        <a:t>Total</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231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75" b="0">
                          <a:solidFill>
                            <a:srgbClr val="202020"/>
                          </a:solidFill>
                          <a:latin typeface="Arial"/>
                          <a:ea typeface="Arial"/>
                          <a:cs typeface="Arial"/>
                        </a:rPr>
                        <a:t>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2AB071D-2216-4452-9685-EEB226D6172E}"/>
              </a:ext>
            </a:extLst>
          </p:cNvPr>
          <p:cNvSpPr>
            <a:spLocks xmlns:a="http://schemas.openxmlformats.org/drawingml/2006/main" noGrp="1"/>
          </p:cNvSpPr>
          <p:nvPr/>
        </p:nvSpPr>
        <p:spPr>
          <a:xfrm xmlns:a="http://schemas.openxmlformats.org/drawingml/2006/main">
            <a:off x="723900" y="4810125"/>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Train fits weights. Eval selects settings. Test measures a frozen choice.</a:t>
            </a:r>
          </a:p>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OCSC and NYU training data contribute to one model. Eval and test stay separate.</a:t>
            </a:r>
          </a:p>
          <a:p xmlns:a="http://schemas.openxmlformats.org/drawingml/2006/main">
            <a:pPr marL="279400" indent="-139700" algn="l">
              <a:spcAft>
                <a:spcPts val="800"/>
              </a:spcAft>
              <a:buChar char="•"/>
              <a:defRPr sz="1875" b="0">
                <a:solidFill>
                  <a:srgbClr val="202020"/>
                </a:solidFill>
                <a:latin typeface="Arial"/>
                <a:ea typeface="Arial"/>
                <a:cs typeface="Arial"/>
              </a:defRPr>
            </a:pPr>
            <a:r>
              <a:rPr sz="1875">
                <a:solidFill>
                  <a:srgbClr val="202020"/>
                </a:solidFill>
                <a:latin typeface="Arial"/>
                <a:ea typeface="Arial"/>
                <a:cs typeface="Arial"/>
              </a:rPr>
              <a:t>LUCID supplies no boundary-model training examples.</a:t>
            </a:r>
          </a:p>
        </p:txBody>
      </p:sp>
    </p:spTree>
    <p:extLst>
      <p:ext uri="{BB962C8B-B14F-4D97-AF65-F5344CB8AC3E}">
        <p14:creationId xmlns:p14="http://schemas.microsoft.com/office/powerpoint/2010/main" val="1779783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3EB926E-542B-4AFF-A124-B81904448DE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the reported errors mean</a:t>
            </a:r>
          </a:p>
        </p:txBody>
      </p:sp>
      <p:sp>
        <p:nvSpPr>
          <p:cNvPr id="2" name="text-1">
            <a:extLst xmlns:a="http://schemas.openxmlformats.org/drawingml/2006/main">
              <a:ext uri="{FF2B5EF4-FFF2-40B4-BE49-F238E27FC236}">
                <a16:creationId xmlns:a16="http://schemas.microsoft.com/office/drawing/2014/main" id="{3CEE108A-5992-477C-AF32-FC5439CC175E}"/>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Lower percentage error means closer agreement with the reference</a:t>
            </a:r>
          </a:p>
        </p:txBody>
      </p:sp>
      <p:sp>
        <p:nvSpPr>
          <p:cNvPr id="3" name="text-2">
            <a:extLst xmlns:a="http://schemas.openxmlformats.org/drawingml/2006/main">
              <a:ext uri="{FF2B5EF4-FFF2-40B4-BE49-F238E27FC236}">
                <a16:creationId xmlns:a16="http://schemas.microsoft.com/office/drawing/2014/main" id="{CF135248-9EAC-450D-9130-2FBA9EDA0AEC}"/>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31B9127E-6B54-46AD-8BC6-54707983031C}"/>
              </a:ext>
            </a:extLst>
          </p:cNvPr>
          <p:cNvGraphicFramePr/>
          <p:nvPr/>
        </p:nvGraphicFramePr>
        <p:xfrm>
          <a:off xmlns:a="http://schemas.openxmlformats.org/drawingml/2006/main" x="609600" y="1809750"/>
          <a:ext xmlns:a="http://schemas.openxmlformats.org/drawingml/2006/main" cx="10972800" cy="3381375"/>
        </p:xfrm>
        <a:graphic xmlns:a="http://schemas.openxmlformats.org/drawingml/2006/main">
          <a:graphicData uri="http://schemas.openxmlformats.org/drawingml/2006/table">
            <a:tbl>
              <a:tblPr firstRow="1" bandRow="0"/>
              <a:tblGrid>
                <a:gridCol w="3905250"/>
                <a:gridCol w="7067550"/>
              </a:tblGrid>
              <a:tr h="563563">
                <a:tc>
                  <a:txBody>
                    <a:bodyPr lIns="114300" tIns="114300" rIns="114300" bIns="114300"/>
                    <a:lstStyle/>
                    <a:p>
                      <a:pPr algn="l"/>
                      <a:r>
                        <a:rPr sz="1950"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Plain-language meaning</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63563">
                <a:tc>
                  <a:txBody>
                    <a:bodyPr lIns="114300" tIns="114300" rIns="114300" bIns="114300"/>
                    <a:lstStyle/>
                    <a:p>
                      <a:pPr algn="l"/>
                      <a:r>
                        <a:rPr sz="1950" b="0">
                          <a:solidFill>
                            <a:srgbClr val="202020"/>
                          </a:solidFill>
                          <a:latin typeface="Arial"/>
                          <a:ea typeface="Arial"/>
                          <a:cs typeface="Arial"/>
                        </a:rPr>
                        <a:t>Total / 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How much speech and how much vocabulary</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TTR / 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Vocabulary variety across the sample or 50-word windows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How many utterances CLAN includes in its MLU analysis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Average words per eligible utterance</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63563">
                <a:tc>
                  <a:txBody>
                    <a:bodyPr lIns="114300" tIns="114300" rIns="114300" bIns="114300"/>
                    <a:lstStyle/>
                    <a:p>
                      <a:pPr algn="l"/>
                      <a:r>
                        <a:rPr sz="1950" b="0">
                          <a:solidFill>
                            <a:srgbClr val="202020"/>
                          </a:solidFill>
                          <a:latin typeface="Arial"/>
                          <a:ea typeface="Arial"/>
                          <a:cs typeface="Arial"/>
                        </a:rPr>
                        <a:t>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How much utterance length varies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8DEC34DA-6773-4A7A-910C-F89B8B8C2E48}"/>
              </a:ext>
            </a:extLst>
          </p:cNvPr>
          <p:cNvSpPr>
            <a:spLocks xmlns:a="http://schemas.openxmlformats.org/drawingml/2006/main" noGrp="1"/>
          </p:cNvSpPr>
          <p:nvPr/>
        </p:nvSpPr>
        <p:spPr>
          <a:xfrm xmlns:a="http://schemas.openxmlformats.org/drawingml/2006/main">
            <a:off x="628650" y="55816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We calculate percentage differences per section, average within each participant, then across participants.</a:t>
            </a:r>
          </a:p>
        </p:txBody>
      </p:sp>
    </p:spTree>
    <p:extLst>
      <p:ext uri="{BB962C8B-B14F-4D97-AF65-F5344CB8AC3E}">
        <p14:creationId xmlns:p14="http://schemas.microsoft.com/office/powerpoint/2010/main" val="1000972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A920CE36-C049-4453-8E01-1F0A3F905532}"/>
              </a:ext>
            </a:extLst>
          </p:cNvPr>
          <p:cNvCxnSpPr>
            <a:stCxn xmlns:a="http://schemas.openxmlformats.org/drawingml/2006/main" id="12" idx="0"/>
            <a:endCxn xmlns:a="http://schemas.openxmlformats.org/drawingml/2006/main" id="4" idx="2"/>
          </p:cNvCxnSpPr>
          <p:nvPr/>
        </p:nvCxnSpPr>
        <p:spPr>
          <a:xfrm xmlns:a="http://schemas.openxmlformats.org/drawingml/2006/main" flipV="1">
            <a:off x="1752600" y="2762250"/>
            <a:ext cx="0" cy="1666875"/>
          </a:xfrm>
          <a:prstGeom xmlns:a="http://schemas.openxmlformats.org/drawingml/2006/main" prst="straightConnector1">
            <a:avLst/>
          </a:prstGeom>
          <a:ln xmlns:a="http://schemas.openxmlformats.org/drawingml/2006/main" w="19050">
            <a:solidFill>
              <a:srgbClr val="666666"/>
            </a:solidFill>
            <a:prstDash val="dash"/>
            <a:tailEnd type="triangle" w="med" len="med"/>
          </a:ln>
        </p:spPr>
      </p:cxnSp>
      <p:cxnSp>
        <p:nvCxnSpPr>
          <p:cNvPr id="19" name="">
            <a:extLst xmlns:a="http://schemas.openxmlformats.org/drawingml/2006/main">
              <a:ext uri="{FF2B5EF4-FFF2-40B4-BE49-F238E27FC236}">
                <a16:creationId xmlns:a16="http://schemas.microsoft.com/office/drawing/2014/main" id="{62A3B381-B233-45CA-B007-D3C5DD8DF5B0}"/>
              </a:ext>
            </a:extLst>
          </p:cNvPr>
          <p:cNvCxnSpPr>
            <a:stCxn xmlns:a="http://schemas.openxmlformats.org/drawingml/2006/main" id="10" idx="3"/>
            <a:endCxn xmlns:a="http://schemas.openxmlformats.org/drawingml/2006/main" id="11" idx="1"/>
          </p:cNvCxnSpPr>
          <p:nvPr/>
        </p:nvCxnSpPr>
        <p:spPr>
          <a:xfrm xmlns:a="http://schemas.openxmlformats.org/drawingml/2006/main">
            <a:off x="5905500" y="4857750"/>
            <a:ext cx="6667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4341DB70-5AF5-4A72-8644-69A732BAA29E}"/>
              </a:ext>
            </a:extLst>
          </p:cNvPr>
          <p:cNvCxnSpPr>
            <a:stCxn xmlns:a="http://schemas.openxmlformats.org/drawingml/2006/main" id="5" idx="2"/>
            <a:endCxn xmlns:a="http://schemas.openxmlformats.org/drawingml/2006/main" id="10" idx="0"/>
          </p:cNvCxnSpPr>
          <p:nvPr/>
        </p:nvCxnSpPr>
        <p:spPr>
          <a:xfrm xmlns:a="http://schemas.openxmlformats.org/drawingml/2006/main">
            <a:off x="4619625" y="2762250"/>
            <a:ext cx="0" cy="16668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FE04C475-32AC-4CE7-BF75-F017B6E9F5E8}"/>
              </a:ext>
            </a:extLst>
          </p:cNvPr>
          <p:cNvCxnSpPr>
            <a:stCxn xmlns:a="http://schemas.openxmlformats.org/drawingml/2006/main" id="8" idx="2"/>
            <a:endCxn xmlns:a="http://schemas.openxmlformats.org/drawingml/2006/main" id="9" idx="0"/>
          </p:cNvCxnSpPr>
          <p:nvPr/>
        </p:nvCxnSpPr>
        <p:spPr>
          <a:xfrm xmlns:a="http://schemas.openxmlformats.org/drawingml/2006/main">
            <a:off x="10596563" y="4048125"/>
            <a:ext cx="0" cy="38100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7A9C4465-B49E-45AD-875E-67AAC0852CA7}"/>
              </a:ext>
            </a:extLst>
          </p:cNvPr>
          <p:cNvCxnSpPr>
            <a:stCxn xmlns:a="http://schemas.openxmlformats.org/drawingml/2006/main" id="7" idx="3"/>
            <a:endCxn xmlns:a="http://schemas.openxmlformats.org/drawingml/2006/main" id="8" idx="1"/>
          </p:cNvCxnSpPr>
          <p:nvPr/>
        </p:nvCxnSpPr>
        <p:spPr>
          <a:xfrm xmlns:a="http://schemas.openxmlformats.org/drawingml/2006/main">
            <a:off x="9144000" y="3533775"/>
            <a:ext cx="476250" cy="85725"/>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A0FAA577-A59F-454A-B046-B30B10890DC2}"/>
              </a:ext>
            </a:extLst>
          </p:cNvPr>
          <p:cNvCxnSpPr>
            <a:stCxn xmlns:a="http://schemas.openxmlformats.org/drawingml/2006/main" id="6" idx="2"/>
            <a:endCxn xmlns:a="http://schemas.openxmlformats.org/drawingml/2006/main" id="7" idx="0"/>
          </p:cNvCxnSpPr>
          <p:nvPr/>
        </p:nvCxnSpPr>
        <p:spPr>
          <a:xfrm xmlns:a="http://schemas.openxmlformats.org/drawingml/2006/main">
            <a:off x="7858125" y="27622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A47CBA6E-30E6-4B11-911C-48EC35B507FB}"/>
              </a:ext>
            </a:extLst>
          </p:cNvPr>
          <p:cNvCxnSpPr>
            <a:stCxn xmlns:a="http://schemas.openxmlformats.org/drawingml/2006/main" id="5" idx="3"/>
            <a:endCxn xmlns:a="http://schemas.openxmlformats.org/drawingml/2006/main" id="6" idx="1"/>
          </p:cNvCxnSpPr>
          <p:nvPr/>
        </p:nvCxnSpPr>
        <p:spPr>
          <a:xfrm xmlns:a="http://schemas.openxmlformats.org/drawingml/2006/main">
            <a:off x="5905500" y="2333625"/>
            <a:ext cx="6667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36529D1E-FD3C-400C-B075-7967A11885E4}"/>
              </a:ext>
            </a:extLst>
          </p:cNvPr>
          <p:cNvCxnSpPr>
            <a:stCxn xmlns:a="http://schemas.openxmlformats.org/drawingml/2006/main" id="4" idx="3"/>
            <a:endCxn xmlns:a="http://schemas.openxmlformats.org/drawingml/2006/main" id="5" idx="1"/>
          </p:cNvCxnSpPr>
          <p:nvPr/>
        </p:nvCxnSpPr>
        <p:spPr>
          <a:xfrm xmlns:a="http://schemas.openxmlformats.org/drawingml/2006/main">
            <a:off x="2895600" y="2333625"/>
            <a:ext cx="43815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22" name="text-0">
            <a:extLst xmlns:a="http://schemas.openxmlformats.org/drawingml/2006/main">
              <a:ext uri="{FF2B5EF4-FFF2-40B4-BE49-F238E27FC236}">
                <a16:creationId xmlns:a16="http://schemas.microsoft.com/office/drawing/2014/main" id="{6023412F-BD76-4C42-95B5-8F8B58B1A26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Whole pipeline</a:t>
            </a:r>
          </a:p>
        </p:txBody>
      </p:sp>
      <p:sp>
        <p:nvSpPr>
          <p:cNvPr id="2" name="text-1">
            <a:extLst xmlns:a="http://schemas.openxmlformats.org/drawingml/2006/main">
              <a:ext uri="{FF2B5EF4-FFF2-40B4-BE49-F238E27FC236}">
                <a16:creationId xmlns:a16="http://schemas.microsoft.com/office/drawing/2014/main" id="{7E29380A-7C8D-4D52-A3DD-D01C7C53D203}"/>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transcripts are the current input. Audio processing is the next phase.</a:t>
            </a:r>
          </a:p>
        </p:txBody>
      </p:sp>
      <p:sp>
        <p:nvSpPr>
          <p:cNvPr id="3" name="text-2">
            <a:extLst xmlns:a="http://schemas.openxmlformats.org/drawingml/2006/main">
              <a:ext uri="{FF2B5EF4-FFF2-40B4-BE49-F238E27FC236}">
                <a16:creationId xmlns:a16="http://schemas.microsoft.com/office/drawing/2014/main" id="{7BA60539-53F6-4761-8475-6FD35D006610}"/>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8</a:t>
            </a:r>
          </a:p>
        </p:txBody>
      </p:sp>
      <p:sp>
        <p:nvSpPr>
          <p:cNvPr id="4" name="input">
            <a:extLst xmlns:a="http://schemas.openxmlformats.org/drawingml/2006/main">
              <a:ext uri="{FF2B5EF4-FFF2-40B4-BE49-F238E27FC236}">
                <a16:creationId xmlns:a16="http://schemas.microsoft.com/office/drawing/2014/main" id="{95BB60DF-5A2A-4739-923A-4E90F334AC33}"/>
              </a:ext>
            </a:extLst>
          </p:cNvPr>
          <p:cNvSpPr>
            <a:spLocks xmlns:a="http://schemas.openxmlformats.org/drawingml/2006/main" noGrp="1"/>
          </p:cNvSpPr>
          <p:nvPr/>
        </p:nvSpPr>
        <p:spPr>
          <a:xfrm xmlns:a="http://schemas.openxmlformats.org/drawingml/2006/main">
            <a:off x="609600" y="1905000"/>
            <a:ext cx="2286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Target-speaker text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Human now / ASR later</a:t>
            </a:r>
          </a:p>
        </p:txBody>
      </p:sp>
      <p:sp>
        <p:nvSpPr>
          <p:cNvPr id="5" name="prepare">
            <a:extLst xmlns:a="http://schemas.openxmlformats.org/drawingml/2006/main">
              <a:ext uri="{FF2B5EF4-FFF2-40B4-BE49-F238E27FC236}">
                <a16:creationId xmlns:a16="http://schemas.microsoft.com/office/drawing/2014/main" id="{51B36AE0-0049-4340-A273-67F42ED20CD1}"/>
              </a:ext>
            </a:extLst>
          </p:cNvPr>
          <p:cNvSpPr>
            <a:spLocks xmlns:a="http://schemas.openxmlformats.org/drawingml/2006/main" noGrp="1"/>
          </p:cNvSpPr>
          <p:nvPr/>
        </p:nvSpPr>
        <p:spPr>
          <a:xfrm xmlns:a="http://schemas.openxmlformats.org/drawingml/2006/main">
            <a:off x="3333750" y="1905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Prepare words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observed turns</a:t>
            </a:r>
          </a:p>
        </p:txBody>
      </p:sp>
      <p:sp>
        <p:nvSpPr>
          <p:cNvPr id="6" name="model">
            <a:extLst xmlns:a="http://schemas.openxmlformats.org/drawingml/2006/main">
              <a:ext uri="{FF2B5EF4-FFF2-40B4-BE49-F238E27FC236}">
                <a16:creationId xmlns:a16="http://schemas.microsoft.com/office/drawing/2014/main" id="{516F1AFA-BEA6-430B-A906-65F2EAA4D87E}"/>
              </a:ext>
            </a:extLst>
          </p:cNvPr>
          <p:cNvSpPr>
            <a:spLocks xmlns:a="http://schemas.openxmlformats.org/drawingml/2006/main" noGrp="1"/>
          </p:cNvSpPr>
          <p:nvPr/>
        </p:nvSpPr>
        <p:spPr>
          <a:xfrm xmlns:a="http://schemas.openxmlformats.org/drawingml/2006/main">
            <a:off x="6572250" y="1905000"/>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Predict utterances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Custom MiniLM model</a:t>
            </a:r>
          </a:p>
        </p:txBody>
      </p:sp>
      <p:sp>
        <p:nvSpPr>
          <p:cNvPr id="7" name="chat">
            <a:extLst xmlns:a="http://schemas.openxmlformats.org/drawingml/2006/main">
              <a:ext uri="{FF2B5EF4-FFF2-40B4-BE49-F238E27FC236}">
                <a16:creationId xmlns:a16="http://schemas.microsoft.com/office/drawing/2014/main" id="{BE137B4A-A207-465B-B7B7-8594E8287B5E}"/>
              </a:ext>
            </a:extLst>
          </p:cNvPr>
          <p:cNvSpPr>
            <a:spLocks xmlns:a="http://schemas.openxmlformats.org/drawingml/2006/main" noGrp="1"/>
          </p:cNvSpPr>
          <p:nvPr/>
        </p:nvSpPr>
        <p:spPr>
          <a:xfrm xmlns:a="http://schemas.openxmlformats.org/drawingml/2006/main">
            <a:off x="6572250" y="3190875"/>
            <a:ext cx="2571750" cy="68580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Export predicted CHAT</a:t>
            </a:r>
          </a:p>
        </p:txBody>
      </p:sp>
      <p:sp>
        <p:nvSpPr>
          <p:cNvPr id="8" name="clan">
            <a:extLst xmlns:a="http://schemas.openxmlformats.org/drawingml/2006/main">
              <a:ext uri="{FF2B5EF4-FFF2-40B4-BE49-F238E27FC236}">
                <a16:creationId xmlns:a16="http://schemas.microsoft.com/office/drawing/2014/main" id="{96734F36-56DA-43B9-901E-1350E7A2BC5B}"/>
              </a:ext>
            </a:extLst>
          </p:cNvPr>
          <p:cNvSpPr>
            <a:spLocks xmlns:a="http://schemas.openxmlformats.org/drawingml/2006/main" noGrp="1"/>
          </p:cNvSpPr>
          <p:nvPr/>
        </p:nvSpPr>
        <p:spPr>
          <a:xfrm xmlns:a="http://schemas.openxmlformats.org/drawingml/2006/main">
            <a:off x="9620250" y="3190875"/>
            <a:ext cx="1952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Native CLAN</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MLU and FREQ</a:t>
            </a:r>
          </a:p>
        </p:txBody>
      </p:sp>
      <p:sp>
        <p:nvSpPr>
          <p:cNvPr id="9" name="surface">
            <a:extLst xmlns:a="http://schemas.openxmlformats.org/drawingml/2006/main">
              <a:ext uri="{FF2B5EF4-FFF2-40B4-BE49-F238E27FC236}">
                <a16:creationId xmlns:a16="http://schemas.microsoft.com/office/drawing/2014/main" id="{62800005-13C2-4C35-9177-488BE6FADF1B}"/>
              </a:ext>
            </a:extLst>
          </p:cNvPr>
          <p:cNvSpPr>
            <a:spLocks xmlns:a="http://schemas.openxmlformats.org/drawingml/2006/main" noGrp="1"/>
          </p:cNvSpPr>
          <p:nvPr/>
        </p:nvSpPr>
        <p:spPr>
          <a:xfrm xmlns:a="http://schemas.openxmlformats.org/drawingml/2006/main">
            <a:off x="9620250" y="4429125"/>
            <a:ext cx="1952625" cy="99060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Utterance count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MLUw and length SD</a:t>
            </a:r>
          </a:p>
        </p:txBody>
      </p:sp>
      <p:sp>
        <p:nvSpPr>
          <p:cNvPr id="10" name="lex">
            <a:extLst xmlns:a="http://schemas.openxmlformats.org/drawingml/2006/main">
              <a:ext uri="{FF2B5EF4-FFF2-40B4-BE49-F238E27FC236}">
                <a16:creationId xmlns:a16="http://schemas.microsoft.com/office/drawing/2014/main" id="{EFE8867E-BF70-42E2-AF79-FD74C55B3875}"/>
              </a:ext>
            </a:extLst>
          </p:cNvPr>
          <p:cNvSpPr>
            <a:spLocks xmlns:a="http://schemas.openxmlformats.org/drawingml/2006/main" noGrp="1"/>
          </p:cNvSpPr>
          <p:nvPr/>
        </p:nvSpPr>
        <p:spPr>
          <a:xfrm xmlns:a="http://schemas.openxmlformats.org/drawingml/2006/main">
            <a:off x="3333750" y="4429125"/>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Historical TAALED</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processing rules</a:t>
            </a:r>
          </a:p>
        </p:txBody>
      </p:sp>
      <p:sp>
        <p:nvSpPr>
          <p:cNvPr id="11" name="vocab">
            <a:extLst xmlns:a="http://schemas.openxmlformats.org/drawingml/2006/main">
              <a:ext uri="{FF2B5EF4-FFF2-40B4-BE49-F238E27FC236}">
                <a16:creationId xmlns:a16="http://schemas.microsoft.com/office/drawing/2014/main" id="{F05828FA-C17E-40E1-A8B6-C37709C09E17}"/>
              </a:ext>
            </a:extLst>
          </p:cNvPr>
          <p:cNvSpPr>
            <a:spLocks xmlns:a="http://schemas.openxmlformats.org/drawingml/2006/main" noGrp="1"/>
          </p:cNvSpPr>
          <p:nvPr/>
        </p:nvSpPr>
        <p:spPr>
          <a:xfrm xmlns:a="http://schemas.openxmlformats.org/drawingml/2006/main">
            <a:off x="6572250" y="4429125"/>
            <a:ext cx="2571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Vocabulary counts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diversity measures</a:t>
            </a:r>
          </a:p>
        </p:txBody>
      </p:sp>
      <p:sp>
        <p:nvSpPr>
          <p:cNvPr id="12" name="audio">
            <a:extLst xmlns:a="http://schemas.openxmlformats.org/drawingml/2006/main">
              <a:ext uri="{FF2B5EF4-FFF2-40B4-BE49-F238E27FC236}">
                <a16:creationId xmlns:a16="http://schemas.microsoft.com/office/drawing/2014/main" id="{FEB73743-1F6E-41D1-864B-FDD137AE46A8}"/>
              </a:ext>
            </a:extLst>
          </p:cNvPr>
          <p:cNvSpPr>
            <a:spLocks xmlns:a="http://schemas.openxmlformats.org/drawingml/2006/main" noGrp="1"/>
          </p:cNvSpPr>
          <p:nvPr/>
        </p:nvSpPr>
        <p:spPr>
          <a:xfrm xmlns:a="http://schemas.openxmlformats.org/drawingml/2006/main">
            <a:off x="609600" y="4429125"/>
            <a:ext cx="2286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666666"/>
            </a:solidFill>
            <a:prstDash val="dash"/>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Planned: audio + ASR</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and speaker selection</a:t>
            </a:r>
          </a:p>
        </p:txBody>
      </p:sp>
      <p:sp>
        <p:nvSpPr>
          <p:cNvPr id="21" name="text-20">
            <a:extLst xmlns:a="http://schemas.openxmlformats.org/drawingml/2006/main">
              <a:ext uri="{FF2B5EF4-FFF2-40B4-BE49-F238E27FC236}">
                <a16:creationId xmlns:a16="http://schemas.microsoft.com/office/drawing/2014/main" id="{6A56600A-8E87-4A22-B25F-BA2DC30366B1}"/>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Vocabulary processing and utterance processing use separate branches.</a:t>
            </a:r>
          </a:p>
        </p:txBody>
      </p:sp>
    </p:spTree>
    <p:extLst>
      <p:ext uri="{BB962C8B-B14F-4D97-AF65-F5344CB8AC3E}">
        <p14:creationId xmlns:p14="http://schemas.microsoft.com/office/powerpoint/2010/main" val="7124316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0CC7536-9A21-4F9D-A988-4B4958CC7487}"/>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Our model and the external tools</a:t>
            </a:r>
          </a:p>
        </p:txBody>
      </p:sp>
      <p:sp>
        <p:nvSpPr>
          <p:cNvPr id="2" name="text-1">
            <a:extLst xmlns:a="http://schemas.openxmlformats.org/drawingml/2006/main">
              <a:ext uri="{FF2B5EF4-FFF2-40B4-BE49-F238E27FC236}">
                <a16:creationId xmlns:a16="http://schemas.microsoft.com/office/drawing/2014/main" id="{713937E4-E309-47F7-A2C8-5429D3083755}"/>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boundary model includes custom training on our task</a:t>
            </a:r>
          </a:p>
        </p:txBody>
      </p:sp>
      <p:sp>
        <p:nvSpPr>
          <p:cNvPr id="3" name="text-2">
            <a:extLst xmlns:a="http://schemas.openxmlformats.org/drawingml/2006/main">
              <a:ext uri="{FF2B5EF4-FFF2-40B4-BE49-F238E27FC236}">
                <a16:creationId xmlns:a16="http://schemas.microsoft.com/office/drawing/2014/main" id="{9286B903-1D16-460F-9061-C1F2B631CD9B}"/>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852C4B1D-DA6E-4A5A-8D2D-442EDD3E314C}"/>
              </a:ext>
            </a:extLst>
          </p:cNvPr>
          <p:cNvGraphicFramePr/>
          <p:nvPr/>
        </p:nvGraphicFramePr>
        <p:xfrm>
          <a:off xmlns:a="http://schemas.openxmlformats.org/drawingml/2006/main" x="609600" y="1809750"/>
          <a:ext xmlns:a="http://schemas.openxmlformats.org/drawingml/2006/main" cx="10972800" cy="3190875"/>
        </p:xfrm>
        <a:graphic xmlns:a="http://schemas.openxmlformats.org/drawingml/2006/main">
          <a:graphicData uri="http://schemas.openxmlformats.org/drawingml/2006/table">
            <a:tbl>
              <a:tblPr firstRow="1" bandRow="0"/>
              <a:tblGrid>
                <a:gridCol w="3714750"/>
                <a:gridCol w="7258050"/>
              </a:tblGrid>
              <a:tr h="638175">
                <a:tc>
                  <a:txBody>
                    <a:bodyPr lIns="114300" tIns="114300" rIns="114300" bIns="114300"/>
                    <a:lstStyle/>
                    <a:p>
                      <a:pPr algn="l"/>
                      <a:r>
                        <a:rPr sz="2025" b="1">
                          <a:solidFill>
                            <a:srgbClr val="202020"/>
                          </a:solidFill>
                          <a:latin typeface="Arial"/>
                          <a:ea typeface="Arial"/>
                          <a:cs typeface="Arial"/>
                        </a:rPr>
                        <a:t>Component</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What we use</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638175">
                <a:tc>
                  <a:txBody>
                    <a:bodyPr lIns="114300" tIns="114300" rIns="114300" bIns="114300"/>
                    <a:lstStyle/>
                    <a:p>
                      <a:pPr algn="l"/>
                      <a:r>
                        <a:rPr sz="2025" b="0">
                          <a:solidFill>
                            <a:srgbClr val="202020"/>
                          </a:solidFill>
                          <a:latin typeface="Arial"/>
                          <a:ea typeface="Arial"/>
                          <a:cs typeface="Arial"/>
                        </a:rPr>
                        <a:t>Pretrained language encoder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Microsoft MiniLM supplies contextual word representations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2025" b="0">
                          <a:solidFill>
                            <a:srgbClr val="202020"/>
                          </a:solidFill>
                          <a:latin typeface="Arial"/>
                          <a:ea typeface="Arial"/>
                          <a:cs typeface="Arial"/>
                        </a:rPr>
                        <a:t>Custom learned components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Our rule embedding and classifier predict boundaries between words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2025" b="0">
                          <a:solidFill>
                            <a:srgbClr val="202020"/>
                          </a:solidFill>
                          <a:latin typeface="Arial"/>
                          <a:ea typeface="Arial"/>
                          <a:cs typeface="Arial"/>
                        </a:rPr>
                        <a:t>Training</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We fine-tune the encoder and custom components together</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2025" b="0">
                          <a:solidFill>
                            <a:srgbClr val="202020"/>
                          </a:solidFill>
                          <a:latin typeface="Arial"/>
                          <a:ea typeface="Arial"/>
                          <a:cs typeface="Arial"/>
                        </a:rPr>
                        <a:t>Other software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spaCy supplies linguistic cues. CLAN calculates CHAT measures.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A069DB04-A3DA-4710-9F7F-021FA34567EA}"/>
              </a:ext>
            </a:extLst>
          </p:cNvPr>
          <p:cNvSpPr>
            <a:spLocks xmlns:a="http://schemas.openxmlformats.org/drawingml/2006/main" noGrp="1"/>
          </p:cNvSpPr>
          <p:nvPr/>
        </p:nvSpPr>
        <p:spPr>
          <a:xfrm xmlns:a="http://schemas.openxmlformats.org/drawingml/2006/main">
            <a:off x="628650" y="55245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66666"/>
                </a:solidFill>
                <a:latin typeface="Arial"/>
                <a:ea typeface="Arial"/>
                <a:cs typeface="Arial"/>
              </a:defRPr>
            </a:defPPr>
          </a:lstStyle>
          <a:p xmlns:a="http://schemas.openxmlformats.org/drawingml/2006/main">
            <a:pPr algn="l">
              <a:defRPr sz="1950" b="0">
                <a:solidFill>
                  <a:srgbClr val="666666"/>
                </a:solidFill>
                <a:latin typeface="Arial"/>
                <a:ea typeface="Arial"/>
                <a:cs typeface="Arial"/>
              </a:defRPr>
            </a:pPr>
            <a:r>
              <a:rPr sz="1950" b="0">
                <a:solidFill>
                  <a:srgbClr val="666666"/>
                </a:solidFill>
                <a:latin typeface="Arial"/>
                <a:ea typeface="Arial"/>
                <a:cs typeface="Arial"/>
              </a:rPr>
              <a:t>Lexical measures use fixed calculation rules. LUCID does not train the boundary model.</a:t>
            </a:r>
          </a:p>
        </p:txBody>
      </p:sp>
    </p:spTree>
    <p:extLst>
      <p:ext uri="{BB962C8B-B14F-4D97-AF65-F5344CB8AC3E}">
        <p14:creationId xmlns:p14="http://schemas.microsoft.com/office/powerpoint/2010/main" val="48983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2023921-A60D-41D6-8829-2889601EB7D2}"/>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we tried</a:t>
            </a:r>
          </a:p>
        </p:txBody>
      </p:sp>
      <p:sp>
        <p:nvSpPr>
          <p:cNvPr id="2" name="text-1">
            <a:extLst xmlns:a="http://schemas.openxmlformats.org/drawingml/2006/main">
              <a:ext uri="{FF2B5EF4-FFF2-40B4-BE49-F238E27FC236}">
                <a16:creationId xmlns:a16="http://schemas.microsoft.com/office/drawing/2014/main" id="{8D751F67-4638-492D-923D-B96563087D0C}"/>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Changes addressed vocabulary processing, utterance boundaries and model selection</a:t>
            </a:r>
          </a:p>
        </p:txBody>
      </p:sp>
      <p:sp>
        <p:nvSpPr>
          <p:cNvPr id="3" name="text-2">
            <a:extLst xmlns:a="http://schemas.openxmlformats.org/drawingml/2006/main">
              <a:ext uri="{FF2B5EF4-FFF2-40B4-BE49-F238E27FC236}">
                <a16:creationId xmlns:a16="http://schemas.microsoft.com/office/drawing/2014/main" id="{C6156F6A-E067-429E-821A-B0EF90E2CC5A}"/>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8EFFBEF9-493A-46CA-8567-D31B3F221F38}"/>
              </a:ext>
            </a:extLst>
          </p:cNvPr>
          <p:cNvSpPr>
            <a:spLocks xmlns:a="http://schemas.openxmlformats.org/drawingml/2006/main" noGrp="1"/>
          </p:cNvSpPr>
          <p:nvPr/>
        </p:nvSpPr>
        <p:spPr>
          <a:xfrm xmlns:a="http://schemas.openxmlformats.org/drawingml/2006/main">
            <a:off x="723900" y="1809750"/>
            <a:ext cx="107442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Arial"/>
                <a:ea typeface="Arial"/>
                <a:cs typeface="Arial"/>
              </a:defRPr>
            </a:defPPr>
          </a:lstStyle>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Aligned lexical processing with historical TAALED dictionary, word-category and pause rules.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Used native CLAN scoring to respect CHAT word and utterance eligibility.</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Compared whole-paragraph prediction, observed-turn prediction and rules.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Tested fixed boundary settings on development participants.</a:t>
            </a:r>
          </a:p>
          <a:p xmlns:a="http://schemas.openxmlformats.org/drawingml/2006/main">
            <a:pPr marL="279400" indent="-139700" algn="l">
              <a:spcAft>
                <a:spcPts val="1500"/>
              </a:spcAft>
              <a:buChar char="•"/>
              <a:defRPr sz="2100" b="0">
                <a:solidFill>
                  <a:srgbClr val="202020"/>
                </a:solidFill>
                <a:latin typeface="Arial"/>
                <a:ea typeface="Arial"/>
                <a:cs typeface="Arial"/>
              </a:defRPr>
            </a:pPr>
            <a:r>
              <a:rPr sz="2100">
                <a:solidFill>
                  <a:srgbClr val="202020"/>
                </a:solidFill>
                <a:latin typeface="Arial"/>
                <a:ea typeface="Arial"/>
                <a:cs typeface="Arial"/>
              </a:rPr>
              <a:t>Compared learning rates and count-loss weights using five-fold participant CV.</a:t>
            </a:r>
          </a:p>
        </p:txBody>
      </p:sp>
    </p:spTree>
    <p:extLst>
      <p:ext uri="{BB962C8B-B14F-4D97-AF65-F5344CB8AC3E}">
        <p14:creationId xmlns:p14="http://schemas.microsoft.com/office/powerpoint/2010/main" val="11436164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7BB8B20-9C70-4FBF-AC2B-E076DD50BD12}"/>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Five-fold cross-validation</a:t>
            </a:r>
          </a:p>
        </p:txBody>
      </p:sp>
      <p:sp>
        <p:nvSpPr>
          <p:cNvPr id="2" name="text-1">
            <a:extLst xmlns:a="http://schemas.openxmlformats.org/drawingml/2006/main">
              <a:ext uri="{FF2B5EF4-FFF2-40B4-BE49-F238E27FC236}">
                <a16:creationId xmlns:a16="http://schemas.microsoft.com/office/drawing/2014/main" id="{520D6AB5-4405-40F9-AA4D-99EBA3EB51CF}"/>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Recipe comparison uses the original 231 usable training children only</a:t>
            </a:r>
          </a:p>
        </p:txBody>
      </p:sp>
      <p:sp>
        <p:nvSpPr>
          <p:cNvPr id="3" name="text-2">
            <a:extLst xmlns:a="http://schemas.openxmlformats.org/drawingml/2006/main">
              <a:ext uri="{FF2B5EF4-FFF2-40B4-BE49-F238E27FC236}">
                <a16:creationId xmlns:a16="http://schemas.microsoft.com/office/drawing/2014/main" id="{36920F64-FDA3-4008-96B2-77F460AAEFF6}"/>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11</a:t>
            </a:r>
          </a:p>
        </p:txBody>
      </p:sp>
      <p:sp>
        <p:nvSpPr>
          <p:cNvPr id="4" name="text-3">
            <a:extLst xmlns:a="http://schemas.openxmlformats.org/drawingml/2006/main">
              <a:ext uri="{FF2B5EF4-FFF2-40B4-BE49-F238E27FC236}">
                <a16:creationId xmlns:a16="http://schemas.microsoft.com/office/drawing/2014/main" id="{9386A7A2-A553-41EE-9392-0C6367D029AB}"/>
              </a:ext>
            </a:extLst>
          </p:cNvPr>
          <p:cNvSpPr>
            <a:spLocks xmlns:a="http://schemas.openxmlformats.org/drawingml/2006/main" noGrp="1"/>
          </p:cNvSpPr>
          <p:nvPr/>
        </p:nvSpPr>
        <p:spPr>
          <a:xfrm xmlns:a="http://schemas.openxmlformats.org/drawingml/2006/main">
            <a:off x="723900" y="1809750"/>
            <a:ext cx="107442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2020"/>
                </a:solidFill>
                <a:latin typeface="Arial"/>
                <a:ea typeface="Arial"/>
                <a:cs typeface="Arial"/>
              </a:defRPr>
            </a:defPPr>
          </a:lstStyle>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Each configuration uses five fits, with a different group of children held out each time.</a:t>
            </a:r>
          </a:p>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Within each fold, separate inner children select the checkpoint and boundary setting.</a:t>
            </a:r>
          </a:p>
          <a:p xmlns:a="http://schemas.openxmlformats.org/drawingml/2006/main">
            <a:pPr marL="279400" indent="-139700" algn="l">
              <a:spcAft>
                <a:spcPts val="1300"/>
              </a:spcAft>
              <a:buChar char="•"/>
              <a:defRPr sz="2100" b="0">
                <a:solidFill>
                  <a:srgbClr val="202020"/>
                </a:solidFill>
                <a:latin typeface="Arial"/>
                <a:ea typeface="Arial"/>
                <a:cs typeface="Arial"/>
              </a:defRPr>
            </a:pPr>
            <a:r>
              <a:rPr sz="2100">
                <a:solidFill>
                  <a:srgbClr val="202020"/>
                </a:solidFill>
                <a:latin typeface="Arial"/>
                <a:ea typeface="Arial"/>
                <a:cs typeface="Arial"/>
              </a:rPr>
              <a:t>We pool held-out predictions across all five folds to compare configurations.</a:t>
            </a:r>
          </a:p>
        </p:txBody>
      </p:sp>
      <p:graphicFrame>
        <p:nvGraphicFramePr>
          <p:cNvPr id="5" name="">
            <a:extLst xmlns:a="http://schemas.openxmlformats.org/drawingml/2006/main">
              <a:ext uri="{FF2B5EF4-FFF2-40B4-BE49-F238E27FC236}">
                <a16:creationId xmlns:a16="http://schemas.microsoft.com/office/drawing/2014/main" id="{584FB791-722C-4CA6-B220-960797B1D28E}"/>
              </a:ext>
            </a:extLst>
          </p:cNvPr>
          <p:cNvGraphicFramePr/>
          <p:nvPr/>
        </p:nvGraphicFramePr>
        <p:xfrm>
          <a:off xmlns:a="http://schemas.openxmlformats.org/drawingml/2006/main" x="609600" y="4048125"/>
          <a:ext xmlns:a="http://schemas.openxmlformats.org/drawingml/2006/main" cx="10972800" cy="1714500"/>
        </p:xfrm>
        <a:graphic xmlns:a="http://schemas.openxmlformats.org/drawingml/2006/main">
          <a:graphicData uri="http://schemas.openxmlformats.org/drawingml/2006/table">
            <a:tbl>
              <a:tblPr firstRow="1" bandRow="0"/>
              <a:tblGrid>
                <a:gridCol w="8096250"/>
                <a:gridCol w="2876550"/>
              </a:tblGrid>
              <a:tr h="428625">
                <a:tc>
                  <a:txBody>
                    <a:bodyPr lIns="114300" tIns="114300" rIns="114300" bIns="114300"/>
                    <a:lstStyle/>
                    <a:p>
                      <a:pPr algn="l"/>
                      <a:r>
                        <a:rPr sz="1875" b="1">
                          <a:solidFill>
                            <a:srgbClr val="202020"/>
                          </a:solidFill>
                          <a:latin typeface="Arial"/>
                          <a:ea typeface="Arial"/>
                          <a:cs typeface="Arial"/>
                        </a:rPr>
                        <a:t>Completed configuration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Combined CV 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28625">
                <a:tc>
                  <a:txBody>
                    <a:bodyPr lIns="114300" tIns="114300" rIns="114300" bIns="114300"/>
                    <a:lstStyle/>
                    <a:p>
                      <a:pPr algn="l"/>
                      <a:r>
                        <a:rPr sz="1875" b="0">
                          <a:solidFill>
                            <a:srgbClr val="202020"/>
                          </a:solidFill>
                          <a:latin typeface="Arial"/>
                          <a:ea typeface="Arial"/>
                          <a:cs typeface="Arial"/>
                        </a:rPr>
                        <a:t>Baseline learning rate and count loss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13.16%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28625">
                <a:tc>
                  <a:txBody>
                    <a:bodyPr lIns="114300" tIns="114300" rIns="114300" bIns="114300"/>
                    <a:lstStyle/>
                    <a:p>
                      <a:pPr algn="l"/>
                      <a:r>
                        <a:rPr sz="1875" b="0">
                          <a:solidFill>
                            <a:srgbClr val="202020"/>
                          </a:solidFill>
                          <a:latin typeface="Arial"/>
                          <a:ea typeface="Arial"/>
                          <a:cs typeface="Arial"/>
                        </a:rPr>
                        <a:t>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13.36%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28625">
                <a:tc>
                  <a:txBody>
                    <a:bodyPr lIns="114300" tIns="114300" rIns="114300" bIns="114300"/>
                    <a:lstStyle/>
                    <a:p>
                      <a:pPr algn="l"/>
                      <a:r>
                        <a:rPr sz="1875" b="0">
                          <a:solidFill>
                            <a:srgbClr val="202020"/>
                          </a:solidFill>
                          <a:latin typeface="Arial"/>
                          <a:ea typeface="Arial"/>
                          <a:cs typeface="Arial"/>
                        </a:rPr>
                        <a:t>Higher learning rate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13.52%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858777DE-3637-492F-8AE5-04F563040221}"/>
              </a:ext>
            </a:extLst>
          </p:cNvPr>
          <p:cNvSpPr>
            <a:spLocks xmlns:a="http://schemas.openxmlformats.org/drawingml/2006/main" noGrp="1"/>
          </p:cNvSpPr>
          <p:nvPr/>
        </p:nvSpPr>
        <p:spPr>
          <a:xfrm xmlns:a="http://schemas.openxmlformats.org/drawingml/2006/main">
            <a:off x="628650" y="60007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The baseline has the best completed combined score. No new final fit or model activation followed.</a:t>
            </a:r>
          </a:p>
        </p:txBody>
      </p:sp>
    </p:spTree>
    <p:extLst>
      <p:ext uri="{BB962C8B-B14F-4D97-AF65-F5344CB8AC3E}">
        <p14:creationId xmlns:p14="http://schemas.microsoft.com/office/powerpoint/2010/main" val="1498922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A9877234-1F42-4B5A-A3AE-CAECE997B05F}"/>
              </a:ext>
            </a:extLst>
          </p:cNvPr>
          <p:cNvCxnSpPr>
            <a:stCxn xmlns:a="http://schemas.openxmlformats.org/drawingml/2006/main" id="6" idx="2"/>
            <a:endCxn xmlns:a="http://schemas.openxmlformats.org/drawingml/2006/main" id="9" idx="0"/>
          </p:cNvCxnSpPr>
          <p:nvPr/>
        </p:nvCxnSpPr>
        <p:spPr>
          <a:xfrm xmlns:a="http://schemas.openxmlformats.org/drawingml/2006/main">
            <a:off x="9858375" y="2809875"/>
            <a:ext cx="0" cy="123825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DBC58247-1915-4858-9A40-006F409ABE3A}"/>
              </a:ext>
            </a:extLst>
          </p:cNvPr>
          <p:cNvCxnSpPr>
            <a:stCxn xmlns:a="http://schemas.openxmlformats.org/drawingml/2006/main" id="8" idx="3"/>
            <a:endCxn xmlns:a="http://schemas.openxmlformats.org/drawingml/2006/main" id="9" idx="1"/>
          </p:cNvCxnSpPr>
          <p:nvPr/>
        </p:nvCxnSpPr>
        <p:spPr>
          <a:xfrm xmlns:a="http://schemas.openxmlformats.org/drawingml/2006/main">
            <a:off x="6858000" y="4572000"/>
            <a:ext cx="133350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4E26D0DC-C54F-49E9-BB45-A7F923251C20}"/>
              </a:ext>
            </a:extLst>
          </p:cNvPr>
          <p:cNvCxnSpPr>
            <a:stCxn xmlns:a="http://schemas.openxmlformats.org/drawingml/2006/main" id="7" idx="3"/>
            <a:endCxn xmlns:a="http://schemas.openxmlformats.org/drawingml/2006/main" id="8" idx="1"/>
          </p:cNvCxnSpPr>
          <p:nvPr/>
        </p:nvCxnSpPr>
        <p:spPr>
          <a:xfrm xmlns:a="http://schemas.openxmlformats.org/drawingml/2006/main">
            <a:off x="3228975" y="457200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B011644A-3E00-4621-8163-7B67A07D7F82}"/>
              </a:ext>
            </a:extLst>
          </p:cNvPr>
          <p:cNvCxnSpPr>
            <a:stCxn xmlns:a="http://schemas.openxmlformats.org/drawingml/2006/main" id="5" idx="3"/>
            <a:endCxn xmlns:a="http://schemas.openxmlformats.org/drawingml/2006/main" id="6" idx="1"/>
          </p:cNvCxnSpPr>
          <p:nvPr/>
        </p:nvCxnSpPr>
        <p:spPr>
          <a:xfrm xmlns:a="http://schemas.openxmlformats.org/drawingml/2006/main">
            <a:off x="6858000" y="2381250"/>
            <a:ext cx="1333500"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60B500DA-7220-4870-9645-BB8567FCEEA3}"/>
              </a:ext>
            </a:extLst>
          </p:cNvPr>
          <p:cNvCxnSpPr>
            <a:stCxn xmlns:a="http://schemas.openxmlformats.org/drawingml/2006/main" id="4" idx="3"/>
            <a:endCxn xmlns:a="http://schemas.openxmlformats.org/drawingml/2006/main" id="5" idx="1"/>
          </p:cNvCxnSpPr>
          <p:nvPr/>
        </p:nvCxnSpPr>
        <p:spPr>
          <a:xfrm xmlns:a="http://schemas.openxmlformats.org/drawingml/2006/main">
            <a:off x="3228975"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6" name="text-0">
            <a:extLst xmlns:a="http://schemas.openxmlformats.org/drawingml/2006/main">
              <a:ext uri="{FF2B5EF4-FFF2-40B4-BE49-F238E27FC236}">
                <a16:creationId xmlns:a16="http://schemas.microsoft.com/office/drawing/2014/main" id="{7AE41B2A-BE10-4301-A47D-ABAED882603D}"/>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comparison</a:t>
            </a:r>
          </a:p>
        </p:txBody>
      </p:sp>
      <p:sp>
        <p:nvSpPr>
          <p:cNvPr id="2" name="text-1">
            <a:extLst xmlns:a="http://schemas.openxmlformats.org/drawingml/2006/main">
              <a:ext uri="{FF2B5EF4-FFF2-40B4-BE49-F238E27FC236}">
                <a16:creationId xmlns:a16="http://schemas.microsoft.com/office/drawing/2014/main" id="{B7FC014D-8240-4776-910D-CACC31A679E7}"/>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measurements from human transcripts</a:t>
            </a:r>
          </a:p>
        </p:txBody>
      </p:sp>
      <p:sp>
        <p:nvSpPr>
          <p:cNvPr id="3" name="text-2">
            <a:extLst xmlns:a="http://schemas.openxmlformats.org/drawingml/2006/main">
              <a:ext uri="{FF2B5EF4-FFF2-40B4-BE49-F238E27FC236}">
                <a16:creationId xmlns:a16="http://schemas.microsoft.com/office/drawing/2014/main" id="{73DB8244-10AC-4598-82CC-53FFB5258C26}"/>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12</a:t>
            </a:r>
          </a:p>
        </p:txBody>
      </p:sp>
      <p:sp>
        <p:nvSpPr>
          <p:cNvPr id="4" name="tg">
            <a:extLst xmlns:a="http://schemas.openxmlformats.org/drawingml/2006/main">
              <a:ext uri="{FF2B5EF4-FFF2-40B4-BE49-F238E27FC236}">
                <a16:creationId xmlns:a16="http://schemas.microsoft.com/office/drawing/2014/main" id="{956046E5-B742-4926-B42B-6CAD06DA86B6}"/>
              </a:ext>
            </a:extLst>
          </p:cNvPr>
          <p:cNvSpPr>
            <a:spLocks xmlns:a="http://schemas.openxmlformats.org/drawingml/2006/main" noGrp="1"/>
          </p:cNvSpPr>
          <p:nvPr/>
        </p:nvSpPr>
        <p:spPr>
          <a:xfrm xmlns:a="http://schemas.openxmlformats.org/drawingml/2006/main">
            <a:off x="609600" y="1952625"/>
            <a:ext cx="261937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300 downloaded</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LUCID TextGrids</a:t>
            </a:r>
          </a:p>
        </p:txBody>
      </p:sp>
      <p:sp>
        <p:nvSpPr>
          <p:cNvPr id="5" name="speaker">
            <a:extLst xmlns:a="http://schemas.openxmlformats.org/drawingml/2006/main">
              <a:ext uri="{FF2B5EF4-FFF2-40B4-BE49-F238E27FC236}">
                <a16:creationId xmlns:a16="http://schemas.microsoft.com/office/drawing/2014/main" id="{D821BAE8-78EA-428E-9B63-1B1E081772AE}"/>
              </a:ext>
            </a:extLst>
          </p:cNvPr>
          <p:cNvSpPr>
            <a:spLocks xmlns:a="http://schemas.openxmlformats.org/drawingml/2006/main" noGrp="1"/>
          </p:cNvSpPr>
          <p:nvPr/>
        </p:nvSpPr>
        <p:spPr>
          <a:xfrm xmlns:a="http://schemas.openxmlformats.org/drawingml/2006/main">
            <a:off x="4000500"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Extract target speaker</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Apply lexical preparation</a:t>
            </a:r>
          </a:p>
        </p:txBody>
      </p:sp>
      <p:sp>
        <p:nvSpPr>
          <p:cNvPr id="6" name="ours">
            <a:extLst xmlns:a="http://schemas.openxmlformats.org/drawingml/2006/main">
              <a:ext uri="{FF2B5EF4-FFF2-40B4-BE49-F238E27FC236}">
                <a16:creationId xmlns:a16="http://schemas.microsoft.com/office/drawing/2014/main" id="{C9E261F7-70C0-461B-A7EE-17B89538D0D9}"/>
              </a:ext>
            </a:extLst>
          </p:cNvPr>
          <p:cNvSpPr>
            <a:spLocks xmlns:a="http://schemas.openxmlformats.org/drawingml/2006/main" noGrp="1"/>
          </p:cNvSpPr>
          <p:nvPr/>
        </p:nvSpPr>
        <p:spPr>
          <a:xfrm xmlns:a="http://schemas.openxmlformats.org/drawingml/2006/main">
            <a:off x="8191500" y="1952625"/>
            <a:ext cx="3333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Our lexical calculations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15 shared CSV fields</a:t>
            </a:r>
          </a:p>
        </p:txBody>
      </p:sp>
      <p:sp>
        <p:nvSpPr>
          <p:cNvPr id="7" name="ref">
            <a:extLst xmlns:a="http://schemas.openxmlformats.org/drawingml/2006/main">
              <a:ext uri="{FF2B5EF4-FFF2-40B4-BE49-F238E27FC236}">
                <a16:creationId xmlns:a16="http://schemas.microsoft.com/office/drawing/2014/main" id="{B46C7EAD-1AB6-4FBD-968E-0E63E1BADB40}"/>
              </a:ext>
            </a:extLst>
          </p:cNvPr>
          <p:cNvSpPr>
            <a:spLocks xmlns:a="http://schemas.openxmlformats.org/drawingml/2006/main" noGrp="1"/>
          </p:cNvSpPr>
          <p:nvPr/>
        </p:nvSpPr>
        <p:spPr>
          <a:xfrm xmlns:a="http://schemas.openxmlformats.org/drawingml/2006/main">
            <a:off x="609600" y="4048125"/>
            <a:ext cx="26193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Local author-reference CSV</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240 sample rows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Provenance check pending</a:t>
            </a:r>
          </a:p>
        </p:txBody>
      </p:sp>
      <p:sp>
        <p:nvSpPr>
          <p:cNvPr id="8" name="match">
            <a:extLst xmlns:a="http://schemas.openxmlformats.org/drawingml/2006/main">
              <a:ext uri="{FF2B5EF4-FFF2-40B4-BE49-F238E27FC236}">
                <a16:creationId xmlns:a16="http://schemas.microsoft.com/office/drawing/2014/main" id="{BFC56941-E6A8-4535-B726-B8F6D1D8FE77}"/>
              </a:ext>
            </a:extLst>
          </p:cNvPr>
          <p:cNvSpPr>
            <a:spLocks xmlns:a="http://schemas.openxmlformats.org/drawingml/2006/main" noGrp="1"/>
          </p:cNvSpPr>
          <p:nvPr/>
        </p:nvSpPr>
        <p:spPr>
          <a:xfrm xmlns:a="http://schemas.openxmlformats.org/drawingml/2006/main">
            <a:off x="4000500" y="4048125"/>
            <a:ext cx="2857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Match speaker,</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condition and scene</a:t>
            </a:r>
          </a:p>
        </p:txBody>
      </p:sp>
      <p:sp>
        <p:nvSpPr>
          <p:cNvPr id="9" name="compare">
            <a:extLst xmlns:a="http://schemas.openxmlformats.org/drawingml/2006/main">
              <a:ext uri="{FF2B5EF4-FFF2-40B4-BE49-F238E27FC236}">
                <a16:creationId xmlns:a16="http://schemas.microsoft.com/office/drawing/2014/main" id="{A2A844E6-B3C7-4FD8-8588-25FB72B824A7}"/>
              </a:ext>
            </a:extLst>
          </p:cNvPr>
          <p:cNvSpPr>
            <a:spLocks xmlns:a="http://schemas.openxmlformats.org/drawingml/2006/main" noGrp="1"/>
          </p:cNvSpPr>
          <p:nvPr/>
        </p:nvSpPr>
        <p:spPr>
          <a:xfrm xmlns:a="http://schemas.openxmlformats.org/drawingml/2006/main">
            <a:off x="8191500" y="4048125"/>
            <a:ext cx="3333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Compare corresponding values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Report percentage differences</a:t>
            </a:r>
          </a:p>
        </p:txBody>
      </p:sp>
      <p:sp>
        <p:nvSpPr>
          <p:cNvPr id="15" name="text-14">
            <a:extLst xmlns:a="http://schemas.openxmlformats.org/drawingml/2006/main">
              <a:ext uri="{FF2B5EF4-FFF2-40B4-BE49-F238E27FC236}">
                <a16:creationId xmlns:a16="http://schemas.microsoft.com/office/drawing/2014/main" id="{CA02A398-9B3E-4F8C-93D6-41E64C7B7033}"/>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180 samples scored. 60 vocoder mappings remain ambiguous. Author-source reconfirmation is pending.</a:t>
            </a:r>
          </a:p>
        </p:txBody>
      </p:sp>
    </p:spTree>
    <p:extLst>
      <p:ext uri="{BB962C8B-B14F-4D97-AF65-F5344CB8AC3E}">
        <p14:creationId xmlns:p14="http://schemas.microsoft.com/office/powerpoint/2010/main" val="13953900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B1DC95A0-4BFA-4791-9FDD-B1193AE49536}"/>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the reference and the metrics</a:t>
            </a:r>
          </a:p>
        </p:txBody>
      </p:sp>
      <p:sp>
        <p:nvSpPr>
          <p:cNvPr id="2" name="text-1">
            <a:extLst xmlns:a="http://schemas.openxmlformats.org/drawingml/2006/main">
              <a:ext uri="{FF2B5EF4-FFF2-40B4-BE49-F238E27FC236}">
                <a16:creationId xmlns:a16="http://schemas.microsoft.com/office/drawing/2014/main" id="{D7DBB388-46EA-4A91-ACB1-0DDA5A014776}"/>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main article presents a subset of the fields in the released export</a:t>
            </a:r>
          </a:p>
        </p:txBody>
      </p:sp>
      <p:sp>
        <p:nvSpPr>
          <p:cNvPr id="3" name="text-2">
            <a:extLst xmlns:a="http://schemas.openxmlformats.org/drawingml/2006/main">
              <a:ext uri="{FF2B5EF4-FFF2-40B4-BE49-F238E27FC236}">
                <a16:creationId xmlns:a16="http://schemas.microsoft.com/office/drawing/2014/main" id="{E57C2F7A-8DA6-4901-963E-DF0C391E5F5A}"/>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FE5736C0-F8DE-4E01-95BC-CCCA1C526CDE}"/>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5810250"/>
                <a:gridCol w="5162550"/>
              </a:tblGrid>
              <a:tr h="542925">
                <a:tc>
                  <a:txBody>
                    <a:bodyPr lIns="114300" tIns="114300" rIns="114300" bIns="114300"/>
                    <a:lstStyle/>
                    <a:p>
                      <a:pPr algn="l"/>
                      <a:r>
                        <a:rPr sz="2100" b="1">
                          <a:solidFill>
                            <a:srgbClr val="202020"/>
                          </a:solidFill>
                          <a:latin typeface="Arial"/>
                          <a:ea typeface="Arial"/>
                          <a:cs typeface="Arial"/>
                        </a:rPr>
                        <a:t>Main article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100" b="1">
                          <a:solidFill>
                            <a:srgbClr val="202020"/>
                          </a:solidFill>
                          <a:latin typeface="Arial"/>
                          <a:ea typeface="Arial"/>
                          <a:cs typeface="Arial"/>
                        </a:rPr>
                        <a:t>Corresponding CSV field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42925">
                <a:tc>
                  <a:txBody>
                    <a:bodyPr lIns="114300" tIns="114300" rIns="114300" bIns="114300"/>
                    <a:lstStyle/>
                    <a:p>
                      <a:pPr algn="l"/>
                      <a:r>
                        <a:rPr sz="2100" b="0">
                          <a:solidFill>
                            <a:srgbClr val="202020"/>
                          </a:solidFill>
                          <a:latin typeface="Arial"/>
                          <a:ea typeface="Arial"/>
                          <a:cs typeface="Arial"/>
                        </a:rPr>
                        <a:t>Table 1: mean word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basic_ntokens</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1: 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simple_ttr_aw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2: 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mattr50_aw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2100" b="0">
                          <a:solidFill>
                            <a:srgbClr val="202020"/>
                          </a:solidFill>
                          <a:latin typeface="Arial"/>
                          <a:ea typeface="Arial"/>
                          <a:cs typeface="Arial"/>
                        </a:rPr>
                        <a:t>Figure 3: HD-D42</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100" b="0">
                          <a:solidFill>
                            <a:srgbClr val="202020"/>
                          </a:solidFill>
                          <a:latin typeface="Arial"/>
                          <a:ea typeface="Arial"/>
                          <a:cs typeface="Arial"/>
                        </a:rPr>
                        <a:t>hdd42_aw</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5516FE2A-2973-41DF-B9BA-2383CB9265EF}"/>
              </a:ext>
            </a:extLst>
          </p:cNvPr>
          <p:cNvSpPr>
            <a:spLocks xmlns:a="http://schemas.openxmlformats.org/drawingml/2006/main" noGrp="1"/>
          </p:cNvSpPr>
          <p:nvPr/>
        </p:nvSpPr>
        <p:spPr>
          <a:xfrm xmlns:a="http://schemas.openxmlformats.org/drawingml/2006/main">
            <a:off x="723900" y="485775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Our 15-field comparison includes additional counts, densities and diversity fields from the local export.</a:t>
            </a:r>
          </a:p>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Our original-MTLD column differs from Figure 4’s moving-average variant.</a:t>
            </a:r>
          </a:p>
        </p:txBody>
      </p:sp>
      <p:sp>
        <p:nvSpPr>
          <p:cNvPr id="6" name="text-4">
            <a:extLst xmlns:a="http://schemas.openxmlformats.org/drawingml/2006/main">
              <a:ext uri="{FF2B5EF4-FFF2-40B4-BE49-F238E27FC236}">
                <a16:creationId xmlns:a16="http://schemas.microsoft.com/office/drawing/2014/main" id="{F36AFD16-B752-411D-B4B1-FD8861CFC2EC}"/>
              </a:ext>
            </a:extLst>
          </p:cNvPr>
          <p:cNvSpPr>
            <a:spLocks xmlns:a="http://schemas.openxmlformats.org/drawingml/2006/main" noGrp="1"/>
          </p:cNvSpPr>
          <p:nvPr/>
        </p:nvSpPr>
        <p:spPr>
          <a:xfrm xmlns:a="http://schemas.openxmlformats.org/drawingml/2006/main">
            <a:off x="628650" y="60579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Publication status: independently reconfirm the author-hosted CSV before citing this comparison.</a:t>
            </a:r>
          </a:p>
        </p:txBody>
      </p:sp>
    </p:spTree>
    <p:extLst>
      <p:ext uri="{BB962C8B-B14F-4D97-AF65-F5344CB8AC3E}">
        <p14:creationId xmlns:p14="http://schemas.microsoft.com/office/powerpoint/2010/main" val="2454696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BF0492E-C4E6-4EDF-9D98-DBF00EDE4229}"/>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LUCID results: provisional reference comparison</a:t>
            </a:r>
          </a:p>
        </p:txBody>
      </p:sp>
      <p:sp>
        <p:nvSpPr>
          <p:cNvPr id="2" name="text-1">
            <a:extLst xmlns:a="http://schemas.openxmlformats.org/drawingml/2006/main">
              <a:ext uri="{FF2B5EF4-FFF2-40B4-BE49-F238E27FC236}">
                <a16:creationId xmlns:a16="http://schemas.microsoft.com/office/drawing/2014/main" id="{8E336C5C-87C5-4952-9585-433EE6C8A79F}"/>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Mean participant absolute percentage error. Lower is better.</a:t>
            </a:r>
          </a:p>
        </p:txBody>
      </p:sp>
      <p:sp>
        <p:nvSpPr>
          <p:cNvPr id="3" name="text-2">
            <a:extLst xmlns:a="http://schemas.openxmlformats.org/drawingml/2006/main">
              <a:ext uri="{FF2B5EF4-FFF2-40B4-BE49-F238E27FC236}">
                <a16:creationId xmlns:a16="http://schemas.microsoft.com/office/drawing/2014/main" id="{4F84908C-D5BB-46F1-AD76-D590DB904632}"/>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37EA24B0-127E-4FCD-A60B-D749B068B192}"/>
              </a:ext>
            </a:extLst>
          </p:cNvPr>
          <p:cNvGraphicFramePr/>
          <p:nvPr/>
        </p:nvGraphicFramePr>
        <p:xfrm>
          <a:off xmlns:a="http://schemas.openxmlformats.org/drawingml/2006/main" x="609600" y="1809750"/>
          <a:ext xmlns:a="http://schemas.openxmlformats.org/drawingml/2006/main" cx="10972800" cy="2857500"/>
        </p:xfrm>
        <a:graphic xmlns:a="http://schemas.openxmlformats.org/drawingml/2006/main">
          <a:graphicData uri="http://schemas.openxmlformats.org/drawingml/2006/table">
            <a:tbl>
              <a:tblPr firstRow="1" bandRow="0"/>
              <a:tblGrid>
                <a:gridCol w="1952625"/>
                <a:gridCol w="1857375"/>
                <a:gridCol w="1666875"/>
                <a:gridCol w="1666875"/>
                <a:gridCol w="1914525"/>
                <a:gridCol w="1914525"/>
              </a:tblGrid>
              <a:tr h="571500">
                <a:tc>
                  <a:txBody>
                    <a:bodyPr lIns="114300" tIns="114300" rIns="114300" bIns="114300"/>
                    <a:lstStyle/>
                    <a:p>
                      <a:pPr algn="l"/>
                      <a:r>
                        <a:rPr sz="1875" b="1">
                          <a:solidFill>
                            <a:srgbClr val="202020"/>
                          </a:solidFill>
                          <a:latin typeface="Arial"/>
                          <a:ea typeface="Arial"/>
                          <a:cs typeface="Arial"/>
                        </a:rPr>
                        <a:t>Condition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Rows scored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Words</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TTR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MATTR-50</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HD-D42</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71500">
                <a:tc>
                  <a:txBody>
                    <a:bodyPr lIns="114300" tIns="114300" rIns="114300" bIns="114300"/>
                    <a:lstStyle/>
                    <a:p>
                      <a:pPr algn="l"/>
                      <a:r>
                        <a:rPr sz="1875" b="0">
                          <a:solidFill>
                            <a:srgbClr val="202020"/>
                          </a:solidFill>
                          <a:latin typeface="Arial"/>
                          <a:ea typeface="Arial"/>
                          <a:cs typeface="Arial"/>
                        </a:rPr>
                        <a:t>Babble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0.76%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1.31%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0.44%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0.37%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L2</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1.87%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1.57%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0.44%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0.25%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No barrier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60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16.60%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7.56%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2.11%</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2.12%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71500">
                <a:tc>
                  <a:txBody>
                    <a:bodyPr lIns="114300" tIns="114300" rIns="114300" bIns="114300"/>
                    <a:lstStyle/>
                    <a:p>
                      <a:pPr algn="l"/>
                      <a:r>
                        <a:rPr sz="1875" b="0">
                          <a:solidFill>
                            <a:srgbClr val="202020"/>
                          </a:solidFill>
                          <a:latin typeface="Arial"/>
                          <a:ea typeface="Arial"/>
                          <a:cs typeface="Arial"/>
                        </a:rPr>
                        <a:t>Vocoder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0 / 60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Unavailable</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7588E1AF-A3A4-49A4-9BBC-36061261553F}"/>
              </a:ext>
            </a:extLst>
          </p:cNvPr>
          <p:cNvSpPr>
            <a:spLocks xmlns:a="http://schemas.openxmlformats.org/drawingml/2006/main" noGrp="1"/>
          </p:cNvSpPr>
          <p:nvPr/>
        </p:nvSpPr>
        <p:spPr>
          <a:xfrm xmlns:a="http://schemas.openxmlformats.org/drawingml/2006/main">
            <a:off x="723900" y="495300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Babble and L2 show close lexical agreement. No-barrier word counts remain less consistent.</a:t>
            </a:r>
          </a:p>
          <a:p xmlns:a="http://schemas.openxmlformats.org/drawingml/2006/main">
            <a:pPr marL="279400" indent="-139700" algn="l">
              <a:spcAft>
                <a:spcPts val="1200"/>
              </a:spcAft>
              <a:buChar char="•"/>
              <a:defRPr sz="1875" b="0">
                <a:solidFill>
                  <a:srgbClr val="202020"/>
                </a:solidFill>
                <a:latin typeface="Arial"/>
                <a:ea typeface="Arial"/>
                <a:cs typeface="Arial"/>
              </a:defRPr>
            </a:pPr>
            <a:r>
              <a:rPr sz="1875">
                <a:solidFill>
                  <a:srgbClr val="202020"/>
                </a:solidFill>
                <a:latin typeface="Arial"/>
                <a:ea typeface="Arial"/>
                <a:cs typeface="Arial"/>
              </a:rPr>
              <a:t>Vocoder has ambiguous recording mappings, so it contributes no scored result.</a:t>
            </a:r>
          </a:p>
        </p:txBody>
      </p:sp>
      <p:sp>
        <p:nvSpPr>
          <p:cNvPr id="6" name="text-4">
            <a:extLst xmlns:a="http://schemas.openxmlformats.org/drawingml/2006/main">
              <a:ext uri="{FF2B5EF4-FFF2-40B4-BE49-F238E27FC236}">
                <a16:creationId xmlns:a16="http://schemas.microsoft.com/office/drawing/2014/main" id="{1AD02C99-8F19-4A8F-97EF-016DD72F6886}"/>
              </a:ext>
            </a:extLst>
          </p:cNvPr>
          <p:cNvSpPr>
            <a:spLocks xmlns:a="http://schemas.openxmlformats.org/drawingml/2006/main" noGrp="1"/>
          </p:cNvSpPr>
          <p:nvPr/>
        </p:nvSpPr>
        <p:spPr>
          <a:xfrm xmlns:a="http://schemas.openxmlformats.org/drawingml/2006/main">
            <a:off x="628650" y="60769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8A4B08"/>
                </a:solidFill>
                <a:latin typeface="Arial"/>
                <a:ea typeface="Arial"/>
                <a:cs typeface="Arial"/>
              </a:defRPr>
            </a:defPPr>
          </a:lstStyle>
          <a:p xmlns:a="http://schemas.openxmlformats.org/drawingml/2006/main">
            <a:pPr algn="l">
              <a:defRPr sz="1725" b="0">
                <a:solidFill>
                  <a:srgbClr val="8A4B08"/>
                </a:solidFill>
                <a:latin typeface="Arial"/>
                <a:ea typeface="Arial"/>
                <a:cs typeface="Arial"/>
              </a:defRPr>
            </a:pPr>
            <a:r>
              <a:rPr sz="1725" b="0">
                <a:solidFill>
                  <a:srgbClr val="8A4B08"/>
                </a:solidFill>
                <a:latin typeface="Arial"/>
                <a:ea typeface="Arial"/>
                <a:cs typeface="Arial"/>
              </a:rPr>
              <a:t>Author-source reconfirmation is pending. These results assess vocabulary calculations from transcripts.</a:t>
            </a:r>
          </a:p>
        </p:txBody>
      </p:sp>
    </p:spTree>
    <p:extLst>
      <p:ext uri="{BB962C8B-B14F-4D97-AF65-F5344CB8AC3E}">
        <p14:creationId xmlns:p14="http://schemas.microsoft.com/office/powerpoint/2010/main" val="18434473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941421C3-91AC-4032-A284-854E53B34C18}"/>
              </a:ext>
            </a:extLst>
          </p:cNvPr>
          <p:cNvCxnSpPr>
            <a:stCxn xmlns:a="http://schemas.openxmlformats.org/drawingml/2006/main" id="7" idx="3"/>
            <a:endCxn xmlns:a="http://schemas.openxmlformats.org/drawingml/2006/main" id="9" idx="1"/>
          </p:cNvCxnSpPr>
          <p:nvPr/>
        </p:nvCxnSpPr>
        <p:spPr>
          <a:xfrm xmlns:a="http://schemas.openxmlformats.org/drawingml/2006/main">
            <a:off x="6905625" y="4786313"/>
            <a:ext cx="1238250" cy="190500"/>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B2AC7BC8-5C3D-42B8-8505-5F2EB610C5C3}"/>
              </a:ext>
            </a:extLst>
          </p:cNvPr>
          <p:cNvCxnSpPr>
            <a:stCxn xmlns:a="http://schemas.openxmlformats.org/drawingml/2006/main" id="8" idx="2"/>
            <a:endCxn xmlns:a="http://schemas.openxmlformats.org/drawingml/2006/main" id="9" idx="0"/>
          </p:cNvCxnSpPr>
          <p:nvPr/>
        </p:nvCxnSpPr>
        <p:spPr>
          <a:xfrm xmlns:a="http://schemas.openxmlformats.org/drawingml/2006/main">
            <a:off x="9834563" y="40957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E2E6EC36-83A2-4908-81A3-C5621508A65C}"/>
              </a:ext>
            </a:extLst>
          </p:cNvPr>
          <p:cNvCxnSpPr>
            <a:stCxn xmlns:a="http://schemas.openxmlformats.org/drawingml/2006/main" id="6" idx="2"/>
            <a:endCxn xmlns:a="http://schemas.openxmlformats.org/drawingml/2006/main" id="8" idx="0"/>
          </p:cNvCxnSpPr>
          <p:nvPr/>
        </p:nvCxnSpPr>
        <p:spPr>
          <a:xfrm xmlns:a="http://schemas.openxmlformats.org/drawingml/2006/main">
            <a:off x="9834563" y="285750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B3F49DCA-DE06-4C57-A161-C5767DFCD0A7}"/>
              </a:ext>
            </a:extLst>
          </p:cNvPr>
          <p:cNvCxnSpPr>
            <a:stCxn xmlns:a="http://schemas.openxmlformats.org/drawingml/2006/main" id="5" idx="2"/>
            <a:endCxn xmlns:a="http://schemas.openxmlformats.org/drawingml/2006/main" id="7" idx="0"/>
          </p:cNvCxnSpPr>
          <p:nvPr/>
        </p:nvCxnSpPr>
        <p:spPr>
          <a:xfrm xmlns:a="http://schemas.openxmlformats.org/drawingml/2006/main">
            <a:off x="5476875" y="2809875"/>
            <a:ext cx="0" cy="14763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1670F1C9-FBC3-403E-8C28-E3B797B2F94A}"/>
              </a:ext>
            </a:extLst>
          </p:cNvPr>
          <p:cNvCxnSpPr>
            <a:stCxn xmlns:a="http://schemas.openxmlformats.org/drawingml/2006/main" id="5" idx="3"/>
            <a:endCxn xmlns:a="http://schemas.openxmlformats.org/drawingml/2006/main" id="6" idx="1"/>
          </p:cNvCxnSpPr>
          <p:nvPr/>
        </p:nvCxnSpPr>
        <p:spPr>
          <a:xfrm xmlns:a="http://schemas.openxmlformats.org/drawingml/2006/main">
            <a:off x="6905625" y="2381250"/>
            <a:ext cx="1238250" cy="23813"/>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95ECC8CA-1D94-4533-B5A6-472902E817C0}"/>
              </a:ext>
            </a:extLst>
          </p:cNvPr>
          <p:cNvCxnSpPr>
            <a:stCxn xmlns:a="http://schemas.openxmlformats.org/drawingml/2006/main" id="4" idx="3"/>
            <a:endCxn xmlns:a="http://schemas.openxmlformats.org/drawingml/2006/main" id="5" idx="1"/>
          </p:cNvCxnSpPr>
          <p:nvPr/>
        </p:nvCxnSpPr>
        <p:spPr>
          <a:xfrm xmlns:a="http://schemas.openxmlformats.org/drawingml/2006/main">
            <a:off x="3276600"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09EEE1B5-7EAE-4CEF-A4EB-2D60EF727F43}"/>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comparison</a:t>
            </a:r>
          </a:p>
        </p:txBody>
      </p:sp>
      <p:sp>
        <p:nvSpPr>
          <p:cNvPr id="2" name="text-1">
            <a:extLst xmlns:a="http://schemas.openxmlformats.org/drawingml/2006/main">
              <a:ext uri="{FF2B5EF4-FFF2-40B4-BE49-F238E27FC236}">
                <a16:creationId xmlns:a16="http://schemas.microsoft.com/office/drawing/2014/main" id="{91921416-C861-4E0A-A1E5-4B472BCF5597}"/>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CHAT supplies the reference words and utterance coding.</a:t>
            </a:r>
          </a:p>
        </p:txBody>
      </p:sp>
      <p:sp>
        <p:nvSpPr>
          <p:cNvPr id="3" name="text-2">
            <a:extLst xmlns:a="http://schemas.openxmlformats.org/drawingml/2006/main">
              <a:ext uri="{FF2B5EF4-FFF2-40B4-BE49-F238E27FC236}">
                <a16:creationId xmlns:a16="http://schemas.microsoft.com/office/drawing/2014/main" id="{25E25F5A-5FFC-45C8-AFB4-E4DCE73BE7D4}"/>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15</a:t>
            </a:r>
          </a:p>
        </p:txBody>
      </p:sp>
      <p:sp>
        <p:nvSpPr>
          <p:cNvPr id="4" name="raw">
            <a:extLst xmlns:a="http://schemas.openxmlformats.org/drawingml/2006/main">
              <a:ext uri="{FF2B5EF4-FFF2-40B4-BE49-F238E27FC236}">
                <a16:creationId xmlns:a16="http://schemas.microsoft.com/office/drawing/2014/main" id="{E3EFA314-0C1C-425B-9F12-3E75A707FDE0}"/>
              </a:ext>
            </a:extLst>
          </p:cNvPr>
          <p:cNvSpPr>
            <a:spLocks xmlns:a="http://schemas.openxmlformats.org/drawingml/2006/main" noGrp="1"/>
          </p:cNvSpPr>
          <p:nvPr/>
        </p:nvSpPr>
        <p:spPr>
          <a:xfrm xmlns:a="http://schemas.openxmlformats.org/drawingml/2006/main">
            <a:off x="609600" y="1952625"/>
            <a:ext cx="2667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OCSC human CHAT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303 children in source release</a:t>
            </a:r>
          </a:p>
        </p:txBody>
      </p:sp>
      <p:sp>
        <p:nvSpPr>
          <p:cNvPr id="5" name="select">
            <a:extLst xmlns:a="http://schemas.openxmlformats.org/drawingml/2006/main">
              <a:ext uri="{FF2B5EF4-FFF2-40B4-BE49-F238E27FC236}">
                <a16:creationId xmlns:a16="http://schemas.microsoft.com/office/drawing/2014/main" id="{B844D809-6AFC-4AFD-879B-AFE4B7817D30}"/>
              </a:ext>
            </a:extLst>
          </p:cNvPr>
          <p:cNvSpPr>
            <a:spLocks xmlns:a="http://schemas.openxmlformats.org/drawingml/2006/main" noGrp="1"/>
          </p:cNvSpPr>
          <p:nvPr/>
        </p:nvSpPr>
        <p:spPr>
          <a:xfrm xmlns:a="http://schemas.openxmlformats.org/drawingml/2006/main">
            <a:off x="4048125"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Select child speech</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301 children / 803 sections</a:t>
            </a:r>
          </a:p>
        </p:txBody>
      </p:sp>
      <p:sp>
        <p:nvSpPr>
          <p:cNvPr id="6" name="predict">
            <a:extLst xmlns:a="http://schemas.openxmlformats.org/drawingml/2006/main">
              <a:ext uri="{FF2B5EF4-FFF2-40B4-BE49-F238E27FC236}">
                <a16:creationId xmlns:a16="http://schemas.microsoft.com/office/drawing/2014/main" id="{DCA3E55A-09CA-4A81-AD92-209C8850270C}"/>
              </a:ext>
            </a:extLst>
          </p:cNvPr>
          <p:cNvSpPr>
            <a:spLocks xmlns:a="http://schemas.openxmlformats.org/drawingml/2006/main" noGrp="1"/>
          </p:cNvSpPr>
          <p:nvPr/>
        </p:nvSpPr>
        <p:spPr>
          <a:xfrm xmlns:a="http://schemas.openxmlformats.org/drawingml/2006/main">
            <a:off x="8143875" y="195262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Remove human utterance cuts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Run retained boundary model</a:t>
            </a:r>
          </a:p>
        </p:txBody>
      </p:sp>
      <p:sp>
        <p:nvSpPr>
          <p:cNvPr id="7" name="reference">
            <a:extLst xmlns:a="http://schemas.openxmlformats.org/drawingml/2006/main">
              <a:ext uri="{FF2B5EF4-FFF2-40B4-BE49-F238E27FC236}">
                <a16:creationId xmlns:a16="http://schemas.microsoft.com/office/drawing/2014/main" id="{349F62E8-AC4F-4CA1-AA3C-BDD1D8098DAD}"/>
              </a:ext>
            </a:extLst>
          </p:cNvPr>
          <p:cNvSpPr>
            <a:spLocks xmlns:a="http://schemas.openxmlformats.org/drawingml/2006/main" noGrp="1"/>
          </p:cNvSpPr>
          <p:nvPr/>
        </p:nvSpPr>
        <p:spPr>
          <a:xfrm xmlns:a="http://schemas.openxmlformats.org/drawingml/2006/main">
            <a:off x="4048125" y="4286250"/>
            <a:ext cx="28575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Human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Reference metrics</a:t>
            </a:r>
          </a:p>
        </p:txBody>
      </p:sp>
      <p:sp>
        <p:nvSpPr>
          <p:cNvPr id="8" name="predicted">
            <a:extLst xmlns:a="http://schemas.openxmlformats.org/drawingml/2006/main">
              <a:ext uri="{FF2B5EF4-FFF2-40B4-BE49-F238E27FC236}">
                <a16:creationId xmlns:a16="http://schemas.microsoft.com/office/drawing/2014/main" id="{37A564D4-197C-4140-92F5-DC412A5C1758}"/>
              </a:ext>
            </a:extLst>
          </p:cNvPr>
          <p:cNvSpPr>
            <a:spLocks xmlns:a="http://schemas.openxmlformats.org/drawingml/2006/main" noGrp="1"/>
          </p:cNvSpPr>
          <p:nvPr/>
        </p:nvSpPr>
        <p:spPr>
          <a:xfrm xmlns:a="http://schemas.openxmlformats.org/drawingml/2006/main">
            <a:off x="8143875" y="3286125"/>
            <a:ext cx="338137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Predicted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Computed metrics</a:t>
            </a:r>
          </a:p>
        </p:txBody>
      </p:sp>
      <p:sp>
        <p:nvSpPr>
          <p:cNvPr id="9" name="compare">
            <a:extLst xmlns:a="http://schemas.openxmlformats.org/drawingml/2006/main">
              <a:ext uri="{FF2B5EF4-FFF2-40B4-BE49-F238E27FC236}">
                <a16:creationId xmlns:a16="http://schemas.microsoft.com/office/drawing/2014/main" id="{F46289B3-FB7C-4705-BA92-02F367063C92}"/>
              </a:ext>
            </a:extLst>
          </p:cNvPr>
          <p:cNvSpPr>
            <a:spLocks xmlns:a="http://schemas.openxmlformats.org/drawingml/2006/main" noGrp="1"/>
          </p:cNvSpPr>
          <p:nvPr/>
        </p:nvSpPr>
        <p:spPr>
          <a:xfrm xmlns:a="http://schemas.openxmlformats.org/drawingml/2006/main">
            <a:off x="8143875" y="452437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Compare values on existing test</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45 children / 111 sections</a:t>
            </a:r>
          </a:p>
        </p:txBody>
      </p:sp>
      <p:sp>
        <p:nvSpPr>
          <p:cNvPr id="16" name="text-15">
            <a:extLst xmlns:a="http://schemas.openxmlformats.org/drawingml/2006/main">
              <a:ext uri="{FF2B5EF4-FFF2-40B4-BE49-F238E27FC236}">
                <a16:creationId xmlns:a16="http://schemas.microsoft.com/office/drawing/2014/main" id="{1A0C2ADA-9F58-4462-9D55-3A7B9D9E1C28}"/>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Inference receives words and observed speaker turns. Human utterance endings stay outside model inputs.</a:t>
            </a:r>
          </a:p>
        </p:txBody>
      </p:sp>
    </p:spTree>
    <p:extLst>
      <p:ext uri="{BB962C8B-B14F-4D97-AF65-F5344CB8AC3E}">
        <p14:creationId xmlns:p14="http://schemas.microsoft.com/office/powerpoint/2010/main" val="16739724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06BAD00-62D5-4840-84F8-689EB3989373}"/>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OCSC: retained model on the existing test cohort</a:t>
            </a:r>
          </a:p>
        </p:txBody>
      </p:sp>
      <p:sp>
        <p:nvSpPr>
          <p:cNvPr id="2" name="text-1">
            <a:extLst xmlns:a="http://schemas.openxmlformats.org/drawingml/2006/main">
              <a:ext uri="{FF2B5EF4-FFF2-40B4-BE49-F238E27FC236}">
                <a16:creationId xmlns:a16="http://schemas.microsoft.com/office/drawing/2014/main" id="{5AD91137-530B-440C-9DFF-5E6F25BB33DB}"/>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45 children and 111 sections. Mean participant percentage error.</a:t>
            </a:r>
          </a:p>
        </p:txBody>
      </p:sp>
      <p:sp>
        <p:nvSpPr>
          <p:cNvPr id="3" name="text-2">
            <a:extLst xmlns:a="http://schemas.openxmlformats.org/drawingml/2006/main">
              <a:ext uri="{FF2B5EF4-FFF2-40B4-BE49-F238E27FC236}">
                <a16:creationId xmlns:a16="http://schemas.microsoft.com/office/drawing/2014/main" id="{02D57741-C7AD-463B-8614-6D2FEE9FA683}"/>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840706DC-63D7-4F98-8CF2-465A671C30B7}"/>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1" bandRow="0"/>
              <a:tblGrid>
                <a:gridCol w="8096250"/>
                <a:gridCol w="2876550"/>
              </a:tblGrid>
              <a:tr h="440531">
                <a:tc>
                  <a:txBody>
                    <a:bodyPr lIns="114300" tIns="114300" rIns="114300" bIns="114300"/>
                    <a:lstStyle/>
                    <a:p>
                      <a:pPr algn="l"/>
                      <a:r>
                        <a:rPr sz="2025"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40531">
                <a:tc>
                  <a:txBody>
                    <a:bodyPr lIns="114300" tIns="114300" rIns="114300" bIns="114300"/>
                    <a:lstStyle/>
                    <a:p>
                      <a:pPr algn="l"/>
                      <a:r>
                        <a:rPr sz="2025" b="0">
                          <a:solidFill>
                            <a:srgbClr val="202020"/>
                          </a:solidFill>
                          <a:latin typeface="Arial"/>
                          <a:ea typeface="Arial"/>
                          <a:cs typeface="Arial"/>
                        </a:rPr>
                        <a:t>Total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1.86%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1.79%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1.14%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0.49%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10.36%</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8.70%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Utterance-length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14.24%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FD1F0748-F474-47AE-AF55-548738E20CA7}"/>
              </a:ext>
            </a:extLst>
          </p:cNvPr>
          <p:cNvSpPr>
            <a:spLocks xmlns:a="http://schemas.openxmlformats.org/drawingml/2006/main" noGrp="1"/>
          </p:cNvSpPr>
          <p:nvPr/>
        </p:nvSpPr>
        <p:spPr>
          <a:xfrm xmlns:a="http://schemas.openxmlformats.org/drawingml/2006/main">
            <a:off x="628650" y="56102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agreement is strong. Count and MLU are less precise. Length SD remains the hardest measure.</a:t>
            </a:r>
          </a:p>
        </p:txBody>
      </p:sp>
    </p:spTree>
    <p:extLst>
      <p:ext uri="{BB962C8B-B14F-4D97-AF65-F5344CB8AC3E}">
        <p14:creationId xmlns:p14="http://schemas.microsoft.com/office/powerpoint/2010/main" val="17366561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72F5A62-4575-4F27-8399-B8D7F50288AF}"/>
              </a:ext>
            </a:extLst>
          </p:cNvPr>
          <p:cNvCxnSpPr>
            <a:stCxn xmlns:a="http://schemas.openxmlformats.org/drawingml/2006/main" id="7" idx="3"/>
            <a:endCxn xmlns:a="http://schemas.openxmlformats.org/drawingml/2006/main" id="9" idx="1"/>
          </p:cNvCxnSpPr>
          <p:nvPr/>
        </p:nvCxnSpPr>
        <p:spPr>
          <a:xfrm xmlns:a="http://schemas.openxmlformats.org/drawingml/2006/main">
            <a:off x="6905625" y="4786313"/>
            <a:ext cx="1238250" cy="190500"/>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DAE6EE6B-DA0C-4D28-A709-7F2DBB288259}"/>
              </a:ext>
            </a:extLst>
          </p:cNvPr>
          <p:cNvCxnSpPr>
            <a:stCxn xmlns:a="http://schemas.openxmlformats.org/drawingml/2006/main" id="8" idx="2"/>
            <a:endCxn xmlns:a="http://schemas.openxmlformats.org/drawingml/2006/main" id="9" idx="0"/>
          </p:cNvCxnSpPr>
          <p:nvPr/>
        </p:nvCxnSpPr>
        <p:spPr>
          <a:xfrm xmlns:a="http://schemas.openxmlformats.org/drawingml/2006/main">
            <a:off x="9834563" y="409575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BFE91DDF-1A23-43DD-B555-A46D130AB0F0}"/>
              </a:ext>
            </a:extLst>
          </p:cNvPr>
          <p:cNvCxnSpPr>
            <a:stCxn xmlns:a="http://schemas.openxmlformats.org/drawingml/2006/main" id="6" idx="2"/>
            <a:endCxn xmlns:a="http://schemas.openxmlformats.org/drawingml/2006/main" id="8" idx="0"/>
          </p:cNvCxnSpPr>
          <p:nvPr/>
        </p:nvCxnSpPr>
        <p:spPr>
          <a:xfrm xmlns:a="http://schemas.openxmlformats.org/drawingml/2006/main">
            <a:off x="9834563" y="2857500"/>
            <a:ext cx="0" cy="42862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086501B4-5F1D-4C58-9239-C3E5F34CE3C6}"/>
              </a:ext>
            </a:extLst>
          </p:cNvPr>
          <p:cNvCxnSpPr>
            <a:stCxn xmlns:a="http://schemas.openxmlformats.org/drawingml/2006/main" id="5" idx="2"/>
            <a:endCxn xmlns:a="http://schemas.openxmlformats.org/drawingml/2006/main" id="7" idx="0"/>
          </p:cNvCxnSpPr>
          <p:nvPr/>
        </p:nvCxnSpPr>
        <p:spPr>
          <a:xfrm xmlns:a="http://schemas.openxmlformats.org/drawingml/2006/main">
            <a:off x="5476875" y="2809875"/>
            <a:ext cx="0" cy="1476375"/>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7CBE6081-99FE-4A87-9DDD-2D6A8808CB78}"/>
              </a:ext>
            </a:extLst>
          </p:cNvPr>
          <p:cNvCxnSpPr>
            <a:stCxn xmlns:a="http://schemas.openxmlformats.org/drawingml/2006/main" id="5" idx="3"/>
            <a:endCxn xmlns:a="http://schemas.openxmlformats.org/drawingml/2006/main" id="6" idx="1"/>
          </p:cNvCxnSpPr>
          <p:nvPr/>
        </p:nvCxnSpPr>
        <p:spPr>
          <a:xfrm xmlns:a="http://schemas.openxmlformats.org/drawingml/2006/main">
            <a:off x="6905625" y="2381250"/>
            <a:ext cx="1238250" cy="23813"/>
          </a:xfrm>
          <a:prstGeom xmlns:a="http://schemas.openxmlformats.org/drawingml/2006/main" prst="bentConnector3">
            <a:avLst>
              <a:gd name="adj1" fmla="val 50000"/>
            </a:avLst>
          </a:prstGeom>
          <a:ln xmlns:a="http://schemas.openxmlformats.org/drawingml/2006/main" w="19050">
            <a:solidFill>
              <a:srgbClr val="2F549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D250B49F-3DD7-438C-BC36-A7E4C28835B8}"/>
              </a:ext>
            </a:extLst>
          </p:cNvPr>
          <p:cNvCxnSpPr>
            <a:stCxn xmlns:a="http://schemas.openxmlformats.org/drawingml/2006/main" id="4" idx="3"/>
            <a:endCxn xmlns:a="http://schemas.openxmlformats.org/drawingml/2006/main" id="5" idx="1"/>
          </p:cNvCxnSpPr>
          <p:nvPr/>
        </p:nvCxnSpPr>
        <p:spPr>
          <a:xfrm xmlns:a="http://schemas.openxmlformats.org/drawingml/2006/main">
            <a:off x="3276600" y="2381250"/>
            <a:ext cx="771525" cy="0"/>
          </a:xfrm>
          <a:prstGeom xmlns:a="http://schemas.openxmlformats.org/drawingml/2006/main" prst="straightConnector1">
            <a:avLst/>
          </a:prstGeom>
          <a:ln xmlns:a="http://schemas.openxmlformats.org/drawingml/2006/main" w="19050">
            <a:solidFill>
              <a:srgbClr val="2F5496"/>
            </a:solidFill>
            <a:prstDash val="solid"/>
            <a:tailEnd type="triangle" w="med" len="med"/>
          </a:ln>
        </p:spPr>
      </p:cxnSp>
      <p:sp>
        <p:nvSpPr>
          <p:cNvPr id="17" name="text-0">
            <a:extLst xmlns:a="http://schemas.openxmlformats.org/drawingml/2006/main">
              <a:ext uri="{FF2B5EF4-FFF2-40B4-BE49-F238E27FC236}">
                <a16:creationId xmlns:a16="http://schemas.microsoft.com/office/drawing/2014/main" id="{CBA5CFB5-C4F5-45F8-9410-82CEF9EC8477}"/>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NYU–Emerson comparison</a:t>
            </a:r>
          </a:p>
        </p:txBody>
      </p:sp>
      <p:sp>
        <p:nvSpPr>
          <p:cNvPr id="2" name="text-1">
            <a:extLst xmlns:a="http://schemas.openxmlformats.org/drawingml/2006/main">
              <a:ext uri="{FF2B5EF4-FFF2-40B4-BE49-F238E27FC236}">
                <a16:creationId xmlns:a16="http://schemas.microsoft.com/office/drawing/2014/main" id="{0FFAA2AD-71D6-4DD5-BFB9-EC379C31D248}"/>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Human CHAT supplies the reference words and utterance coding.</a:t>
            </a:r>
          </a:p>
        </p:txBody>
      </p:sp>
      <p:sp>
        <p:nvSpPr>
          <p:cNvPr id="3" name="text-2">
            <a:extLst xmlns:a="http://schemas.openxmlformats.org/drawingml/2006/main">
              <a:ext uri="{FF2B5EF4-FFF2-40B4-BE49-F238E27FC236}">
                <a16:creationId xmlns:a16="http://schemas.microsoft.com/office/drawing/2014/main" id="{C726BC72-46CC-45F5-BEE4-447B8D9533D4}"/>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17</a:t>
            </a:r>
          </a:p>
        </p:txBody>
      </p:sp>
      <p:sp>
        <p:nvSpPr>
          <p:cNvPr id="4" name="raw">
            <a:extLst xmlns:a="http://schemas.openxmlformats.org/drawingml/2006/main">
              <a:ext uri="{FF2B5EF4-FFF2-40B4-BE49-F238E27FC236}">
                <a16:creationId xmlns:a16="http://schemas.microsoft.com/office/drawing/2014/main" id="{E64B9B00-2447-4B1D-89EB-954005023559}"/>
              </a:ext>
            </a:extLst>
          </p:cNvPr>
          <p:cNvSpPr>
            <a:spLocks xmlns:a="http://schemas.openxmlformats.org/drawingml/2006/main" noGrp="1"/>
          </p:cNvSpPr>
          <p:nvPr/>
        </p:nvSpPr>
        <p:spPr>
          <a:xfrm xmlns:a="http://schemas.openxmlformats.org/drawingml/2006/main">
            <a:off x="609600" y="1952625"/>
            <a:ext cx="2667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NYU–Emerson human CHAT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30 children in source release</a:t>
            </a:r>
          </a:p>
        </p:txBody>
      </p:sp>
      <p:sp>
        <p:nvSpPr>
          <p:cNvPr id="5" name="select">
            <a:extLst xmlns:a="http://schemas.openxmlformats.org/drawingml/2006/main">
              <a:ext uri="{FF2B5EF4-FFF2-40B4-BE49-F238E27FC236}">
                <a16:creationId xmlns:a16="http://schemas.microsoft.com/office/drawing/2014/main" id="{BFBA61EA-D01E-462F-85A3-67425D63922E}"/>
              </a:ext>
            </a:extLst>
          </p:cNvPr>
          <p:cNvSpPr>
            <a:spLocks xmlns:a="http://schemas.openxmlformats.org/drawingml/2006/main" noGrp="1"/>
          </p:cNvSpPr>
          <p:nvPr/>
        </p:nvSpPr>
        <p:spPr>
          <a:xfrm xmlns:a="http://schemas.openxmlformats.org/drawingml/2006/main">
            <a:off x="4048125"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Select child speech</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28 children / 92 sections</a:t>
            </a:r>
          </a:p>
        </p:txBody>
      </p:sp>
      <p:sp>
        <p:nvSpPr>
          <p:cNvPr id="6" name="predict">
            <a:extLst xmlns:a="http://schemas.openxmlformats.org/drawingml/2006/main">
              <a:ext uri="{FF2B5EF4-FFF2-40B4-BE49-F238E27FC236}">
                <a16:creationId xmlns:a16="http://schemas.microsoft.com/office/drawing/2014/main" id="{8BADCE90-EB5A-47CA-816C-13D7AAAB96AC}"/>
              </a:ext>
            </a:extLst>
          </p:cNvPr>
          <p:cNvSpPr>
            <a:spLocks xmlns:a="http://schemas.openxmlformats.org/drawingml/2006/main" noGrp="1"/>
          </p:cNvSpPr>
          <p:nvPr/>
        </p:nvSpPr>
        <p:spPr>
          <a:xfrm xmlns:a="http://schemas.openxmlformats.org/drawingml/2006/main">
            <a:off x="8143875" y="195262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Remove human utterance cuts</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Run retained boundary model</a:t>
            </a:r>
          </a:p>
        </p:txBody>
      </p:sp>
      <p:sp>
        <p:nvSpPr>
          <p:cNvPr id="7" name="reference">
            <a:extLst xmlns:a="http://schemas.openxmlformats.org/drawingml/2006/main">
              <a:ext uri="{FF2B5EF4-FFF2-40B4-BE49-F238E27FC236}">
                <a16:creationId xmlns:a16="http://schemas.microsoft.com/office/drawing/2014/main" id="{2A20A183-B751-4356-A60D-C38656C8A752}"/>
              </a:ext>
            </a:extLst>
          </p:cNvPr>
          <p:cNvSpPr>
            <a:spLocks xmlns:a="http://schemas.openxmlformats.org/drawingml/2006/main" noGrp="1"/>
          </p:cNvSpPr>
          <p:nvPr/>
        </p:nvSpPr>
        <p:spPr>
          <a:xfrm xmlns:a="http://schemas.openxmlformats.org/drawingml/2006/main">
            <a:off x="4048125" y="4286250"/>
            <a:ext cx="285750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Human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Reference metrics</a:t>
            </a:r>
          </a:p>
        </p:txBody>
      </p:sp>
      <p:sp>
        <p:nvSpPr>
          <p:cNvPr id="8" name="predicted">
            <a:extLst xmlns:a="http://schemas.openxmlformats.org/drawingml/2006/main">
              <a:ext uri="{FF2B5EF4-FFF2-40B4-BE49-F238E27FC236}">
                <a16:creationId xmlns:a16="http://schemas.microsoft.com/office/drawing/2014/main" id="{F9B0BC95-B607-4F00-B3EA-059F91CDA68E}"/>
              </a:ext>
            </a:extLst>
          </p:cNvPr>
          <p:cNvSpPr>
            <a:spLocks xmlns:a="http://schemas.openxmlformats.org/drawingml/2006/main" noGrp="1"/>
          </p:cNvSpPr>
          <p:nvPr/>
        </p:nvSpPr>
        <p:spPr>
          <a:xfrm xmlns:a="http://schemas.openxmlformats.org/drawingml/2006/main">
            <a:off x="8143875" y="3286125"/>
            <a:ext cx="338137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Predicted CHAT + native CLAN</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Computed metrics</a:t>
            </a:r>
          </a:p>
        </p:txBody>
      </p:sp>
      <p:sp>
        <p:nvSpPr>
          <p:cNvPr id="9" name="compare">
            <a:extLst xmlns:a="http://schemas.openxmlformats.org/drawingml/2006/main">
              <a:ext uri="{FF2B5EF4-FFF2-40B4-BE49-F238E27FC236}">
                <a16:creationId xmlns:a16="http://schemas.microsoft.com/office/drawing/2014/main" id="{32042F66-44F3-4471-BFE7-D55EB2443249}"/>
              </a:ext>
            </a:extLst>
          </p:cNvPr>
          <p:cNvSpPr>
            <a:spLocks xmlns:a="http://schemas.openxmlformats.org/drawingml/2006/main" noGrp="1"/>
          </p:cNvSpPr>
          <p:nvPr/>
        </p:nvSpPr>
        <p:spPr>
          <a:xfrm xmlns:a="http://schemas.openxmlformats.org/drawingml/2006/main">
            <a:off x="8143875" y="4524375"/>
            <a:ext cx="3381375" cy="90487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725">
                <a:solidFill>
                  <a:srgbClr val="202020"/>
                </a:solidFill>
                <a:latin typeface="Arial"/>
                <a:ea typeface="Arial"/>
                <a:cs typeface="Arial"/>
              </a:defRPr>
            </a:defPPr>
          </a:lstStyle>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Compare values on existing test</a:t>
            </a:r>
          </a:p>
          <a:p xmlns:a="http://schemas.openxmlformats.org/drawingml/2006/main">
            <a:pPr algn="ctr">
              <a:defRPr sz="1725">
                <a:solidFill>
                  <a:srgbClr val="202020"/>
                </a:solidFill>
                <a:latin typeface="Arial"/>
                <a:ea typeface="Arial"/>
                <a:cs typeface="Arial"/>
              </a:defRPr>
            </a:pPr>
            <a:r>
              <a:rPr sz="1725">
                <a:solidFill>
                  <a:srgbClr val="202020"/>
                </a:solidFill>
                <a:latin typeface="Arial"/>
                <a:ea typeface="Arial"/>
                <a:cs typeface="Arial"/>
              </a:rPr>
              <a:t>4 children / 15 sections</a:t>
            </a:r>
          </a:p>
        </p:txBody>
      </p:sp>
      <p:sp>
        <p:nvSpPr>
          <p:cNvPr id="16" name="text-15">
            <a:extLst xmlns:a="http://schemas.openxmlformats.org/drawingml/2006/main">
              <a:ext uri="{FF2B5EF4-FFF2-40B4-BE49-F238E27FC236}">
                <a16:creationId xmlns:a16="http://schemas.microsoft.com/office/drawing/2014/main" id="{C5295979-7A88-4EE2-8C3C-6563C98055EF}"/>
              </a:ext>
            </a:extLst>
          </p:cNvPr>
          <p:cNvSpPr>
            <a:spLocks xmlns:a="http://schemas.openxmlformats.org/drawingml/2006/main" noGrp="1"/>
          </p:cNvSpPr>
          <p:nvPr/>
        </p:nvSpPr>
        <p:spPr>
          <a:xfrm xmlns:a="http://schemas.openxmlformats.org/drawingml/2006/main">
            <a:off x="628650" y="57626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6666"/>
                </a:solidFill>
                <a:latin typeface="Arial"/>
                <a:ea typeface="Arial"/>
                <a:cs typeface="Arial"/>
              </a:defRPr>
            </a:defPPr>
          </a:lstStyle>
          <a:p xmlns:a="http://schemas.openxmlformats.org/drawingml/2006/main">
            <a:pPr algn="l">
              <a:defRPr sz="1725" b="0">
                <a:solidFill>
                  <a:srgbClr val="666666"/>
                </a:solidFill>
                <a:latin typeface="Arial"/>
                <a:ea typeface="Arial"/>
                <a:cs typeface="Arial"/>
              </a:defRPr>
            </a:pPr>
            <a:r>
              <a:rPr sz="1725" b="0">
                <a:solidFill>
                  <a:srgbClr val="666666"/>
                </a:solidFill>
                <a:latin typeface="Arial"/>
                <a:ea typeface="Arial"/>
                <a:cs typeface="Arial"/>
              </a:rPr>
              <a:t>Inference receives words and observed speaker turns. Human utterance endings stay outside model inputs.</a:t>
            </a:r>
          </a:p>
        </p:txBody>
      </p:sp>
    </p:spTree>
    <p:extLst>
      <p:ext uri="{BB962C8B-B14F-4D97-AF65-F5344CB8AC3E}">
        <p14:creationId xmlns:p14="http://schemas.microsoft.com/office/powerpoint/2010/main" val="13980181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DB35FC7-4978-4535-977E-7E35473DE1F6}"/>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NYU: retained model on the existing test cohort</a:t>
            </a:r>
          </a:p>
        </p:txBody>
      </p:sp>
      <p:sp>
        <p:nvSpPr>
          <p:cNvPr id="2" name="text-1">
            <a:extLst xmlns:a="http://schemas.openxmlformats.org/drawingml/2006/main">
              <a:ext uri="{FF2B5EF4-FFF2-40B4-BE49-F238E27FC236}">
                <a16:creationId xmlns:a16="http://schemas.microsoft.com/office/drawing/2014/main" id="{5338E8C4-E066-46E6-8E26-C545B804BA4E}"/>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4 children and 15 sections. Mean participant percentage error.</a:t>
            </a:r>
          </a:p>
        </p:txBody>
      </p:sp>
      <p:sp>
        <p:nvSpPr>
          <p:cNvPr id="3" name="text-2">
            <a:extLst xmlns:a="http://schemas.openxmlformats.org/drawingml/2006/main">
              <a:ext uri="{FF2B5EF4-FFF2-40B4-BE49-F238E27FC236}">
                <a16:creationId xmlns:a16="http://schemas.microsoft.com/office/drawing/2014/main" id="{4EBAFD7B-9B8E-4C64-B474-A63791E0AA9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18</a:t>
            </a:r>
          </a:p>
        </p:txBody>
      </p:sp>
      <p:graphicFrame>
        <p:nvGraphicFramePr>
          <p:cNvPr id="4" name="">
            <a:extLst xmlns:a="http://schemas.openxmlformats.org/drawingml/2006/main">
              <a:ext uri="{FF2B5EF4-FFF2-40B4-BE49-F238E27FC236}">
                <a16:creationId xmlns:a16="http://schemas.microsoft.com/office/drawing/2014/main" id="{8C1CD6A4-B4E2-46E7-8A49-726E6337165D}"/>
              </a:ext>
            </a:extLst>
          </p:cNvPr>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1" bandRow="0"/>
              <a:tblGrid>
                <a:gridCol w="8096250"/>
                <a:gridCol w="2876550"/>
              </a:tblGrid>
              <a:tr h="440531">
                <a:tc>
                  <a:txBody>
                    <a:bodyPr lIns="114300" tIns="114300" rIns="114300" bIns="114300"/>
                    <a:lstStyle/>
                    <a:p>
                      <a:pPr algn="l"/>
                      <a:r>
                        <a:rPr sz="2025" b="1">
                          <a:solidFill>
                            <a:srgbClr val="202020"/>
                          </a:solidFill>
                          <a:latin typeface="Arial"/>
                          <a:ea typeface="Arial"/>
                          <a:cs typeface="Arial"/>
                        </a:rPr>
                        <a:t>Measure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2025" b="1">
                          <a:solidFill>
                            <a:srgbClr val="202020"/>
                          </a:solidFill>
                          <a:latin typeface="Arial"/>
                          <a:ea typeface="Arial"/>
                          <a:cs typeface="Arial"/>
                        </a:rPr>
                        <a:t>Error</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440531">
                <a:tc>
                  <a:txBody>
                    <a:bodyPr lIns="114300" tIns="114300" rIns="114300" bIns="114300"/>
                    <a:lstStyle/>
                    <a:p>
                      <a:pPr algn="l"/>
                      <a:r>
                        <a:rPr sz="2025" b="0">
                          <a:solidFill>
                            <a:srgbClr val="202020"/>
                          </a:solidFill>
                          <a:latin typeface="Arial"/>
                          <a:ea typeface="Arial"/>
                          <a:cs typeface="Arial"/>
                        </a:rPr>
                        <a:t>Total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2.34%</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Different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1.69%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TTR</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1.90%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MATTR-50</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1.97%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Eligible utterance count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29.98%</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MLUw</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16.57%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440531">
                <a:tc>
                  <a:txBody>
                    <a:bodyPr lIns="114300" tIns="114300" rIns="114300" bIns="114300"/>
                    <a:lstStyle/>
                    <a:p>
                      <a:pPr algn="l"/>
                      <a:r>
                        <a:rPr sz="2025" b="0">
                          <a:solidFill>
                            <a:srgbClr val="202020"/>
                          </a:solidFill>
                          <a:latin typeface="Arial"/>
                          <a:ea typeface="Arial"/>
                          <a:cs typeface="Arial"/>
                        </a:rPr>
                        <a:t>Utterance-length SD</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2025" b="0">
                          <a:solidFill>
                            <a:srgbClr val="202020"/>
                          </a:solidFill>
                          <a:latin typeface="Arial"/>
                          <a:ea typeface="Arial"/>
                          <a:cs typeface="Arial"/>
                        </a:rPr>
                        <a:t>13.70%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15E20A37-AD62-4CD4-8817-ACAC8E4E8695}"/>
              </a:ext>
            </a:extLst>
          </p:cNvPr>
          <p:cNvSpPr>
            <a:spLocks xmlns:a="http://schemas.openxmlformats.org/drawingml/2006/main" noGrp="1"/>
          </p:cNvSpPr>
          <p:nvPr/>
        </p:nvSpPr>
        <p:spPr>
          <a:xfrm xmlns:a="http://schemas.openxmlformats.org/drawingml/2006/main">
            <a:off x="628650" y="56102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Vocabulary agreement remains close. Utterance count and MLU are weaker, with a small test sample.</a:t>
            </a:r>
          </a:p>
        </p:txBody>
      </p:sp>
    </p:spTree>
    <p:extLst>
      <p:ext uri="{BB962C8B-B14F-4D97-AF65-F5344CB8AC3E}">
        <p14:creationId xmlns:p14="http://schemas.microsoft.com/office/powerpoint/2010/main" val="19200390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482E68C-19D1-428E-8793-2241AECB3C39}"/>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What model tuning improved</a:t>
            </a:r>
          </a:p>
        </p:txBody>
      </p:sp>
      <p:sp>
        <p:nvSpPr>
          <p:cNvPr id="2" name="text-1">
            <a:extLst xmlns:a="http://schemas.openxmlformats.org/drawingml/2006/main">
              <a:ext uri="{FF2B5EF4-FFF2-40B4-BE49-F238E27FC236}">
                <a16:creationId xmlns:a16="http://schemas.microsoft.com/office/drawing/2014/main" id="{4050AB6A-8E46-4EFC-BBDE-21AC23336BAB}"/>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Five-fold CV tuning results, separate from the existing test results</a:t>
            </a:r>
          </a:p>
        </p:txBody>
      </p:sp>
      <p:sp>
        <p:nvSpPr>
          <p:cNvPr id="3" name="text-2">
            <a:extLst xmlns:a="http://schemas.openxmlformats.org/drawingml/2006/main">
              <a:ext uri="{FF2B5EF4-FFF2-40B4-BE49-F238E27FC236}">
                <a16:creationId xmlns:a16="http://schemas.microsoft.com/office/drawing/2014/main" id="{9084C6A9-2BB0-475A-A7BD-E123908CDBD9}"/>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15ABC4E5-530F-4921-9784-4F837E437BA7}"/>
              </a:ext>
            </a:extLst>
          </p:cNvPr>
          <p:cNvGraphicFramePr/>
          <p:nvPr/>
        </p:nvGraphicFramePr>
        <p:xfrm>
          <a:off xmlns:a="http://schemas.openxmlformats.org/drawingml/2006/main" x="609600" y="1809750"/>
          <a:ext xmlns:a="http://schemas.openxmlformats.org/drawingml/2006/main" cx="10972800" cy="3095625"/>
        </p:xfrm>
        <a:graphic xmlns:a="http://schemas.openxmlformats.org/drawingml/2006/main">
          <a:graphicData uri="http://schemas.openxmlformats.org/drawingml/2006/table">
            <a:tbl>
              <a:tblPr firstRow="1" bandRow="0"/>
              <a:tblGrid>
                <a:gridCol w="5429250"/>
                <a:gridCol w="1847850"/>
                <a:gridCol w="1847850"/>
                <a:gridCol w="1847850"/>
              </a:tblGrid>
              <a:tr h="515938">
                <a:tc>
                  <a:txBody>
                    <a:bodyPr lIns="114300" tIns="114300" rIns="114300" bIns="114300"/>
                    <a:lstStyle/>
                    <a:p>
                      <a:pPr algn="l"/>
                      <a:r>
                        <a:rPr sz="1875" b="1">
                          <a:solidFill>
                            <a:srgbClr val="202020"/>
                          </a:solidFill>
                          <a:latin typeface="Arial"/>
                          <a:ea typeface="Arial"/>
                          <a:cs typeface="Arial"/>
                        </a:rPr>
                        <a:t>Dataset / configuration</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Count</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MLUw</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Length SD</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15938">
                <a:tc>
                  <a:txBody>
                    <a:bodyPr lIns="114300" tIns="114300" rIns="114300" bIns="114300"/>
                    <a:lstStyle/>
                    <a:p>
                      <a:pPr algn="l"/>
                      <a:r>
                        <a:rPr sz="1875" b="0">
                          <a:solidFill>
                            <a:srgbClr val="202020"/>
                          </a:solidFill>
                          <a:latin typeface="Arial"/>
                          <a:ea typeface="Arial"/>
                          <a:cs typeface="Arial"/>
                        </a:rPr>
                        <a:t>OCSC: earlier fixed recipe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9.16%</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14.89%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OCSC: current CV baseline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9.05%</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14.83%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OCSC: 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8.84%</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8.67%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14.73%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NYU: current CV baseline</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16.28%</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10.27%</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19.47%</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15938">
                <a:tc>
                  <a:txBody>
                    <a:bodyPr lIns="114300" tIns="114300" rIns="114300" bIns="114300"/>
                    <a:lstStyle/>
                    <a:p>
                      <a:pPr algn="l"/>
                      <a:r>
                        <a:rPr sz="1875" b="0">
                          <a:solidFill>
                            <a:srgbClr val="202020"/>
                          </a:solidFill>
                          <a:latin typeface="Arial"/>
                          <a:ea typeface="Arial"/>
                          <a:cs typeface="Arial"/>
                        </a:rPr>
                        <a:t>NYU: lower count-loss weight</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17.49%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11.00%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19.42%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BE1D0630-1F29-41FC-AA24-48D201DF679C}"/>
              </a:ext>
            </a:extLst>
          </p:cNvPr>
          <p:cNvSpPr>
            <a:spLocks xmlns:a="http://schemas.openxmlformats.org/drawingml/2006/main" noGrp="1"/>
          </p:cNvSpPr>
          <p:nvPr/>
        </p:nvSpPr>
        <p:spPr>
          <a:xfrm xmlns:a="http://schemas.openxmlformats.org/drawingml/2006/main">
            <a:off x="723900" y="5267325"/>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Lower count loss modestly improved OCSC but worsened NYU count and MLU.</a:t>
            </a:r>
          </a:p>
          <a:p xmlns:a="http://schemas.openxmlformats.org/drawingml/2006/main">
            <a:pPr marL="279400" indent="-139700" algn="l">
              <a:spcAft>
                <a:spcPts val="1100"/>
              </a:spcAft>
              <a:buChar char="•"/>
              <a:defRPr sz="1875" b="0">
                <a:solidFill>
                  <a:srgbClr val="202020"/>
                </a:solidFill>
                <a:latin typeface="Arial"/>
                <a:ea typeface="Arial"/>
                <a:cs typeface="Arial"/>
              </a:defRPr>
            </a:pPr>
            <a:r>
              <a:rPr sz="1875">
                <a:solidFill>
                  <a:srgbClr val="202020"/>
                </a:solidFill>
                <a:latin typeface="Arial"/>
                <a:ea typeface="Arial"/>
                <a:cs typeface="Arial"/>
              </a:rPr>
              <a:t>The baseline kept the best combined CV score. We retained the existing production model.</a:t>
            </a:r>
          </a:p>
        </p:txBody>
      </p:sp>
    </p:spTree>
    <p:extLst>
      <p:ext uri="{BB962C8B-B14F-4D97-AF65-F5344CB8AC3E}">
        <p14:creationId xmlns:p14="http://schemas.microsoft.com/office/powerpoint/2010/main" val="18527804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CC453C0-D89B-48DB-856E-CE39D0F71AA0}"/>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Why the results differ</a:t>
            </a:r>
          </a:p>
        </p:txBody>
      </p:sp>
      <p:sp>
        <p:nvSpPr>
          <p:cNvPr id="2" name="text-1">
            <a:extLst xmlns:a="http://schemas.openxmlformats.org/drawingml/2006/main">
              <a:ext uri="{FF2B5EF4-FFF2-40B4-BE49-F238E27FC236}">
                <a16:creationId xmlns:a16="http://schemas.microsoft.com/office/drawing/2014/main" id="{071F6C64-465D-42E5-8E86-0ED02995F543}"/>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Measured development-data differences support hypotheses, not a proven cause</a:t>
            </a:r>
          </a:p>
        </p:txBody>
      </p:sp>
      <p:sp>
        <p:nvSpPr>
          <p:cNvPr id="3" name="text-2">
            <a:extLst xmlns:a="http://schemas.openxmlformats.org/drawingml/2006/main">
              <a:ext uri="{FF2B5EF4-FFF2-40B4-BE49-F238E27FC236}">
                <a16:creationId xmlns:a16="http://schemas.microsoft.com/office/drawing/2014/main" id="{6CE7DDA7-16A9-4AE8-8E33-FABC57481E68}"/>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AEF2D443-F7CD-4F32-ACBB-925A14C680F0}"/>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firstRow="1" bandRow="0"/>
              <a:tblGrid>
                <a:gridCol w="6953250"/>
                <a:gridCol w="2009775"/>
                <a:gridCol w="2009775"/>
              </a:tblGrid>
              <a:tr h="542925">
                <a:tc>
                  <a:txBody>
                    <a:bodyPr lIns="114300" tIns="114300" rIns="114300" bIns="114300"/>
                    <a:lstStyle/>
                    <a:p>
                      <a:pPr algn="l"/>
                      <a:r>
                        <a:rPr sz="1950" b="1">
                          <a:solidFill>
                            <a:srgbClr val="202020"/>
                          </a:solidFill>
                          <a:latin typeface="Arial"/>
                          <a:ea typeface="Arial"/>
                          <a:cs typeface="Arial"/>
                        </a:rPr>
                        <a:t>Train + eval input characteristic</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NYU</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950" b="1">
                          <a:solidFill>
                            <a:srgbClr val="202020"/>
                          </a:solidFill>
                          <a:latin typeface="Arial"/>
                          <a:ea typeface="Arial"/>
                          <a:cs typeface="Arial"/>
                        </a:rPr>
                        <a:t>OCSC</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542925">
                <a:tc>
                  <a:txBody>
                    <a:bodyPr lIns="114300" tIns="114300" rIns="114300" bIns="114300"/>
                    <a:lstStyle/>
                    <a:p>
                      <a:pPr algn="l"/>
                      <a:r>
                        <a:rPr sz="1950" b="0">
                          <a:solidFill>
                            <a:srgbClr val="202020"/>
                          </a:solidFill>
                          <a:latin typeface="Arial"/>
                          <a:ea typeface="Arial"/>
                          <a:cs typeface="Arial"/>
                        </a:rPr>
                        <a:t>Median child age, years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4.58</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7.22</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Median words per observed turn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2</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5</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Turns with at most 3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70%</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41%</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542925">
                <a:tc>
                  <a:txBody>
                    <a:bodyPr lIns="114300" tIns="114300" rIns="114300" bIns="114300"/>
                    <a:lstStyle/>
                    <a:p>
                      <a:pPr algn="l"/>
                      <a:r>
                        <a:rPr sz="1950" b="0">
                          <a:solidFill>
                            <a:srgbClr val="202020"/>
                          </a:solidFill>
                          <a:latin typeface="Arial"/>
                          <a:ea typeface="Arial"/>
                          <a:cs typeface="Arial"/>
                        </a:rPr>
                        <a:t>Unintelligibility markers per 1,000 words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79.49</a:t>
                      </a:r>
                    </a:p>
                  </a:txBody>
                  <a:tcPr marL="91440" marR="91440" marT="45720" marB="45720" anchor="ctr">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950" b="0">
                          <a:solidFill>
                            <a:srgbClr val="202020"/>
                          </a:solidFill>
                          <a:latin typeface="Arial"/>
                          <a:ea typeface="Arial"/>
                          <a:cs typeface="Arial"/>
                        </a:rPr>
                        <a:t>5.73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2C5069B0-73AB-4EB9-8663-91199D5BA233}"/>
              </a:ext>
            </a:extLst>
          </p:cNvPr>
          <p:cNvSpPr>
            <a:spLocks xmlns:a="http://schemas.openxmlformats.org/drawingml/2006/main" noGrp="1"/>
          </p:cNvSpPr>
          <p:nvPr/>
        </p:nvSpPr>
        <p:spPr>
          <a:xfrm xmlns:a="http://schemas.openxmlformats.org/drawingml/2006/main">
            <a:off x="723900" y="4857750"/>
            <a:ext cx="107442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02020"/>
                </a:solidFill>
                <a:latin typeface="Arial"/>
                <a:ea typeface="Arial"/>
                <a:cs typeface="Arial"/>
              </a:defRPr>
            </a:defPPr>
          </a:lstStyle>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NYU gives the model shorter contexts and less reliable speech, with much less training text.</a:t>
            </a:r>
          </a:p>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Age, task and transcription conventions vary together. Age alone does not explain the result.</a:t>
            </a:r>
          </a:p>
          <a:p xmlns:a="http://schemas.openxmlformats.org/drawingml/2006/main">
            <a:pPr marL="279400" indent="-139700" algn="l">
              <a:spcAft>
                <a:spcPts val="900"/>
              </a:spcAft>
              <a:buChar char="•"/>
              <a:defRPr sz="1875" b="0">
                <a:solidFill>
                  <a:srgbClr val="202020"/>
                </a:solidFill>
                <a:latin typeface="Arial"/>
                <a:ea typeface="Arial"/>
                <a:cs typeface="Arial"/>
              </a:defRPr>
            </a:pPr>
            <a:r>
              <a:rPr sz="1875">
                <a:solidFill>
                  <a:srgbClr val="202020"/>
                </a:solidFill>
                <a:latin typeface="Arial"/>
                <a:ea typeface="Arial"/>
                <a:cs typeface="Arial"/>
              </a:rPr>
              <a:t>LUCID checks the lexical branch. Its low errors do not establish utterance-boundary accuracy.</a:t>
            </a:r>
          </a:p>
        </p:txBody>
      </p:sp>
    </p:spTree>
    <p:extLst>
      <p:ext uri="{BB962C8B-B14F-4D97-AF65-F5344CB8AC3E}">
        <p14:creationId xmlns:p14="http://schemas.microsoft.com/office/powerpoint/2010/main" val="6831957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17F69A31-C7FF-45E3-B58D-99A84099E095}"/>
              </a:ext>
            </a:extLst>
          </p:cNvPr>
          <p:cNvCxnSpPr>
            <a:stCxn xmlns:a="http://schemas.openxmlformats.org/drawingml/2006/main" id="7" idx="3"/>
            <a:endCxn xmlns:a="http://schemas.openxmlformats.org/drawingml/2006/main" id="8" idx="1"/>
          </p:cNvCxnSpPr>
          <p:nvPr/>
        </p:nvCxnSpPr>
        <p:spPr>
          <a:xfrm xmlns:a="http://schemas.openxmlformats.org/drawingml/2006/main">
            <a:off x="3943350" y="4786313"/>
            <a:ext cx="3676650" cy="0"/>
          </a:xfrm>
          <a:prstGeom xmlns:a="http://schemas.openxmlformats.org/drawingml/2006/main" prst="straightConnector1">
            <a:avLst/>
          </a:prstGeom>
          <a:ln xmlns:a="http://schemas.openxmlformats.org/drawingml/2006/main" w="19050">
            <a:solidFill>
              <a:srgbClr val="2F5496"/>
            </a:solidFill>
            <a:tailEnd type="triangle" w="med" len="med"/>
          </a:ln>
        </p:spPr>
      </p:cxnSp>
      <p:cxnSp>
        <p:nvCxnSpPr>
          <p:cNvPr id="11" name="">
            <a:extLst xmlns:a="http://schemas.openxmlformats.org/drawingml/2006/main">
              <a:ext uri="{FF2B5EF4-FFF2-40B4-BE49-F238E27FC236}">
                <a16:creationId xmlns:a16="http://schemas.microsoft.com/office/drawing/2014/main" id="{8393BE12-F0AE-42F9-85F7-3D26FA44E8E8}"/>
              </a:ext>
            </a:extLst>
          </p:cNvPr>
          <p:cNvCxnSpPr>
            <a:stCxn xmlns:a="http://schemas.openxmlformats.org/drawingml/2006/main" id="6" idx="2"/>
            <a:endCxn xmlns:a="http://schemas.openxmlformats.org/drawingml/2006/main" id="8" idx="0"/>
          </p:cNvCxnSpPr>
          <p:nvPr/>
        </p:nvCxnSpPr>
        <p:spPr>
          <a:xfrm xmlns:a="http://schemas.openxmlformats.org/drawingml/2006/main" flipH="1">
            <a:off x="9572625" y="2809875"/>
            <a:ext cx="476250" cy="1476375"/>
          </a:xfrm>
          <a:prstGeom xmlns:a="http://schemas.openxmlformats.org/drawingml/2006/main" prst="bentConnector4">
            <a:avLst>
              <a:gd name="adj1" fmla="val 0"/>
              <a:gd name="adj2" fmla="val 50000"/>
            </a:avLst>
          </a:prstGeom>
          <a:ln xmlns:a="http://schemas.openxmlformats.org/drawingml/2006/main" w="19050">
            <a:solidFill>
              <a:srgbClr val="2F5496"/>
            </a:solidFill>
            <a:tailEnd type="triangle" w="med" len="med"/>
          </a:ln>
        </p:spPr>
      </p:cxnSp>
      <p:cxnSp>
        <p:nvCxnSpPr>
          <p:cNvPr id="10" name="">
            <a:extLst xmlns:a="http://schemas.openxmlformats.org/drawingml/2006/main">
              <a:ext uri="{FF2B5EF4-FFF2-40B4-BE49-F238E27FC236}">
                <a16:creationId xmlns:a16="http://schemas.microsoft.com/office/drawing/2014/main" id="{B407349A-438E-4930-BB22-C36DC5432F25}"/>
              </a:ext>
            </a:extLst>
          </p:cNvPr>
          <p:cNvCxnSpPr>
            <a:stCxn xmlns:a="http://schemas.openxmlformats.org/drawingml/2006/main" id="5" idx="3"/>
            <a:endCxn xmlns:a="http://schemas.openxmlformats.org/drawingml/2006/main" id="6" idx="1"/>
          </p:cNvCxnSpPr>
          <p:nvPr/>
        </p:nvCxnSpPr>
        <p:spPr>
          <a:xfrm xmlns:a="http://schemas.openxmlformats.org/drawingml/2006/main">
            <a:off x="7572375" y="2381250"/>
            <a:ext cx="1000125" cy="0"/>
          </a:xfrm>
          <a:prstGeom xmlns:a="http://schemas.openxmlformats.org/drawingml/2006/main" prst="straightConnector1">
            <a:avLst/>
          </a:prstGeom>
          <a:ln xmlns:a="http://schemas.openxmlformats.org/drawingml/2006/main" w="19050">
            <a:solidFill>
              <a:srgbClr val="2F5496"/>
            </a:solidFill>
            <a:tailEnd type="triangle" w="med" len="med"/>
          </a:ln>
        </p:spPr>
      </p:cxnSp>
      <p:cxnSp>
        <p:nvCxnSpPr>
          <p:cNvPr id="9" name="">
            <a:extLst xmlns:a="http://schemas.openxmlformats.org/drawingml/2006/main">
              <a:ext uri="{FF2B5EF4-FFF2-40B4-BE49-F238E27FC236}">
                <a16:creationId xmlns:a16="http://schemas.microsoft.com/office/drawing/2014/main" id="{7767D033-E80E-4436-ACD1-9B6E1A5A5CF9}"/>
              </a:ext>
            </a:extLst>
          </p:cNvPr>
          <p:cNvCxnSpPr>
            <a:stCxn xmlns:a="http://schemas.openxmlformats.org/drawingml/2006/main" id="4" idx="3"/>
            <a:endCxn xmlns:a="http://schemas.openxmlformats.org/drawingml/2006/main" id="5" idx="1"/>
          </p:cNvCxnSpPr>
          <p:nvPr/>
        </p:nvCxnSpPr>
        <p:spPr>
          <a:xfrm xmlns:a="http://schemas.openxmlformats.org/drawingml/2006/main">
            <a:off x="3467100" y="2381250"/>
            <a:ext cx="1152525" cy="0"/>
          </a:xfrm>
          <a:prstGeom xmlns:a="http://schemas.openxmlformats.org/drawingml/2006/main" prst="straightConnector1">
            <a:avLst/>
          </a:prstGeom>
          <a:ln xmlns:a="http://schemas.openxmlformats.org/drawingml/2006/main" w="19050">
            <a:solidFill>
              <a:srgbClr val="2F5496"/>
            </a:solidFill>
            <a:tailEnd type="triangle" w="med" len="med"/>
          </a:ln>
        </p:spPr>
      </p:cxnSp>
      <p:sp>
        <p:nvSpPr>
          <p:cNvPr id="14" name="text-0">
            <a:extLst xmlns:a="http://schemas.openxmlformats.org/drawingml/2006/main">
              <a:ext uri="{FF2B5EF4-FFF2-40B4-BE49-F238E27FC236}">
                <a16:creationId xmlns:a16="http://schemas.microsoft.com/office/drawing/2014/main" id="{6F2E3094-3F7F-4B0E-8407-20D0DB52F98E}"/>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Planned audio evaluation</a:t>
            </a:r>
          </a:p>
        </p:txBody>
      </p:sp>
      <p:sp>
        <p:nvSpPr>
          <p:cNvPr id="2" name="text-1">
            <a:extLst xmlns:a="http://schemas.openxmlformats.org/drawingml/2006/main">
              <a:ext uri="{FF2B5EF4-FFF2-40B4-BE49-F238E27FC236}">
                <a16:creationId xmlns:a16="http://schemas.microsoft.com/office/drawing/2014/main" id="{B4746430-EDBB-4775-9CE0-0A3CB41D931B}"/>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The current results use human transcripts. The audio phase adds recognition errors.</a:t>
            </a:r>
          </a:p>
        </p:txBody>
      </p:sp>
      <p:sp>
        <p:nvSpPr>
          <p:cNvPr id="3" name="text-2">
            <a:extLst xmlns:a="http://schemas.openxmlformats.org/drawingml/2006/main">
              <a:ext uri="{FF2B5EF4-FFF2-40B4-BE49-F238E27FC236}">
                <a16:creationId xmlns:a16="http://schemas.microsoft.com/office/drawing/2014/main" id="{1627BDEC-F780-4ED8-AF4E-057D53902361}"/>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21</a:t>
            </a:r>
          </a:p>
        </p:txBody>
      </p:sp>
      <p:sp>
        <p:nvSpPr>
          <p:cNvPr id="4" name="audio">
            <a:extLst xmlns:a="http://schemas.openxmlformats.org/drawingml/2006/main">
              <a:ext uri="{FF2B5EF4-FFF2-40B4-BE49-F238E27FC236}">
                <a16:creationId xmlns:a16="http://schemas.microsoft.com/office/drawing/2014/main" id="{26002CDE-9615-4148-A08A-D801B010A1D3}"/>
              </a:ext>
            </a:extLst>
          </p:cNvPr>
          <p:cNvSpPr>
            <a:spLocks xmlns:a="http://schemas.openxmlformats.org/drawingml/2006/main" noGrp="1"/>
          </p:cNvSpPr>
          <p:nvPr/>
        </p:nvSpPr>
        <p:spPr>
          <a:xfrm xmlns:a="http://schemas.openxmlformats.org/drawingml/2006/main">
            <a:off x="609600" y="1952625"/>
            <a:ext cx="28575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Original recording</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Same child and task section</a:t>
            </a:r>
          </a:p>
        </p:txBody>
      </p:sp>
      <p:sp>
        <p:nvSpPr>
          <p:cNvPr id="5" name="asr">
            <a:extLst xmlns:a="http://schemas.openxmlformats.org/drawingml/2006/main">
              <a:ext uri="{FF2B5EF4-FFF2-40B4-BE49-F238E27FC236}">
                <a16:creationId xmlns:a16="http://schemas.microsoft.com/office/drawing/2014/main" id="{285F539F-142E-4242-9892-D0535B795E89}"/>
              </a:ext>
            </a:extLst>
          </p:cNvPr>
          <p:cNvSpPr>
            <a:spLocks xmlns:a="http://schemas.openxmlformats.org/drawingml/2006/main" noGrp="1"/>
          </p:cNvSpPr>
          <p:nvPr/>
        </p:nvSpPr>
        <p:spPr>
          <a:xfrm xmlns:a="http://schemas.openxmlformats.org/drawingml/2006/main">
            <a:off x="4619625" y="1952625"/>
            <a:ext cx="2952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MOSS audio transcription</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speaker selection</a:t>
            </a:r>
          </a:p>
        </p:txBody>
      </p:sp>
      <p:sp>
        <p:nvSpPr>
          <p:cNvPr id="6" name="pipeline">
            <a:extLst xmlns:a="http://schemas.openxmlformats.org/drawingml/2006/main">
              <a:ext uri="{FF2B5EF4-FFF2-40B4-BE49-F238E27FC236}">
                <a16:creationId xmlns:a16="http://schemas.microsoft.com/office/drawing/2014/main" id="{E6AF9300-42C1-4E01-84C3-9763A2F89484}"/>
              </a:ext>
            </a:extLst>
          </p:cNvPr>
          <p:cNvSpPr>
            <a:spLocks xmlns:a="http://schemas.openxmlformats.org/drawingml/2006/main" noGrp="1"/>
          </p:cNvSpPr>
          <p:nvPr/>
        </p:nvSpPr>
        <p:spPr>
          <a:xfrm xmlns:a="http://schemas.openxmlformats.org/drawingml/2006/main">
            <a:off x="8572500" y="1952625"/>
            <a:ext cx="295275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Current text pipeline</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Lexical and CHAT measures</a:t>
            </a:r>
          </a:p>
        </p:txBody>
      </p:sp>
      <p:sp>
        <p:nvSpPr>
          <p:cNvPr id="7" name="human">
            <a:extLst xmlns:a="http://schemas.openxmlformats.org/drawingml/2006/main">
              <a:ext uri="{FF2B5EF4-FFF2-40B4-BE49-F238E27FC236}">
                <a16:creationId xmlns:a16="http://schemas.microsoft.com/office/drawing/2014/main" id="{85E4BAF9-344C-4E90-A936-13616AEAED4D}"/>
              </a:ext>
            </a:extLst>
          </p:cNvPr>
          <p:cNvSpPr>
            <a:spLocks xmlns:a="http://schemas.openxmlformats.org/drawingml/2006/main" noGrp="1"/>
          </p:cNvSpPr>
          <p:nvPr/>
        </p:nvSpPr>
        <p:spPr>
          <a:xfrm xmlns:a="http://schemas.openxmlformats.org/drawingml/2006/main">
            <a:off x="609600" y="4286250"/>
            <a:ext cx="33337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Human target-speaker transcript</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and reference measures</a:t>
            </a:r>
          </a:p>
        </p:txBody>
      </p:sp>
      <p:sp>
        <p:nvSpPr>
          <p:cNvPr id="8" name="compare">
            <a:extLst xmlns:a="http://schemas.openxmlformats.org/drawingml/2006/main">
              <a:ext uri="{FF2B5EF4-FFF2-40B4-BE49-F238E27FC236}">
                <a16:creationId xmlns:a16="http://schemas.microsoft.com/office/drawing/2014/main" id="{ACB53D34-29F2-4652-8F28-23DABF337515}"/>
              </a:ext>
            </a:extLst>
          </p:cNvPr>
          <p:cNvSpPr>
            <a:spLocks xmlns:a="http://schemas.openxmlformats.org/drawingml/2006/main" noGrp="1"/>
          </p:cNvSpPr>
          <p:nvPr/>
        </p:nvSpPr>
        <p:spPr>
          <a:xfrm xmlns:a="http://schemas.openxmlformats.org/drawingml/2006/main">
            <a:off x="7620000" y="4286250"/>
            <a:ext cx="3905250" cy="1000125"/>
          </a:xfrm>
          <a:prstGeom xmlns:a="http://schemas.openxmlformats.org/drawingml/2006/main" prst="rect">
            <a:avLst/>
          </a:prstGeom>
          <a:solidFill xmlns:a="http://schemas.openxmlformats.org/drawingml/2006/main">
            <a:srgbClr val="FFFFFF"/>
          </a:solidFill>
          <a:ln xmlns:a="http://schemas.openxmlformats.org/drawingml/2006/main" w="14288">
            <a:solidFill>
              <a:srgbClr val="707070"/>
            </a:solidFill>
            <a:prstDash val="solid"/>
          </a:ln>
        </p:spPr>
        <p:txBody>
          <a:bodyPr xmlns:a="http://schemas.openxmlformats.org/drawingml/2006/main" lIns="114300" tIns="114300" rIns="114300" bIns="114300" anchor="ctr">
            <a:noAutofit/>
          </a:bodyPr>
          <a:lstStyle xmlns:a="http://schemas.openxmlformats.org/drawingml/2006/main">
            <a:defPPr algn="ctr">
              <a:defRPr sz="1800">
                <a:solidFill>
                  <a:srgbClr val="202020"/>
                </a:solidFill>
                <a:latin typeface="Arial"/>
                <a:ea typeface="Arial"/>
                <a:cs typeface="Arial"/>
              </a:defRPr>
            </a:defPPr>
          </a:lstStyle>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Compare words and final measures</a:t>
            </a:r>
          </a:p>
          <a:p xmlns:a="http://schemas.openxmlformats.org/drawingml/2006/main">
            <a:pPr algn="ctr">
              <a:defRPr sz="1800">
                <a:solidFill>
                  <a:srgbClr val="202020"/>
                </a:solidFill>
                <a:latin typeface="Arial"/>
                <a:ea typeface="Arial"/>
                <a:cs typeface="Arial"/>
              </a:defRPr>
            </a:pPr>
            <a:r>
              <a:rPr sz="1800">
                <a:solidFill>
                  <a:srgbClr val="202020"/>
                </a:solidFill>
                <a:latin typeface="Arial"/>
                <a:ea typeface="Arial"/>
                <a:cs typeface="Arial"/>
              </a:rPr>
              <a:t>Separate ASR errors from scoring errors</a:t>
            </a:r>
          </a:p>
        </p:txBody>
      </p:sp>
      <p:sp>
        <p:nvSpPr>
          <p:cNvPr id="13" name="text-12">
            <a:extLst xmlns:a="http://schemas.openxmlformats.org/drawingml/2006/main">
              <a:ext uri="{FF2B5EF4-FFF2-40B4-BE49-F238E27FC236}">
                <a16:creationId xmlns:a16="http://schemas.microsoft.com/office/drawing/2014/main" id="{12F73D11-59B3-4286-B04C-ABEF4733569B}"/>
              </a:ext>
            </a:extLst>
          </p:cNvPr>
          <p:cNvSpPr>
            <a:spLocks xmlns:a="http://schemas.openxmlformats.org/drawingml/2006/main" noGrp="1"/>
          </p:cNvSpPr>
          <p:nvPr/>
        </p:nvSpPr>
        <p:spPr>
          <a:xfrm xmlns:a="http://schemas.openxmlformats.org/drawingml/2006/main">
            <a:off x="628650" y="57912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Planned: word error rate plus vocabulary and utterance-measure differences on matching speech.</a:t>
            </a:r>
          </a:p>
        </p:txBody>
      </p:sp>
    </p:spTree>
    <p:extLst>
      <p:ext uri="{BB962C8B-B14F-4D97-AF65-F5344CB8AC3E}">
        <p14:creationId xmlns:p14="http://schemas.microsoft.com/office/powerpoint/2010/main" val="152128312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462289B-CAB6-4295-8118-6FD05A03A888}"/>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Next steps</a:t>
            </a:r>
          </a:p>
        </p:txBody>
      </p:sp>
      <p:sp>
        <p:nvSpPr>
          <p:cNvPr id="2" name="text-1">
            <a:extLst xmlns:a="http://schemas.openxmlformats.org/drawingml/2006/main">
              <a:ext uri="{FF2B5EF4-FFF2-40B4-BE49-F238E27FC236}">
                <a16:creationId xmlns:a16="http://schemas.microsoft.com/office/drawing/2014/main" id="{C168FEE1-C670-4979-87C5-01D0702525B1}"/>
              </a:ext>
            </a:extLst>
          </p:cNvPr>
          <p:cNvSpPr>
            <a:spLocks xmlns:a="http://schemas.openxmlformats.org/drawingml/2006/main" noGrp="1"/>
          </p:cNvSpPr>
          <p:nvPr/>
        </p:nvSpPr>
        <p:spPr>
          <a:xfrm xmlns:a="http://schemas.openxmlformats.org/drawingml/2006/main">
            <a:off x="628650" y="11239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Keep the completed transcript work reproducible while preparing audio testing</a:t>
            </a:r>
          </a:p>
        </p:txBody>
      </p:sp>
      <p:sp>
        <p:nvSpPr>
          <p:cNvPr id="3" name="text-2">
            <a:extLst xmlns:a="http://schemas.openxmlformats.org/drawingml/2006/main">
              <a:ext uri="{FF2B5EF4-FFF2-40B4-BE49-F238E27FC236}">
                <a16:creationId xmlns:a16="http://schemas.microsoft.com/office/drawing/2014/main" id="{B14FE93C-E79E-4B4C-9B8D-D1EDC43BA5BD}"/>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22</a:t>
            </a:r>
          </a:p>
        </p:txBody>
      </p:sp>
      <p:sp>
        <p:nvSpPr>
          <p:cNvPr id="4" name="text-3">
            <a:extLst xmlns:a="http://schemas.openxmlformats.org/drawingml/2006/main">
              <a:ext uri="{FF2B5EF4-FFF2-40B4-BE49-F238E27FC236}">
                <a16:creationId xmlns:a16="http://schemas.microsoft.com/office/drawing/2014/main" id="{76949AF1-7B97-4143-8095-0886F33EE947}"/>
              </a:ext>
            </a:extLst>
          </p:cNvPr>
          <p:cNvSpPr>
            <a:spLocks xmlns:a="http://schemas.openxmlformats.org/drawingml/2006/main" noGrp="1"/>
          </p:cNvSpPr>
          <p:nvPr/>
        </p:nvSpPr>
        <p:spPr>
          <a:xfrm xmlns:a="http://schemas.openxmlformats.org/drawingml/2006/main">
            <a:off x="723900" y="1762125"/>
            <a:ext cx="107442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2020"/>
                </a:solidFill>
                <a:latin typeface="Arial"/>
                <a:ea typeface="Arial"/>
                <a:cs typeface="Arial"/>
              </a:defRPr>
            </a:defPPr>
          </a:lstStyle>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Independently reconfirm the LUCID author-reference file when OSF access returns.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Use the download scripts to obtain matching recordings in separate source and cohort folders.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Check audio quality, target speaker and task timestamps before ASR.</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Run the planned audio pilot on the original study, then extend to the public sources.</a:t>
            </a:r>
          </a:p>
          <a:p xmlns:a="http://schemas.openxmlformats.org/drawingml/2006/main">
            <a:pPr marL="279400" indent="-139700" algn="l">
              <a:spcAft>
                <a:spcPts val="1600"/>
              </a:spcAft>
              <a:buChar char="•"/>
              <a:defRPr sz="2175" b="0">
                <a:solidFill>
                  <a:srgbClr val="202020"/>
                </a:solidFill>
                <a:latin typeface="Arial"/>
                <a:ea typeface="Arial"/>
                <a:cs typeface="Arial"/>
              </a:defRPr>
            </a:pPr>
            <a:r>
              <a:rPr sz="2175">
                <a:solidFill>
                  <a:srgbClr val="202020"/>
                </a:solidFill>
                <a:latin typeface="Arial"/>
                <a:ea typeface="Arial"/>
                <a:cs typeface="Arial"/>
              </a:rPr>
              <a:t>Report recognition errors and downstream language measures separately.</a:t>
            </a:r>
          </a:p>
        </p:txBody>
      </p:sp>
      <p:sp>
        <p:nvSpPr>
          <p:cNvPr id="5" name="text-4">
            <a:extLst xmlns:a="http://schemas.openxmlformats.org/drawingml/2006/main">
              <a:ext uri="{FF2B5EF4-FFF2-40B4-BE49-F238E27FC236}">
                <a16:creationId xmlns:a16="http://schemas.microsoft.com/office/drawing/2014/main" id="{0D3836F4-FDB9-47EB-A306-7FC0F76BA164}"/>
              </a:ext>
            </a:extLst>
          </p:cNvPr>
          <p:cNvSpPr>
            <a:spLocks xmlns:a="http://schemas.openxmlformats.org/drawingml/2006/main" noGrp="1"/>
          </p:cNvSpPr>
          <p:nvPr/>
        </p:nvSpPr>
        <p:spPr>
          <a:xfrm xmlns:a="http://schemas.openxmlformats.org/drawingml/2006/main">
            <a:off x="628650" y="5810250"/>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6666"/>
                </a:solidFill>
                <a:latin typeface="Arial"/>
                <a:ea typeface="Arial"/>
                <a:cs typeface="Arial"/>
              </a:defRPr>
            </a:defPPr>
          </a:lstStyle>
          <a:p xmlns:a="http://schemas.openxmlformats.org/drawingml/2006/main">
            <a:pPr algn="l">
              <a:defRPr sz="1800" b="0">
                <a:solidFill>
                  <a:srgbClr val="666666"/>
                </a:solidFill>
                <a:latin typeface="Arial"/>
                <a:ea typeface="Arial"/>
                <a:cs typeface="Arial"/>
              </a:defRPr>
            </a:pPr>
            <a:r>
              <a:rPr sz="1800" b="0">
                <a:solidFill>
                  <a:srgbClr val="666666"/>
                </a:solidFill>
                <a:latin typeface="Arial"/>
                <a:ea typeface="Arial"/>
                <a:cs typeface="Arial"/>
              </a:rPr>
              <a:t>Current download status: one LUCID WAV. Bulk acquisition and the planned audio evaluation have not run.</a:t>
            </a:r>
          </a:p>
        </p:txBody>
      </p:sp>
    </p:spTree>
    <p:extLst>
      <p:ext uri="{BB962C8B-B14F-4D97-AF65-F5344CB8AC3E}">
        <p14:creationId xmlns:p14="http://schemas.microsoft.com/office/powerpoint/2010/main" val="3057737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BAE2085-0AC4-4DEF-9A2D-38232C9ED474}"/>
              </a:ext>
            </a:extLst>
          </p:cNvPr>
          <p:cNvSpPr>
            <a:spLocks xmlns:a="http://schemas.openxmlformats.org/drawingml/2006/main" noGrp="1"/>
          </p:cNvSpPr>
          <p:nvPr/>
        </p:nvSpPr>
        <p:spPr>
          <a:xfrm xmlns:a="http://schemas.openxmlformats.org/drawingml/2006/main">
            <a:off x="609600" y="4000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02020"/>
                </a:solidFill>
                <a:latin typeface="Arial"/>
                <a:ea typeface="Arial"/>
                <a:cs typeface="Arial"/>
              </a:defRPr>
            </a:defPPr>
          </a:lstStyle>
          <a:p xmlns:a="http://schemas.openxmlformats.org/drawingml/2006/main">
            <a:pPr algn="l">
              <a:defRPr sz="3300" b="1">
                <a:solidFill>
                  <a:srgbClr val="202020"/>
                </a:solidFill>
                <a:latin typeface="Arial"/>
                <a:ea typeface="Arial"/>
                <a:cs typeface="Arial"/>
              </a:defRPr>
            </a:pPr>
            <a:r>
              <a:rPr sz="3300" b="1">
                <a:solidFill>
                  <a:srgbClr val="202020"/>
                </a:solidFill>
                <a:latin typeface="Arial"/>
                <a:ea typeface="Arial"/>
                <a:cs typeface="Arial"/>
              </a:rPr>
              <a:t>Sources and result records</a:t>
            </a:r>
          </a:p>
        </p:txBody>
      </p:sp>
      <p:sp>
        <p:nvSpPr>
          <p:cNvPr id="2" name="text-1">
            <a:extLst xmlns:a="http://schemas.openxmlformats.org/drawingml/2006/main">
              <a:ext uri="{FF2B5EF4-FFF2-40B4-BE49-F238E27FC236}">
                <a16:creationId xmlns:a16="http://schemas.microsoft.com/office/drawing/2014/main" id="{1492AD35-1DE5-4D38-B600-45062E96744F}"/>
              </a:ext>
            </a:extLst>
          </p:cNvPr>
          <p:cNvSpPr>
            <a:spLocks xmlns:a="http://schemas.openxmlformats.org/drawingml/2006/main" noGrp="1"/>
          </p:cNvSpPr>
          <p:nvPr/>
        </p:nvSpPr>
        <p:spPr>
          <a:xfrm xmlns:a="http://schemas.openxmlformats.org/drawingml/2006/main">
            <a:off x="11220450" y="64198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666666"/>
                </a:solidFill>
                <a:latin typeface="Arial"/>
                <a:ea typeface="Arial"/>
                <a:cs typeface="Arial"/>
              </a:defRPr>
            </a:defPPr>
          </a:lstStyle>
          <a:p xmlns:a="http://schemas.openxmlformats.org/drawingml/2006/main">
            <a:pPr algn="r">
              <a:defRPr sz="1350" b="0">
                <a:solidFill>
                  <a:srgbClr val="666666"/>
                </a:solidFill>
                <a:latin typeface="Arial"/>
                <a:ea typeface="Arial"/>
                <a:cs typeface="Arial"/>
              </a:defRPr>
            </a:pPr>
            <a:r>
              <a:rPr sz="1350" b="0">
                <a:solidFill>
                  <a:srgbClr val="666666"/>
                </a:solidFill>
                <a:latin typeface="Arial"/>
                <a:ea typeface="Arial"/>
                <a:cs typeface="Arial"/>
              </a:rPr>
              <a:t>23</a:t>
            </a:r>
          </a:p>
        </p:txBody>
      </p:sp>
      <p:graphicFrame>
        <p:nvGraphicFramePr>
          <p:cNvPr id="3" name="">
            <a:extLst xmlns:a="http://schemas.openxmlformats.org/drawingml/2006/main">
              <a:ext uri="{FF2B5EF4-FFF2-40B4-BE49-F238E27FC236}">
                <a16:creationId xmlns:a16="http://schemas.microsoft.com/office/drawing/2014/main" id="{EE98F4EC-5CDC-4A35-9ED5-351738746614}"/>
              </a:ext>
            </a:extLst>
          </p:cNvPr>
          <p:cNvGraphicFramePr/>
          <p:nvPr/>
        </p:nvGraphicFramePr>
        <p:xfrm>
          <a:off xmlns:a="http://schemas.openxmlformats.org/drawingml/2006/main" x="609600" y="1809750"/>
          <a:ext xmlns:a="http://schemas.openxmlformats.org/drawingml/2006/main" cx="10972800" cy="3190875"/>
        </p:xfrm>
        <a:graphic xmlns:a="http://schemas.openxmlformats.org/drawingml/2006/main">
          <a:graphicData uri="http://schemas.openxmlformats.org/drawingml/2006/table">
            <a:tbl>
              <a:tblPr firstRow="1" bandRow="0"/>
              <a:tblGrid>
                <a:gridCol w="3333750"/>
                <a:gridCol w="7639050"/>
              </a:tblGrid>
              <a:tr h="638175">
                <a:tc>
                  <a:txBody>
                    <a:bodyPr lIns="114300" tIns="114300" rIns="114300" bIns="114300"/>
                    <a:lstStyle/>
                    <a:p>
                      <a:pPr algn="l"/>
                      <a:r>
                        <a:rPr sz="1875" b="1">
                          <a:solidFill>
                            <a:srgbClr val="202020"/>
                          </a:solidFill>
                          <a:latin typeface="Arial"/>
                          <a:ea typeface="Arial"/>
                          <a:cs typeface="Arial"/>
                        </a:rPr>
                        <a:t>Source</a:t>
                      </a:r>
                    </a:p>
                  </a:txBody>
                  <a:tcPr marL="91440" marR="91440" marT="45720" marB="45720" anchor="ctr">
                    <a:lnL w="6668">
                      <a:solidFill>
                        <a:srgbClr val="B7B7B7"/>
                      </a:solidFill>
                      <a:prstDash val="solid"/>
                    </a:lnL>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c>
                  <a:txBody>
                    <a:bodyPr lIns="114300" tIns="114300" rIns="114300" bIns="114300"/>
                    <a:lstStyle/>
                    <a:p>
                      <a:pPr algn="l"/>
                      <a:r>
                        <a:rPr sz="1875" b="1">
                          <a:solidFill>
                            <a:srgbClr val="202020"/>
                          </a:solidFill>
                          <a:latin typeface="Arial"/>
                          <a:ea typeface="Arial"/>
                          <a:cs typeface="Arial"/>
                        </a:rPr>
                        <a:t>Reference</a:t>
                      </a:r>
                    </a:p>
                  </a:txBody>
                  <a:tcPr marL="91440" marR="91440" marT="45720" marB="45720" anchor="ctr">
                    <a:lnR w="6668">
                      <a:solidFill>
                        <a:srgbClr val="B7B7B7"/>
                      </a:solidFill>
                      <a:prstDash val="solid"/>
                    </a:lnR>
                    <a:lnT w="6668">
                      <a:solidFill>
                        <a:srgbClr val="B7B7B7"/>
                      </a:solidFill>
                      <a:prstDash val="solid"/>
                    </a:lnT>
                    <a:lnB w="6668">
                      <a:solidFill>
                        <a:srgbClr val="B7B7B7"/>
                      </a:solidFill>
                      <a:prstDash val="solid"/>
                    </a:lnB>
                    <a:solidFill>
                      <a:srgbClr val="E7E6E6"/>
                    </a:solidFill>
                  </a:tcPr>
                </a:tc>
              </a:tr>
              <a:tr h="638175">
                <a:tc>
                  <a:txBody>
                    <a:bodyPr lIns="114300" tIns="114300" rIns="114300" bIns="114300"/>
                    <a:lstStyle/>
                    <a:p>
                      <a:pPr algn="l"/>
                      <a:r>
                        <a:rPr sz="1875" b="0">
                          <a:solidFill>
                            <a:srgbClr val="202020"/>
                          </a:solidFill>
                          <a:latin typeface="Arial"/>
                          <a:ea typeface="Arial"/>
                          <a:cs typeface="Arial"/>
                        </a:rPr>
                        <a:t>LUCID corpus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Baker and Hazan, UCL. Corpus materials via SpeechBox.</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LUCID lexical analysis</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Baese-Berk et al. (2021), Frontiers in Psychology.</a:t>
                      </a:r>
                    </a:p>
                    <a:p>
                      <a:pPr algn="l"/>
                      <a:r>
                        <a:rPr sz="1875" b="0">
                          <a:solidFill>
                            <a:srgbClr val="202020"/>
                          </a:solidFill>
                          <a:latin typeface="Arial"/>
                          <a:ea typeface="Arial"/>
                          <a:cs typeface="Arial"/>
                        </a:rPr>
                        <a:t>Author-reference reconfirmation pending.</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OCSC</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Wagner et al. (2025), Speech Communication.</a:t>
                      </a:r>
                    </a:p>
                    <a:p>
                      <a:pPr algn="l"/>
                      <a:r>
                        <a:rPr sz="1875" b="0">
                          <a:solidFill>
                            <a:srgbClr val="202020"/>
                          </a:solidFill>
                          <a:latin typeface="Arial"/>
                          <a:ea typeface="Arial"/>
                          <a:cs typeface="Arial"/>
                        </a:rPr>
                        <a:t>TalkBank CHILDES, DOI 10.21415/60TV-D669.</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r h="638175">
                <a:tc>
                  <a:txBody>
                    <a:bodyPr lIns="114300" tIns="114300" rIns="114300" bIns="114300"/>
                    <a:lstStyle/>
                    <a:p>
                      <a:pPr algn="l"/>
                      <a:r>
                        <a:rPr sz="1875" b="0">
                          <a:solidFill>
                            <a:srgbClr val="202020"/>
                          </a:solidFill>
                          <a:latin typeface="Arial"/>
                          <a:ea typeface="Arial"/>
                          <a:cs typeface="Arial"/>
                        </a:rPr>
                        <a:t>NYU–Emerson</a:t>
                      </a:r>
                    </a:p>
                  </a:txBody>
                  <a:tcPr marL="91440" marR="91440" marT="45720" marB="45720" anchor="ctr">
                    <a:lnL w="6668">
                      <a:solidFill>
                        <a:srgbClr val="B7B7B7"/>
                      </a:solidFill>
                      <a:prstDash val="solid"/>
                    </a:lnL>
                    <a:lnR w="6668">
                      <a:solidFill>
                        <a:srgbClr val="B7B7B7"/>
                      </a:solidFill>
                      <a:prstDash val="solid"/>
                    </a:lnR>
                    <a:lnB w="6668">
                      <a:solidFill>
                        <a:srgbClr val="B7B7B7"/>
                      </a:solidFill>
                      <a:prstDash val="solid"/>
                    </a:lnB>
                    <a:solidFill>
                      <a:srgbClr val="FFFFFF"/>
                    </a:solidFill>
                  </a:tcPr>
                </a:tc>
                <a:tc>
                  <a:txBody>
                    <a:bodyPr lIns="114300" tIns="114300" rIns="114300" bIns="114300"/>
                    <a:lstStyle/>
                    <a:p>
                      <a:pPr algn="l"/>
                      <a:r>
                        <a:rPr sz="1875" b="0">
                          <a:solidFill>
                            <a:srgbClr val="202020"/>
                          </a:solidFill>
                          <a:latin typeface="Arial"/>
                          <a:ea typeface="Arial"/>
                          <a:cs typeface="Arial"/>
                        </a:rPr>
                        <a:t>Steen et al. (2026), Meeting on Language in Autism.</a:t>
                      </a:r>
                    </a:p>
                    <a:p>
                      <a:pPr algn="l"/>
                      <a:r>
                        <a:rPr sz="1875" b="0">
                          <a:solidFill>
                            <a:srgbClr val="202020"/>
                          </a:solidFill>
                          <a:latin typeface="Arial"/>
                          <a:ea typeface="Arial"/>
                          <a:cs typeface="Arial"/>
                        </a:rPr>
                        <a:t>TalkBank ASDBank, DOI 10.21415/VT7P-YF83.</a:t>
                      </a:r>
                    </a:p>
                  </a:txBody>
                  <a:tcPr marL="91440" marR="91440" marT="45720" marB="45720" anchor="ctr">
                    <a:lnR w="6668">
                      <a:solidFill>
                        <a:srgbClr val="B7B7B7"/>
                      </a:solidFill>
                      <a:prstDash val="solid"/>
                    </a:lnR>
                    <a:lnB w="6668">
                      <a:solidFill>
                        <a:srgbClr val="B7B7B7"/>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04BAD2D0-DF95-4158-B3EB-BFCC665F259B}"/>
              </a:ext>
            </a:extLst>
          </p:cNvPr>
          <p:cNvSpPr>
            <a:spLocks xmlns:a="http://schemas.openxmlformats.org/drawingml/2006/main" noGrp="1"/>
          </p:cNvSpPr>
          <p:nvPr/>
        </p:nvSpPr>
        <p:spPr>
          <a:xfrm xmlns:a="http://schemas.openxmlformats.org/drawingml/2006/main">
            <a:off x="628650" y="5553075"/>
            <a:ext cx="1071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66666"/>
                </a:solidFill>
                <a:latin typeface="Arial"/>
                <a:ea typeface="Arial"/>
                <a:cs typeface="Arial"/>
              </a:defRPr>
            </a:defPPr>
          </a:lstStyle>
          <a:p xmlns:a="http://schemas.openxmlformats.org/drawingml/2006/main">
            <a:pPr algn="l">
              <a:defRPr sz="1875" b="0">
                <a:solidFill>
                  <a:srgbClr val="666666"/>
                </a:solidFill>
                <a:latin typeface="Arial"/>
                <a:ea typeface="Arial"/>
                <a:cs typeface="Arial"/>
              </a:defRPr>
            </a:pPr>
            <a:r>
              <a:rPr sz="1875" b="0">
                <a:solidFill>
                  <a:srgbClr val="666666"/>
                </a:solidFill>
                <a:latin typeface="Arial"/>
                <a:ea typeface="Arial"/>
                <a:cs typeface="Arial"/>
              </a:rPr>
              <a:t>Speaker notes link the dataset pages, source files, metric records and CV reports used on each slide.</a:t>
            </a:r>
          </a:p>
        </p:txBody>
      </p:sp>
    </p:spTree>
    <p:extLst>
      <p:ext uri="{BB962C8B-B14F-4D97-AF65-F5344CB8AC3E}">
        <p14:creationId xmlns:p14="http://schemas.microsoft.com/office/powerpoint/2010/main" val="485227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2026-10-16T14:49:51.2810000Z</dcterms:created>
  <dcterms:modified xsi:type="dcterms:W3CDTF">2026-10-16T14:49:51.2810000Z</dcterms:modified>
</coreProperties>
</file>