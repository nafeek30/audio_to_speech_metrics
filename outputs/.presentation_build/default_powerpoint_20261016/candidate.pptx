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4cea207b2b4671" /><Relationship Type="http://schemas.openxmlformats.org/officeDocument/2006/relationships/extended-properties" Target="/docProps/app.xml" Id="R74b5f15b8c204ca8" /><Relationship Type="http://schemas.openxmlformats.org/officeDocument/2006/relationships/officeDocument" Target="/ppt/presentation.xml" Id="R497978e579f94d23" /></Relationships>
</file>

<file path=ppt/presentation.xml><?xml version="1.0" encoding="utf-8"?>
<p:presentation xmlns:p="http://schemas.openxmlformats.org/presentationml/2006/main">
  <p:sldMasterIdLst>
    <p:sldMasterId xmlns:r="http://schemas.openxmlformats.org/officeDocument/2006/relationships" id="2147483648" r:id="R7c3621c73e184011"/>
    <p:sldMasterId xmlns:r="http://schemas.openxmlformats.org/officeDocument/2006/relationships" id="2147483655" r:id="Refadc1efe7be43fd"/>
  </p:sldMasterIdLst>
  <p:notesMasterIdLst>
    <p:notesMasterId xmlns:r="http://schemas.openxmlformats.org/officeDocument/2006/relationships" r:id="R0fd5efe4493d4650"/>
  </p:notesMasterIdLst>
  <p:sldIdLst>
    <p:sldId xmlns:r="http://schemas.openxmlformats.org/officeDocument/2006/relationships" id="256" r:id="Rca63699167b7441e"/>
    <p:sldId xmlns:r="http://schemas.openxmlformats.org/officeDocument/2006/relationships" id="257" r:id="Rc6df16c476d64dce"/>
    <p:sldId xmlns:r="http://schemas.openxmlformats.org/officeDocument/2006/relationships" id="258" r:id="R8c0877ced98447e6"/>
    <p:sldId xmlns:r="http://schemas.openxmlformats.org/officeDocument/2006/relationships" id="259" r:id="R00df195f42594711"/>
    <p:sldId xmlns:r="http://schemas.openxmlformats.org/officeDocument/2006/relationships" id="260" r:id="R955dc38cb0da4b7a"/>
    <p:sldId xmlns:r="http://schemas.openxmlformats.org/officeDocument/2006/relationships" id="261" r:id="R3db156cff5f34ba0"/>
    <p:sldId xmlns:r="http://schemas.openxmlformats.org/officeDocument/2006/relationships" id="262" r:id="R3bbb011ec5d54d04"/>
    <p:sldId xmlns:r="http://schemas.openxmlformats.org/officeDocument/2006/relationships" id="263" r:id="R1739c44b4f884a9b"/>
    <p:sldId xmlns:r="http://schemas.openxmlformats.org/officeDocument/2006/relationships" id="264" r:id="Rc153a85b5d754af7"/>
    <p:sldId xmlns:r="http://schemas.openxmlformats.org/officeDocument/2006/relationships" id="265" r:id="R706947bf51004499"/>
    <p:sldId xmlns:r="http://schemas.openxmlformats.org/officeDocument/2006/relationships" id="266" r:id="R73c4a9e514d44d5f"/>
    <p:sldId xmlns:r="http://schemas.openxmlformats.org/officeDocument/2006/relationships" id="267" r:id="Rd03a05e8cf244774"/>
    <p:sldId xmlns:r="http://schemas.openxmlformats.org/officeDocument/2006/relationships" id="268" r:id="R40b4f77522684061"/>
    <p:sldId xmlns:r="http://schemas.openxmlformats.org/officeDocument/2006/relationships" id="269" r:id="Red021d5e45ef4be9"/>
    <p:sldId xmlns:r="http://schemas.openxmlformats.org/officeDocument/2006/relationships" id="270" r:id="R42225e2c40e941b4"/>
    <p:sldId xmlns:r="http://schemas.openxmlformats.org/officeDocument/2006/relationships" id="271" r:id="Rf3eb143ed1684bd7"/>
    <p:sldId xmlns:r="http://schemas.openxmlformats.org/officeDocument/2006/relationships" id="272" r:id="R65915155970045d1"/>
    <p:sldId xmlns:r="http://schemas.openxmlformats.org/officeDocument/2006/relationships" id="273" r:id="R4c9fc35f740b48d0"/>
    <p:sldId xmlns:r="http://schemas.openxmlformats.org/officeDocument/2006/relationships" id="274" r:id="R4ad4383ba90241d1"/>
    <p:sldId xmlns:r="http://schemas.openxmlformats.org/officeDocument/2006/relationships" id="275" r:id="R5526e76eccdb4d04"/>
    <p:sldId xmlns:r="http://schemas.openxmlformats.org/officeDocument/2006/relationships" id="276" r:id="Re6c233f4de28484b"/>
    <p:sldId xmlns:r="http://schemas.openxmlformats.org/officeDocument/2006/relationships" id="277" r:id="Rc7d49d4b9b5b4111"/>
    <p:sldId xmlns:r="http://schemas.openxmlformats.org/officeDocument/2006/relationships" id="278" r:id="R4c66a6678cb14c70"/>
    <p:sldId xmlns:r="http://schemas.openxmlformats.org/officeDocument/2006/relationships" id="279" r:id="R4ef34a184d804aa9"/>
    <p:sldId xmlns:r="http://schemas.openxmlformats.org/officeDocument/2006/relationships" id="280" r:id="Rbfcdf388c39e40fc"/>
    <p:sldId xmlns:r="http://schemas.openxmlformats.org/officeDocument/2006/relationships" id="281" r:id="Rc515331e7fd347a0"/>
    <p:sldId xmlns:r="http://schemas.openxmlformats.org/officeDocument/2006/relationships" id="282" r:id="R4137897402ef4b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cda48ae91a487f" /><Relationship Type="http://schemas.openxmlformats.org/officeDocument/2006/relationships/slideMaster" Target="/ppt/slideMasters/slideMaster1.xml" Id="R7c3621c73e184011" /><Relationship Type="http://schemas.openxmlformats.org/officeDocument/2006/relationships/slideMaster" Target="/ppt/slideMasters/slideMaster2.xml" Id="Refadc1efe7be43fd" /><Relationship Type="http://schemas.openxmlformats.org/officeDocument/2006/relationships/notesMaster" Target="/ppt/notesMasters/notesMaster1.xml" Id="R0fd5efe4493d4650" /><Relationship Type="http://schemas.openxmlformats.org/officeDocument/2006/relationships/presProps" Target="/ppt/presProps.xml" Id="R8e20ece8278b477b" /><Relationship Type="http://schemas.openxmlformats.org/officeDocument/2006/relationships/tableStyles" Target="/ppt/tableStyles.xml" Id="R6040be9313144152" /><Relationship Type="http://schemas.openxmlformats.org/officeDocument/2006/relationships/slide" Target="/ppt/slides/slide1.xml" Id="Rca63699167b7441e" /><Relationship Type="http://schemas.openxmlformats.org/officeDocument/2006/relationships/slide" Target="/ppt/slides/slide2.xml" Id="Rc6df16c476d64dce" /><Relationship Type="http://schemas.openxmlformats.org/officeDocument/2006/relationships/slide" Target="/ppt/slides/slide3.xml" Id="R8c0877ced98447e6" /><Relationship Type="http://schemas.openxmlformats.org/officeDocument/2006/relationships/slide" Target="/ppt/slides/slide4.xml" Id="R00df195f42594711" /><Relationship Type="http://schemas.openxmlformats.org/officeDocument/2006/relationships/slide" Target="/ppt/slides/slide5.xml" Id="R955dc38cb0da4b7a" /><Relationship Type="http://schemas.openxmlformats.org/officeDocument/2006/relationships/slide" Target="/ppt/slides/slide6.xml" Id="R3db156cff5f34ba0" /><Relationship Type="http://schemas.openxmlformats.org/officeDocument/2006/relationships/slide" Target="/ppt/slides/slide7.xml" Id="R3bbb011ec5d54d04" /><Relationship Type="http://schemas.openxmlformats.org/officeDocument/2006/relationships/slide" Target="/ppt/slides/slide8.xml" Id="R1739c44b4f884a9b" /><Relationship Type="http://schemas.openxmlformats.org/officeDocument/2006/relationships/slide" Target="/ppt/slides/slide9.xml" Id="Rc153a85b5d754af7" /><Relationship Type="http://schemas.openxmlformats.org/officeDocument/2006/relationships/slide" Target="/ppt/slides/slide10.xml" Id="R706947bf51004499" /><Relationship Type="http://schemas.openxmlformats.org/officeDocument/2006/relationships/slide" Target="/ppt/slides/slide11.xml" Id="R73c4a9e514d44d5f" /><Relationship Type="http://schemas.openxmlformats.org/officeDocument/2006/relationships/slide" Target="/ppt/slides/slide12.xml" Id="Rd03a05e8cf244774" /><Relationship Type="http://schemas.openxmlformats.org/officeDocument/2006/relationships/slide" Target="/ppt/slides/slide13.xml" Id="R40b4f77522684061" /><Relationship Type="http://schemas.openxmlformats.org/officeDocument/2006/relationships/slide" Target="/ppt/slides/slide14.xml" Id="Red021d5e45ef4be9" /><Relationship Type="http://schemas.openxmlformats.org/officeDocument/2006/relationships/slide" Target="/ppt/slides/slide15.xml" Id="R42225e2c40e941b4" /><Relationship Type="http://schemas.openxmlformats.org/officeDocument/2006/relationships/slide" Target="/ppt/slides/slide16.xml" Id="Rf3eb143ed1684bd7" /><Relationship Type="http://schemas.openxmlformats.org/officeDocument/2006/relationships/slide" Target="/ppt/slides/slide17.xml" Id="R65915155970045d1" /><Relationship Type="http://schemas.openxmlformats.org/officeDocument/2006/relationships/slide" Target="/ppt/slides/slide18.xml" Id="R4c9fc35f740b48d0" /><Relationship Type="http://schemas.openxmlformats.org/officeDocument/2006/relationships/slide" Target="/ppt/slides/slide19.xml" Id="R4ad4383ba90241d1" /><Relationship Type="http://schemas.openxmlformats.org/officeDocument/2006/relationships/slide" Target="/ppt/slides/slide20.xml" Id="R5526e76eccdb4d04" /><Relationship Type="http://schemas.openxmlformats.org/officeDocument/2006/relationships/slide" Target="/ppt/slides/slide21.xml" Id="Re6c233f4de28484b" /><Relationship Type="http://schemas.openxmlformats.org/officeDocument/2006/relationships/slide" Target="/ppt/slides/slide22.xml" Id="Rc7d49d4b9b5b4111" /><Relationship Type="http://schemas.openxmlformats.org/officeDocument/2006/relationships/slide" Target="/ppt/slides/slide23.xml" Id="R4c66a6678cb14c70" /><Relationship Type="http://schemas.openxmlformats.org/officeDocument/2006/relationships/slide" Target="/ppt/slides/slide24.xml" Id="R4ef34a184d804aa9" /><Relationship Type="http://schemas.openxmlformats.org/officeDocument/2006/relationships/slide" Target="/ppt/slides/slide25.xml" Id="Rbfcdf388c39e40fc" /><Relationship Type="http://schemas.openxmlformats.org/officeDocument/2006/relationships/slide" Target="/ppt/slides/slide26.xml" Id="Rc515331e7fd347a0" /><Relationship Type="http://schemas.openxmlformats.org/officeDocument/2006/relationships/slide" Target="/ppt/slides/slide27.xml" Id="R4137897402ef4b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f330baaecd7d41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dc3113d4f140ee" /><Relationship Type="http://schemas.openxmlformats.org/officeDocument/2006/relationships/notesMaster" Target="/ppt/notesMasters/notesMaster1.xml" Id="Ra9ea29cb601f4c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99702a32d7455b" /><Relationship Type="http://schemas.openxmlformats.org/officeDocument/2006/relationships/notesMaster" Target="/ppt/notesMasters/notesMaster1.xml" Id="Rcfbaa3b7339343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40fe968f5b4a83" /><Relationship Type="http://schemas.openxmlformats.org/officeDocument/2006/relationships/notesMaster" Target="/ppt/notesMasters/notesMaster1.xml" Id="R8b3630d04ce640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8a0f5d1d684e1c" /><Relationship Type="http://schemas.openxmlformats.org/officeDocument/2006/relationships/notesMaster" Target="/ppt/notesMasters/notesMaster1.xml" Id="R58b820ab0b1d48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70c9e5a73441a4" /><Relationship Type="http://schemas.openxmlformats.org/officeDocument/2006/relationships/notesMaster" Target="/ppt/notesMasters/notesMaster1.xml" Id="R64e348c9c7fd49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18ad063cc24d85" /><Relationship Type="http://schemas.openxmlformats.org/officeDocument/2006/relationships/notesMaster" Target="/ppt/notesMasters/notesMaster1.xml" Id="R0c2decd9ac4042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b77ac1c6574bb1" /><Relationship Type="http://schemas.openxmlformats.org/officeDocument/2006/relationships/notesMaster" Target="/ppt/notesMasters/notesMaster1.xml" Id="R5f77a1ee27f74e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1e818f2fa04347" /><Relationship Type="http://schemas.openxmlformats.org/officeDocument/2006/relationships/notesMaster" Target="/ppt/notesMasters/notesMaster1.xml" Id="R70f3da6cc02f4d9e" /></Relationships>
</file>

<file path=ppt/notesSlides/_rels/notesSlide9.xml.rels>&#65279;<?xml version="1.0" encoding="utf-8"?><Relationships xmlns="http://schemas.openxmlformats.org/package/2006/relationships"><Relationship Type="http://schemas.openxmlformats.org/officeDocument/2006/relationships/slide" Target="/ppt/slides/slide9.xml" Id="Rc02bd29e54a948cc" /><Relationship Type="http://schemas.openxmlformats.org/officeDocument/2006/relationships/notesMaster" Target="/ppt/notesMasters/notesMaster1.xml" Id="Rd847d25aba0b4cc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8a9e51bf6946c5" /><Relationship Type="http://schemas.openxmlformats.org/officeDocument/2006/relationships/notesMaster" Target="/ppt/notesMasters/notesMaster1.xml" Id="R756ad292a1df46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49630f9b9e645f4" /><Relationship Type="http://schemas.openxmlformats.org/officeDocument/2006/relationships/notesMaster" Target="/ppt/notesMasters/notesMaster1.xml" Id="R927dbf65305943b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a7f67ff40d0412c" /><Relationship Type="http://schemas.openxmlformats.org/officeDocument/2006/relationships/notesMaster" Target="/ppt/notesMasters/notesMaster1.xml" Id="R0092af1f78f0435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fad55757b774c4b" /><Relationship Type="http://schemas.openxmlformats.org/officeDocument/2006/relationships/notesMaster" Target="/ppt/notesMasters/notesMaster1.xml" Id="R983d237262b842f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de43fbf13274c3b" /><Relationship Type="http://schemas.openxmlformats.org/officeDocument/2006/relationships/notesMaster" Target="/ppt/notesMasters/notesMaster1.xml" Id="R2faf6079f256466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471db1f28684bbc" /><Relationship Type="http://schemas.openxmlformats.org/officeDocument/2006/relationships/notesMaster" Target="/ppt/notesMasters/notesMaster1.xml" Id="R5babfc581bf94f9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a726beae7164b10" /><Relationship Type="http://schemas.openxmlformats.org/officeDocument/2006/relationships/notesMaster" Target="/ppt/notesMasters/notesMaster1.xml" Id="R5b5ba673d353476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d49f4e352e94ee5" /><Relationship Type="http://schemas.openxmlformats.org/officeDocument/2006/relationships/notesMaster" Target="/ppt/notesMasters/notesMaster1.xml" Id="Rc8e7295757444eb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f9996aaedda46c1" /><Relationship Type="http://schemas.openxmlformats.org/officeDocument/2006/relationships/notesMaster" Target="/ppt/notesMasters/notesMaster1.xml" Id="Ra106e8923ff0446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6ccad0d9624463e" /><Relationship Type="http://schemas.openxmlformats.org/officeDocument/2006/relationships/notesMaster" Target="/ppt/notesMasters/notesMaster1.xml" Id="Rca8739eea78c468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92e5692c97243cf" /><Relationship Type="http://schemas.openxmlformats.org/officeDocument/2006/relationships/notesMaster" Target="/ppt/notesMasters/notesMaster1.xml" Id="R0efb03cccc0a4a2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54396ad32be4cb7" /><Relationship Type="http://schemas.openxmlformats.org/officeDocument/2006/relationships/notesMaster" Target="/ppt/notesMasters/notesMaster1.xml" Id="Rc66f9ce79cf74e3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03a7fa663934630" /><Relationship Type="http://schemas.openxmlformats.org/officeDocument/2006/relationships/notesMaster" Target="/ppt/notesMasters/notesMaster1.xml" Id="Re1a63dfd4976464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75dac5492de459f" /><Relationship Type="http://schemas.openxmlformats.org/officeDocument/2006/relationships/notesMaster" Target="/ppt/notesMasters/notesMaster1.xml" Id="R4bf4a16148634d8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e0b7a1a43c94f56" /><Relationship Type="http://schemas.openxmlformats.org/officeDocument/2006/relationships/notesMaster" Target="/ppt/notesMasters/notesMaster1.xml" Id="R100197ef328941b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7c00e56b4c240b6" /><Relationship Type="http://schemas.openxmlformats.org/officeDocument/2006/relationships/notesMaster" Target="/ppt/notesMasters/notesMaster1.xml" Id="Re915343720df44c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29250db57334216" /><Relationship Type="http://schemas.openxmlformats.org/officeDocument/2006/relationships/notesMaster" Target="/ppt/notesMasters/notesMaster1.xml" Id="R231e06c3445f4ce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d9e07f7ea464528" /><Relationship Type="http://schemas.openxmlformats.org/officeDocument/2006/relationships/notesMaster" Target="/ppt/notesMasters/notesMaster1.xml" Id="Rd35b4532ef3449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transcript comparisons, earlier single-recording audio feasibility, and planned multi-participant audio evaluation. Existing model and research results are retained.</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/Users/nafeekazi/Desktop/PhD/speech_pipeline_code/outputs/results/transcript_validation/lucid_results.json</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/Users/nafeekazi/Desktop/PhD/speech_pipeline_code/outputs/results/moss_pilot/evaluation.json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participants differ from usable evaluation participants. LUCID TextGrids are time-aligned human transcripts. The retained local lexical table has40 speaker IDs and240 rows. Its author-source provenance still needs independent reconfirmation. Counts and exclusions follow the immutable cohort manifest.</a:t>
            </a:r>
          </a:p>
          <a:p xmlns:a="http://schemas.openxmlformats.org/drawingml/2006/main">
            <a:r>
              <a:t/>
            </a:r>
          </a:p>
          <a:p xmlns:a="http://schemas.openxmlformats.org/drawingml/2006/main">
            <a:r>
              <a:t>Sources</a:t>
            </a:r>
          </a:p>
          <a:p xmlns:a="http://schemas.openxmlformats.org/drawingml/2006/main">
            <a:r>
              <a:t>https://valeriehazan.com/index.php/lucid-corpus-london-ucl-clear-speech-in-interaction/</a:t>
            </a:r>
          </a:p>
          <a:p xmlns:a="http://schemas.openxmlformats.org/drawingml/2006/main">
            <a:r>
              <a:t>https://talkbank.org/childes/access/Eng-NA/OCSC.html</a:t>
            </a:r>
          </a:p>
          <a:p xmlns:a="http://schemas.openxmlformats.org/drawingml/2006/main">
            <a:r>
              <a:t>https://talkbank.org/asd/access/English/NYU-Emerson.html</a:t>
            </a:r>
          </a:p>
          <a:p xmlns:a="http://schemas.openxmlformats.org/drawingml/2006/main">
            <a:r>
              <a:t>/Users/nafeekazi/Desktop/PhD/speech_pipeline_code/outputs/validation/cohorts_v1/manifest.json</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Corpus materials come from SpeechBox at Northwestern University. Full corpus also includes sentence reading and picture naming, which we did not use for this dialogue comparison. Vocoded listening simulates aspects of cochlear-implant listening. The downloaded TextGrid README explains stereo Speaker A/B tiers and the sole target-native-speaker tier for L2.</a:t>
            </a:r>
          </a:p>
          <a:p xmlns:a="http://schemas.openxmlformats.org/drawingml/2006/main">
            <a:r>
              <a:t/>
            </a:r>
          </a:p>
          <a:p xmlns:a="http://schemas.openxmlformats.org/drawingml/2006/main">
            <a:r>
              <a:t>Sources</a:t>
            </a:r>
          </a:p>
          <a:p xmlns:a="http://schemas.openxmlformats.org/drawingml/2006/main">
            <a:r>
              <a:t>https://valeriehazan.com/index.php/lucid-corpus-london-ucl-clear-speech-in-interaction/</a:t>
            </a:r>
          </a:p>
          <a:p xmlns:a="http://schemas.openxmlformats.org/drawingml/2006/main">
            <a:r>
              <a:t>/Users/nafeekazi/Desktop/PhD/speech_pipeline_code/dataset/public/lucid_published/source_docs/LUCID - TextGrid 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corpus creators from later lexical analysts: Melissa Baese-Berk and colleagues reused LUCID in2021 and shared TAALED/TAALES exports and R analysis code. Footnote2 and the Data availability statement link OSF. Current download attempts failed; local metadata alone cannot independently authenticate the historical transfer. Preserve all files and numerical results as provisional for publication. There are60 babble,60 L2,60 noBarrier and120 vocoder TextGrids. No sample is chosen by closeness to a reference score.</a:t>
            </a:r>
          </a:p>
          <a:p xmlns:a="http://schemas.openxmlformats.org/drawingml/2006/main">
            <a:r>
              <a:t/>
            </a:r>
          </a:p>
          <a:p xmlns:a="http://schemas.openxmlformats.org/drawingml/2006/main">
            <a:r>
              <a:t>Sources</a:t>
            </a:r>
          </a:p>
          <a:p xmlns:a="http://schemas.openxmlformats.org/drawingml/2006/main">
            <a:r>
              <a:t>https://doi.org/10.3389/fpsyg.2021.661415</a:t>
            </a:r>
          </a:p>
          <a:p xmlns:a="http://schemas.openxmlformats.org/drawingml/2006/main">
            <a:r>
              <a:t>https://osf.io/dfhpu/?view_only=49d95d90424941da82217a239ab7450c</a:t>
            </a:r>
          </a:p>
          <a:p xmlns:a="http://schemas.openxmlformats.org/drawingml/2006/main">
            <a:r>
              <a:t>/Users/nafeekazi/Desktop/PhD/speech_pipeline_code/outputs/results/transcript_validation/LUCID_METRIC_PROVENANCE.md</a:t>
            </a:r>
          </a:p>
          <a:p xmlns:a="http://schemas.openxmlformats.org/drawingml/2006/main">
            <a:r>
              <a:t>/Users/nafeekazi/Desktop/PhD/speech_pipeline_code/dataset/public/lucid_published/source.json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gems: ExpPictures, Howto, DescriptivePictures. Reading, alphabet, number and Wug tasks remain outside the selected discourse preparation. Two source children have no eligible discourse section. Source media include lapel-microphone audio. Published age range is4–9; local CHAT age-header minimum differs, so development medians are explicitly header-derived.</a:t>
            </a:r>
          </a:p>
          <a:p xmlns:a="http://schemas.openxmlformats.org/drawingml/2006/main">
            <a:r>
              <a:t/>
            </a:r>
          </a:p>
          <a:p xmlns:a="http://schemas.openxmlformats.org/drawingml/2006/main">
            <a:r>
              <a:t>Sources</a:t>
            </a:r>
          </a:p>
          <a:p xmlns:a="http://schemas.openxmlformats.org/drawingml/2006/main">
            <a:r>
              <a:t>https://talkbank.org/childes/access/Eng-NA/OCSC.html</a:t>
            </a:r>
          </a:p>
          <a:p xmlns:a="http://schemas.openxmlformats.org/drawingml/2006/main">
            <a:r>
              <a:t>/Users/nafeekazi/Desktop/PhD/speech_pipeline_code/outputs/validation/cohorts_v1/manifest.json</a:t>
            </a:r>
          </a:p>
          <a:p xmlns:a="http://schemas.openxmlformats.org/drawingml/2006/main">
            <a:r>
              <a:t>/Users/nafeekazi/Desktop/PhD/speech_pipeline_code/outputs/results/cv_hyperparameter_v4/NYU_EXPLANATION.md</a:t>
            </a:r>
          </a:p>
          <a:p xmlns:a="http://schemas.openxmlformats.org/drawingml/2006/main">
            <a:r>
              <a:t>https://doi.org/10.1016/j.specom.2025.103206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corpus title is NYU–Emerson Corpus. Expanded institution names are used on slides at the user’s request. Citation: Steen, Buonocore, Luyster, Sancimino and Arunachalam2026. The current release contains30 autistic children, not the larger parent-study sample. Two excluded sources remain assigned to original train but supply no prepared records.</a:t>
            </a:r>
          </a:p>
          <a:p xmlns:a="http://schemas.openxmlformats.org/drawingml/2006/main">
            <a:r>
              <a:t/>
            </a:r>
          </a:p>
          <a:p xmlns:a="http://schemas.openxmlformats.org/drawingml/2006/main">
            <a:r>
              <a:t>Sources</a:t>
            </a:r>
          </a:p>
          <a:p xmlns:a="http://schemas.openxmlformats.org/drawingml/2006/main">
            <a:r>
              <a:t>https://talkbank.org/asd/access/English/NYU-Emerson.html</a:t>
            </a:r>
          </a:p>
          <a:p xmlns:a="http://schemas.openxmlformats.org/drawingml/2006/main">
            <a:r>
              <a:t>/Users/nafeekazi/Desktop/PhD/speech_pipeline_code/outputs/validation/cohorts_v1/manifest.json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Cohorts are participant-independent and immutable. Original NYU train assigns22 children, of whom20 have eligible sections. Historical test exposure remains documented; these existing test values are descriptive evaluation, not a claim of newly unexposed confirmation. No participant reshuffling occurred.</a:t>
            </a:r>
          </a:p>
          <a:p xmlns:a="http://schemas.openxmlformats.org/drawingml/2006/main">
            <a:r>
              <a:t/>
            </a:r>
          </a:p>
          <a:p xmlns:a="http://schemas.openxmlformats.org/drawingml/2006/main">
            <a:r>
              <a:t>Sources</a:t>
            </a:r>
          </a:p>
          <a:p xmlns:a="http://schemas.openxmlformats.org/drawingml/2006/main">
            <a:r>
              <a:t>/Users/nafeekazi/Desktop/PhD/speech_pipeline_code/outputs/validation/cohorts_v1/manifest.json</a:t>
            </a:r>
          </a:p>
          <a:p xmlns:a="http://schemas.openxmlformats.org/drawingml/2006/main">
            <a:r>
              <a:t>/Users/nafeekazi/Desktop/PhD/speech_pipeline_code/outputs/validation/cohorts_v1/AUDIT.md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803 Ohio sections plus92 parent–child sections equals895. Exclusions: two Ohio children lack selected discourse tasks; two parent–child sources lack eligible boundary gaps. They are unavailable for this comparison, never zero-error results. All333 raw CHAT files remain preserved.</a:t>
            </a:r>
          </a:p>
          <a:p xmlns:a="http://schemas.openxmlformats.org/drawingml/2006/main">
            <a:r>
              <a:t/>
            </a:r>
          </a:p>
          <a:p xmlns:a="http://schemas.openxmlformats.org/drawingml/2006/main">
            <a:r>
              <a:t>Sources</a:t>
            </a:r>
          </a:p>
          <a:p xmlns:a="http://schemas.openxmlformats.org/drawingml/2006/main">
            <a:r>
              <a:t>/Users/nafeekazi/Desktop/PhD/speech_pipeline_code/outputs/validation/cohorts_v1/manifest.json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five-step abstraction as the simplified Excalidraw pipeline. Detailed implementation: lexical calculations use the historical TAALED compatibility branch; predicted utterances export faithful CHAT and native CLAN computes surface measures. The retained workflow is turn_ml, margin0.25. Human utterance cuts are withheld at inference. Consecutive same-speaker human rows merge into observed turns; that context remains available.</a:t>
            </a:r>
          </a:p>
          <a:p xmlns:a="http://schemas.openxmlformats.org/drawingml/2006/main">
            <a:r>
              <a:t/>
            </a:r>
          </a:p>
          <a:p xmlns:a="http://schemas.openxmlformats.org/drawingml/2006/main">
            <a:r>
              <a:t>Sources</a:t>
            </a:r>
          </a:p>
          <a:p xmlns:a="http://schemas.openxmlformats.org/drawingml/2006/main">
            <a:r>
              <a:t>/Users/nafeekazi/Desktop/PhD/speech_pipeline_code/outputs/flowcharts/all_pipelines_simple.excalidraw</a:t>
            </a:r>
          </a:p>
          <a:p xmlns:a="http://schemas.openxmlformats.org/drawingml/2006/main">
            <a:r>
              <a:t>/Users/nafeekazi/Desktop/PhD/speech_pipeline_code/outputs/results/cv_hyperparameter_v4/PIPELINE.md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a pretrained encoder with task-specific learned components, fine-tuned jointly. Architecture: MiniLM-L12-H384-uncased,16-dimensional rule embedding and128-unit GELU/dropout gap classifier. Historical TAALED conventions are a fixed software profile, not a model trained on LUCID. Current spaCy software remains in use; historical environment was not reconstructed exactly.</a:t>
            </a:r>
          </a:p>
          <a:p xmlns:a="http://schemas.openxmlformats.org/drawingml/2006/main">
            <a:r>
              <a:t/>
            </a:r>
          </a:p>
          <a:p xmlns:a="http://schemas.openxmlformats.org/drawingml/2006/main">
            <a:r>
              <a:t>Sources</a:t>
            </a:r>
          </a:p>
          <a:p xmlns:a="http://schemas.openxmlformats.org/drawingml/2006/main">
            <a:r>
              <a:t>https://huggingface.co/microsoft/MiniLM-L12-H384-uncased</a:t>
            </a:r>
          </a:p>
          <a:p xmlns:a="http://schemas.openxmlformats.org/drawingml/2006/main">
            <a:r>
              <a:t>https://talkbank.org/manuals/CLAN.pdf</a:t>
            </a:r>
          </a:p>
          <a:p xmlns:a="http://schemas.openxmlformats.org/drawingml/2006/main">
            <a:r>
              <a:t>https://www.linguisticanalysistools.org/taaled.html</a:t>
            </a:r>
          </a:p>
          <a:p xmlns:a="http://schemas.openxmlformats.org/drawingml/2006/main">
            <a:r>
              <a:t>/Users/nafeekazi/Desktop/PhD/speech_pipeline_code/speech_pipeline/segmentation.py</a:t>
            </a:r>
          </a:p>
          <a:p xmlns:a="http://schemas.openxmlformats.org/drawingml/2006/main">
            <a:r>
              <a:t>/Users/nafeekazi/Desktop/PhD/speech_pipeline_code/speech_pipeline/lexical_compat.py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APE=100*abs(predicted-reference)/abs(reference). Undefined/zero denominators remain missing. Native FREQ and MLU have different word eligibility. Eligible count differs from all verbal units. LUCID uses per-recording values, then speaker averaging. Our percentage errors and engineering targets are our evaluation outputs, not paper-reported model accuracy.</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/Users/nafeekazi/Desktop/PhD/speech_pipeline_code/outputs/results/transcript_validation/lucid_results.json</a:t>
            </a:r>
          </a:p>
          <a:p xmlns:a="http://schemas.openxmlformats.org/drawingml/2006/main">
            <a:r>
              <a:t>https://talkbank.org/manuals/CLAN.pdf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Earlier production selection favored observed-turn ML, margin0.25. An initial batching inconsistency was caught and calibration reran through original preprocessing with exact parity checks. A single-evaluation ensemble branch was superseded by the participant-CV search. The fourth training configuration stopped in fold1. The lexical and native-scoring changes did not rewrite source words. No new final fit or activation occurred after the user stopped further experiments.</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/Users/nafeekazi/Desktop/PhD/speech_pipeline_code/outputs/results/transcript_validation/REPORT.md</a:t>
            </a:r>
          </a:p>
          <a:p xmlns:a="http://schemas.openxmlformats.org/drawingml/2006/main">
            <a:r>
              <a:t>/Users/nafeekazi/Desktop/PhD/speech_pipeline_code/outputs/results/cv_hyperparameter_v4/METHODS.md</a:t>
            </a:r>
          </a:p>
          <a:p xmlns:a="http://schemas.openxmlformats.org/drawingml/2006/main">
            <a:r>
              <a:t>/Users/nafeekazi/Desktop/PhD/speech_pipeline_code/outputs/results/cv_hyperparameter_v4/stopped_search_summary.json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fold has147–148 fit children,37 inner children and46–47 CV-heldout children. Original evaluation/test participants stay outside recipe comparison. Same folds across configurations. Objective equally averages count, MLUw and length-SD participant APE over the two child corpora. This is a tuning objective, not an unbiased final accuracy estimate. Baseline is best completed combined score13.1602309. Fold means/SD:13.16256±2.47768,13.36125±2.68190,13.52578±3.09875. The baseline folds were reusable only after initialization/role/recipe checks. Three configurations correspond to15 completed assessments. No new final fit, test or model activation followed.</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/Users/nafeekazi/Desktop/PhD/speech_pipeline_code/outputs/results/cv_hyperparameter_v4/METHODS.md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provenance remains pending as described in the source-data slide. Exact historical cleaned indexN.txt inputs and full software configuration remain unavailable. LUCID has no gold utterance/MLU reference and supplies no boundary training. Do not choose a source recording by numeric agreement. Current coverage180 scored/60 vocoder ambiguous.</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/Users/nafeekazi/Desktop/PhD/speech_pipeline_code/outputs/results/transcript_validation/LUCID_METRIC_PROVENANCE.md</a:t>
            </a:r>
          </a:p>
          <a:p xmlns:a="http://schemas.openxmlformats.org/drawingml/2006/main">
            <a:r>
              <a:t>/Users/nafeekazi/Desktop/PhD/speech_pipeline_code/outputs/results/transcript_validation/lucid_results.json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TAALED=Tool for the Automatic Analysis of Lexical Diversity, developed by Kristopher Kyle with Scott Crossley and Scott Jarvis. Baese-Berk etal2021 used TAALED diversity and TAALES sophistication, and shared an OSF export and R analysis script. The local reference identity requires independent reconfirmation before publication. We did not reproduce TAALES outputs, figure4 moving-average MTLD, mixed-model coefficients or p-values. Compared15 columns: basic_ntokens,basic_ntypes,basic_ncontent_tokens,basic_ncontent_types,basic_nfunction_tokens,basic_nfunction_types,lexical_density_tokens,lexical_density_types,simple_ttr_aw,log_ttr_aw,maas_ttr_aw,mattr50_aw,msttr50_aw,hdd42_aw,mtld_original_aw.</a:t>
            </a:r>
          </a:p>
          <a:p xmlns:a="http://schemas.openxmlformats.org/drawingml/2006/main">
            <a:r>
              <a:t/>
            </a:r>
          </a:p>
          <a:p xmlns:a="http://schemas.openxmlformats.org/drawingml/2006/main">
            <a:r>
              <a:t>Sources</a:t>
            </a:r>
          </a:p>
          <a:p xmlns:a="http://schemas.openxmlformats.org/drawingml/2006/main">
            <a:r>
              <a:t>https://doi.org/10.3389/fpsyg.2021.661415</a:t>
            </a:r>
          </a:p>
          <a:p xmlns:a="http://schemas.openxmlformats.org/drawingml/2006/main">
            <a:r>
              <a:t>https://osf.io/dfhpu/?view_only=49d95d90424941da82217a239ab7450c</a:t>
            </a:r>
          </a:p>
          <a:p xmlns:a="http://schemas.openxmlformats.org/drawingml/2006/main">
            <a:r>
              <a:t>https://www.linguisticanalysistools.org/taaled.html</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English-learner partner condition is coded L2 in the reference file. Each scored condition includes60 samples from20 speakers. All240 local reference rows remain visible in coverage. All15 shared means meet project engineering targets in babble/L2, but those thresholds are internal goals, not clinical standards. No-barrier discrepancies may include source matching and preparation differences. These are lexical transcript comparisons, not ASR or boundary-model accuracy.</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/Users/nafeekazi/Desktop/PhD/speech_pipeline_code/outputs/results/transcript_validation/lucid_results.json</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301 usable children and803 selected discourse sections. Retained test contains45 children and111 sections. Gold utterance ends remain outside inference. Observed speaker turns remain available. We preserve source words; plain predicted CHAT does not fabricate retrace, error, morphology, grammar or maze annotations.</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/Users/nafeekazi/Desktop/PhD/speech_pipeline_code/outputs/validation/cohorts_v1/manifest.json</a:t>
            </a:r>
          </a:p>
          <a:p xmlns:a="http://schemas.openxmlformats.org/drawingml/2006/main">
            <a:r>
              <a:t>https://talkbank.org/manuals/CLAN.pdf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retained workflowturn_ml/margin0.25, not the later CV fold models. Available sections111 for word counts,TTR,eligible count,MLUw,104 forMATTR,109 forSD. All45 participants contribute. Missing values stay missing. Engineering goals5% for count/MLU and10% forSD remain unmet. Historical test exposure remains documented.</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nameNYU–Emerson Corpus.28 usable children/92 selected sections. Two assigned training children lack eligible boundary gaps. Human coding and CLAN eligibility remain in the reference; predictions do not invent missing annotation information. The same frozen retained model supplies the existing test result.</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/Users/nafeekazi/Desktop/PhD/speech_pipeline_code/outputs/validation/cohorts_v1/manifest.json</a:t>
            </a:r>
          </a:p>
          <a:p xmlns:a="http://schemas.openxmlformats.org/drawingml/2006/main">
            <a:r>
              <a:t>https://talkbank.org/manuals/CLAN.pdf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All15 sections and4 children contribute to the displayed measures. NYU length-SD error13.70% is slightly lower than Ohio14.24%; the deficit is not universal across metrics. Existing tests and later CV tuning represent different fitted models and evaluation roles. No new final fit/test followed the CV search.</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 refers to eligible MLU utterances. Length error refers toMLUw. Earlier fixed-recipe v1 values are historical and use that protocol. The paired within-v4 baseline versus lower-count comparison uses the same folds and selection policy. Lower-count configuration has the best completed Ohio three-metric mean. Higher learning rate gives9.08/9.06/14.44 but a worse three-metric mean; no minimum-cell combination is claimed. Production remains retained.</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/Users/nafeekazi/Desktop/PhD/speech_pipeline_code/outputs/results/cv_hyperparameter_v4/REPORT.md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pools five different heldout models under one consistent recipe. These are tuning values, not heldout final-test improvements. Baseline is best combined and best NYU three-metric mean among completed settings. Fourth configuration is excluded entirely. No new final fit, test or model activation followed.</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/Users/nafeekazi/Desktop/PhD/speech_pipeline_code/outputs/results/cv_hyperparameter_v4/METHODS.md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Profiles use original train+eval only. Training words5336 vs229378; native reference FREQ/MLU word-total gaps7.22% vs1.79%. NYU has more masked supervision near unintelligibility. Corpus-balanced sampling does not create additional independent children. BoundaryF1 in preceding CV wasNYU88.81% vsOhio87.22%, so the difficulty is metric-specific. LUCID checks a different lexical component; no-barrier discrepancies may involve source/preparation differences and vocoder matching remains ambiguous.</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/Users/nafeekazi/Desktop/PhD/speech_pipeline_code/outputs/results/cv_hyperparameter_v4/NYU_EXPLANATION.md</a:t>
            </a:r>
          </a:p>
          <a:p xmlns:a="http://schemas.openxmlformats.org/drawingml/2006/main">
            <a:r>
              <a:t>/Users/nafeekazi/Desktop/PhD/speech_pipeline_code/outputs/validation/cv_hyperparameter_v4/development_input_profile.json</a:t>
            </a:r>
          </a:p>
          <a:p xmlns:a="http://schemas.openxmlformats.org/drawingml/2006/main">
            <a:r>
              <a:t>/Users/nafeekazi/Desktop/PhD/speech_pipeline_code/outputs/validation/cv_hyperparameter_v4/development_age_profile.json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saved pilot, not a new run. OCSC4002 ExpPictures,300.021s. ChildWER18.8172% uses oracle minimum-edit role mapping after ASR, not reference text supplied to generation. Native metric rowlatest_minilm_native_clan. Reference72utterances/179words versus predicted70/174 gives near-identical MLU ratios; small MLU error alone does not establish general accuracy. Reported SD/MATTR retain native three-decimal precision. Saved raw output and audio hashes match the manifest/evaluation. Keep this single-recording evidence separate from participant test summaries.</a:t>
            </a:r>
          </a:p>
          <a:p xmlns:a="http://schemas.openxmlformats.org/drawingml/2006/main">
            <a:r>
              <a:t/>
            </a:r>
          </a:p>
          <a:p xmlns:a="http://schemas.openxmlformats.org/drawingml/2006/main">
            <a:r>
              <a:t>Sources</a:t>
            </a:r>
          </a:p>
          <a:p xmlns:a="http://schemas.openxmlformats.org/drawingml/2006/main">
            <a:r>
              <a:t>/Users/nafeekazi/Desktop/PhD/speech_pipeline_code/outputs/results/moss_pilot/evaluation.json</a:t>
            </a:r>
          </a:p>
          <a:p xmlns:a="http://schemas.openxmlformats.org/drawingml/2006/main">
            <a:r>
              <a:t>/Users/nafeekazi/Desktop/PhD/speech_pipeline_code/outputs/results/moss_pilot/REPORT.md</a:t>
            </a:r>
          </a:p>
          <a:p xmlns:a="http://schemas.openxmlformats.org/drawingml/2006/main">
            <a:r>
              <a:t>/Users/nafeekazi/Desktop/PhD/speech_pipeline_code/outputs/validation/moss_pilot/precision_audit.json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ASR=automatic speech recognition. Future multi-participant evaluation extends the earlier feasibility pilot. Review target-speaker/channel mapping, time intervals, privacy edits and word eligibility before scoring. Preserve cohort assignments. Use human transcripts to measure word error rate, then downstream language-measure differences. This slide describes planned work, not completed cohort audio results.</a:t>
            </a:r>
          </a:p>
          <a:p xmlns:a="http://schemas.openxmlformats.org/drawingml/2006/main">
            <a:r>
              <a:t/>
            </a:r>
          </a:p>
          <a:p xmlns:a="http://schemas.openxmlformats.org/drawingml/2006/main">
            <a:r>
              <a:t>Sources</a:t>
            </a:r>
          </a:p>
          <a:p xmlns:a="http://schemas.openxmlformats.org/drawingml/2006/main">
            <a:r>
              <a:t>/Users/nafeekazi/Desktop/PhD/speech_pipeline_code/scripts/README_AUDIO_DOWNLOAD.md</a:t>
            </a:r>
          </a:p>
          <a:p xmlns:a="http://schemas.openxmlformats.org/drawingml/2006/main">
            <a:r>
              <a:t>/Users/nafeekazi/Desktop/PhD/speech_pipeline_code/outputs/flowcharts/all_pipelines_simple.excalidraw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study plan describes10 autistic participants and37 recordings aged8–17. Bulk acquisition and multi-participant audio evaluation remain pending. Download script inventories301 Ohio,28 parent–child and300 LUCID recordings, preserving roles. LUCID WAV storage alone29.09GiB; TalkBank requires authorized session cookies. Existing audio includes one LUCID WAV and the earlier Ohio pilot excerpt. Do not restart the user-stopped training search or contact authors without a new instruction.</a:t>
            </a:r>
          </a:p>
          <a:p xmlns:a="http://schemas.openxmlformats.org/drawingml/2006/main">
            <a:r>
              <a:t/>
            </a:r>
          </a:p>
          <a:p xmlns:a="http://schemas.openxmlformats.org/drawingml/2006/main">
            <a:r>
              <a:t>Sources</a:t>
            </a:r>
          </a:p>
          <a:p xmlns:a="http://schemas.openxmlformats.org/drawingml/2006/main">
            <a:r>
              <a:t>/Users/nafeekazi/Desktop/PhD/speech_pipeline_code/SESSION_HANDOFF.md</a:t>
            </a:r>
          </a:p>
          <a:p xmlns:a="http://schemas.openxmlformats.org/drawingml/2006/main">
            <a:r>
              <a:t>/Users/nafeekazi/Desktop/PhD/speech_pipeline_code/scripts/README_AUDIO_DOWNLOAD.md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a:t>
            </a:r>
          </a:p>
          <a:p xmlns:a="http://schemas.openxmlformats.org/drawingml/2006/main">
            <a:r>
              <a:t>ohio: https://talkbank.org/childes/access/Eng-NA/OCSC.html</a:t>
            </a:r>
          </a:p>
          <a:p xmlns:a="http://schemas.openxmlformats.org/drawingml/2006/main">
            <a:r>
              <a:t>parent: https://talkbank.org/asd/access/English/NYU-Emerson.html</a:t>
            </a:r>
          </a:p>
          <a:p xmlns:a="http://schemas.openxmlformats.org/drawingml/2006/main">
            <a:r>
              <a:t>lucid: https://valeriehazan.com/index.php/lucid-corpus-london-ucl-clear-speech-in-interaction/</a:t>
            </a:r>
          </a:p>
          <a:p xmlns:a="http://schemas.openxmlformats.org/drawingml/2006/main">
            <a:r>
              <a:t>paper: https://doi.org/10.3389/fpsyg.2021.661415</a:t>
            </a:r>
          </a:p>
          <a:p xmlns:a="http://schemas.openxmlformats.org/drawingml/2006/main">
            <a:r>
              <a:t>osf: https://osf.io/dfhpu/?view_only=49d95d90424941da82217a239ab7450c</a:t>
            </a:r>
          </a:p>
          <a:p xmlns:a="http://schemas.openxmlformats.org/drawingml/2006/main">
            <a:r>
              <a:t>clan: https://talkbank.org/manuals/CLAN.pdf</a:t>
            </a:r>
          </a:p>
          <a:p xmlns:a="http://schemas.openxmlformats.org/drawingml/2006/main">
            <a:r>
              <a:t>taaled: https://www.linguisticanalysistools.org/taaled.html</a:t>
            </a:r>
          </a:p>
          <a:p xmlns:a="http://schemas.openxmlformats.org/drawingml/2006/main">
            <a:r>
              <a:t>model: https://huggingface.co/microsoft/MiniLM-L12-H384-uncased</a:t>
            </a:r>
          </a:p>
          <a:p xmlns:a="http://schemas.openxmlformats.org/drawingml/2006/main">
            <a:r>
              <a:t/>
            </a:r>
          </a:p>
          <a:p xmlns:a="http://schemas.openxmlformats.org/drawingml/2006/main">
            <a:r>
              <a:t>Local result records</a:t>
            </a:r>
          </a:p>
          <a:p xmlns:a="http://schemas.openxmlformats.org/drawingml/2006/main">
            <a:r>
              <a:t>chat: /Users/nafeekazi/Desktop/PhD/speech_pipeline_code/outputs/results/transcript_validation/chat_calibrated_results.json</a:t>
            </a:r>
          </a:p>
          <a:p xmlns:a="http://schemas.openxmlformats.org/drawingml/2006/main">
            <a:r>
              <a:t>lucid: /Users/nafeekazi/Desktop/PhD/speech_pipeline_code/outputs/results/transcript_validation/lucid_results.json</a:t>
            </a:r>
          </a:p>
          <a:p xmlns:a="http://schemas.openxmlformats.org/drawingml/2006/main">
            <a:r>
              <a:t>cv: /Users/nafeekazi/Desktop/PhD/speech_pipeline_code/outputs/results/cv_hyperparameter_v4/stopped_search_summary.json</a:t>
            </a:r>
          </a:p>
          <a:p xmlns:a="http://schemas.openxmlformats.org/drawingml/2006/main">
            <a:r>
              <a:t>cohorts: /Users/nafeekazi/Desktop/PhD/speech_pipeline_code/outputs/validation/cohorts_v1/manifest.json</a:t>
            </a:r>
          </a:p>
          <a:p xmlns:a="http://schemas.openxmlformats.org/drawingml/2006/main">
            <a:r>
              <a:t>provenance: /Users/nafeekazi/Desktop/PhD/speech_pipeline_code/outputs/results/transcript_validation/LUCID_METRIC_PROVENANCE.md</a:t>
            </a:r>
          </a:p>
          <a:p xmlns:a="http://schemas.openxmlformats.org/drawingml/2006/main">
            <a:r>
              <a:t>explain: /Users/nafeekazi/Desktop/PhD/speech_pipeline_code/outputs/results/cv_hyperparameter_v4/NYU_EXPLANATION.md</a:t>
            </a:r>
          </a:p>
          <a:p xmlns:a="http://schemas.openxmlformats.org/drawingml/2006/main">
            <a:r>
              <a:t>methods: /Users/nafeekazi/Desktop/PhD/speech_pipeline_code/outputs/results/cv_hyperparameter_v4/METHODS.md</a:t>
            </a:r>
          </a:p>
          <a:p xmlns:a="http://schemas.openxmlformats.org/drawingml/2006/main">
            <a:r>
              <a:t>pilot: /Users/nafeekazi/Desktop/PhD/speech_pipeline_code/outputs/results/moss_pilot/evaluation.json</a:t>
            </a:r>
          </a:p>
          <a:p xmlns:a="http://schemas.openxmlformats.org/drawingml/2006/main">
            <a:r>
              <a:t>Official title for the parent–child corpus is NYU–Emerson Corpus. Slide labels expand the institutional abbreviations as requested.</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43691771324ad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8af55060497419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739dc402d7e4d2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e80bd56f8b416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ddd94e619a2461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d48a69bfa7491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631d8d6f050443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F88494-E263-4D1A-B99F-FD32A81D847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2D27E26-4E1F-40A4-89D1-9A7F639857F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F32B6CC-AA63-49E7-8F6C-BF0A40A6B2A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7D2C2A-4D16-4776-B24D-97FC507E64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7FFD5B2-A8F3-4D22-AA6F-6BDDD03673D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69A1ED6-C094-45BB-9B70-A9036CF087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2E04088-E36A-4C7E-BD1C-84B51E9C11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75536B3-1F6C-4CA6-AE6E-791F656C68C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8682A0-325E-43AA-958C-7B0FF5486C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57E18E-325E-4A3C-B69E-219B308FC97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Title and Content">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xfrm xmlns:a="http://schemas.openxmlformats.org/drawingml/2006/main">
            <a:off x="609600" y="3810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07cf00b28443ad" /><Relationship Type="http://schemas.openxmlformats.org/officeDocument/2006/relationships/slideLayout" Target="/ppt/slideLayouts/slideLayout1.xml" Id="R58d9ec57ffcf452d" /><Relationship Type="http://schemas.openxmlformats.org/officeDocument/2006/relationships/slideLayout" Target="/ppt/slideLayouts/slideLayout2.xml" Id="R9210670a0b884b5c" /><Relationship Type="http://schemas.openxmlformats.org/officeDocument/2006/relationships/slideLayout" Target="/ppt/slideLayouts/slideLayout3.xml" Id="R39a07732239c4443" /><Relationship Type="http://schemas.openxmlformats.org/officeDocument/2006/relationships/slideLayout" Target="/ppt/slideLayouts/slideLayout4.xml" Id="Rbf1933ca62ec49df" /><Relationship Type="http://schemas.openxmlformats.org/officeDocument/2006/relationships/slideLayout" Target="/ppt/slideLayouts/slideLayout5.xml" Id="R375d94a7377c4d23" /><Relationship Type="http://schemas.openxmlformats.org/officeDocument/2006/relationships/slideLayout" Target="/ppt/slideLayouts/slideLayout6.xml" Id="Rbac62033b9c24222"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c30bd53571b14478" /><Relationship Type="http://schemas.openxmlformats.org/officeDocument/2006/relationships/slideLayout" Target="/ppt/slideLayouts/slideLayout7.xml" Id="R654e4c5b6e3346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d9ec57ffcf452d"/>
    <p:sldLayoutId xmlns:r="http://schemas.openxmlformats.org/officeDocument/2006/relationships" id="2147483650" r:id="R9210670a0b884b5c"/>
    <p:sldLayoutId xmlns:r="http://schemas.openxmlformats.org/officeDocument/2006/relationships" id="2147483651" r:id="R39a07732239c4443"/>
    <p:sldLayoutId xmlns:r="http://schemas.openxmlformats.org/officeDocument/2006/relationships" id="2147483652" r:id="Rbf1933ca62ec49df"/>
    <p:sldLayoutId xmlns:r="http://schemas.openxmlformats.org/officeDocument/2006/relationships" id="2147483653" r:id="R375d94a7377c4d23"/>
    <p:sldLayoutId xmlns:r="http://schemas.openxmlformats.org/officeDocument/2006/relationships" id="2147483654" r:id="Rbac62033b9c242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Office Theme">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654e4c5b6e3346dc"/>
  </p:sldLayoutIdLst>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acbab54dba2c433f" /><Relationship Type="http://schemas.openxmlformats.org/officeDocument/2006/relationships/notesSlide" Target="/ppt/notesSlides/notesSlide1.xml" Id="R30a3682c88e949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8c11414dd7584233" /><Relationship Type="http://schemas.openxmlformats.org/officeDocument/2006/relationships/notesSlide" Target="/ppt/notesSlides/notesSlide2.xml" Id="R5a05a9b0693a46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a1684fbb34ba448d" /><Relationship Type="http://schemas.openxmlformats.org/officeDocument/2006/relationships/notesSlide" Target="/ppt/notesSlides/notesSlide3.xml" Id="R4a50ed55943646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c9486ed25c5b48e7" /><Relationship Type="http://schemas.openxmlformats.org/officeDocument/2006/relationships/notesSlide" Target="/ppt/notesSlides/notesSlide4.xml" Id="R2a7bb5f9312240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f2ecee8171974d84" /><Relationship Type="http://schemas.openxmlformats.org/officeDocument/2006/relationships/notesSlide" Target="/ppt/notesSlides/notesSlide5.xml" Id="Re08ed5b8d4da49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9f1ee1668aa94f2f" /><Relationship Type="http://schemas.openxmlformats.org/officeDocument/2006/relationships/notesSlide" Target="/ppt/notesSlides/notesSlide6.xml" Id="R88b3a43e8c4d40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f8d94c9414524c6c" /><Relationship Type="http://schemas.openxmlformats.org/officeDocument/2006/relationships/notesSlide" Target="/ppt/notesSlides/notesSlide7.xml" Id="R7337d1a1b0cb44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23bf251091a14974" /><Relationship Type="http://schemas.openxmlformats.org/officeDocument/2006/relationships/notesSlide" Target="/ppt/notesSlides/notesSlide8.xml" Id="R1c1b0ddff96243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a249db6a98fe4b8f" /><Relationship Type="http://schemas.openxmlformats.org/officeDocument/2006/relationships/notesSlide" Target="/ppt/notesSlides/notesSlide9.xml" Id="R3355b559514244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5f9c33877390475b" /><Relationship Type="http://schemas.openxmlformats.org/officeDocument/2006/relationships/notesSlide" Target="/ppt/notesSlides/notesSlide10.xml" Id="Rc7092be855b84f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88ce20e2420a4fff" /><Relationship Type="http://schemas.openxmlformats.org/officeDocument/2006/relationships/notesSlide" Target="/ppt/notesSlides/notesSlide11.xml" Id="Re59043248b674e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0c9618aea8534537" /><Relationship Type="http://schemas.openxmlformats.org/officeDocument/2006/relationships/notesSlide" Target="/ppt/notesSlides/notesSlide12.xml" Id="R661713322028423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2751a2a46253402d" /><Relationship Type="http://schemas.openxmlformats.org/officeDocument/2006/relationships/notesSlide" Target="/ppt/notesSlides/notesSlide13.xml" Id="Rffcdb12c76db403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5d097a234f564103" /><Relationship Type="http://schemas.openxmlformats.org/officeDocument/2006/relationships/notesSlide" Target="/ppt/notesSlides/notesSlide14.xml" Id="R40cab858f7f04ec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dd3dcebfeef9495a" /><Relationship Type="http://schemas.openxmlformats.org/officeDocument/2006/relationships/notesSlide" Target="/ppt/notesSlides/notesSlide15.xml" Id="R23c2c42689674fe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fd9acde252b44cc9" /><Relationship Type="http://schemas.openxmlformats.org/officeDocument/2006/relationships/notesSlide" Target="/ppt/notesSlides/notesSlide16.xml" Id="Redfc69c598ec47c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006aa26baad047a9" /><Relationship Type="http://schemas.openxmlformats.org/officeDocument/2006/relationships/notesSlide" Target="/ppt/notesSlides/notesSlide17.xml" Id="R2d568114b08d4c3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a7fc9af5e90b4197" /><Relationship Type="http://schemas.openxmlformats.org/officeDocument/2006/relationships/notesSlide" Target="/ppt/notesSlides/notesSlide18.xml" Id="Rd3d7ea585d084f6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021b683b4eb74d7d" /><Relationship Type="http://schemas.openxmlformats.org/officeDocument/2006/relationships/notesSlide" Target="/ppt/notesSlides/notesSlide19.xml" Id="R025e00f1ccbd423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4083bdb68f224a73" /><Relationship Type="http://schemas.openxmlformats.org/officeDocument/2006/relationships/notesSlide" Target="/ppt/notesSlides/notesSlide20.xml" Id="R00c7b93443f94e4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8dadd84e5895466d" /><Relationship Type="http://schemas.openxmlformats.org/officeDocument/2006/relationships/notesSlide" Target="/ppt/notesSlides/notesSlide21.xml" Id="R28ffa055acb3487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68cba6723c6e449d" /><Relationship Type="http://schemas.openxmlformats.org/officeDocument/2006/relationships/notesSlide" Target="/ppt/notesSlides/notesSlide22.xml" Id="R23ebd45e507c4fb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24e5dc23396d42d2" /><Relationship Type="http://schemas.openxmlformats.org/officeDocument/2006/relationships/notesSlide" Target="/ppt/notesSlides/notesSlide23.xml" Id="R3e6632cb979146c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378187bfab654777" /><Relationship Type="http://schemas.openxmlformats.org/officeDocument/2006/relationships/notesSlide" Target="/ppt/notesSlides/notesSlide24.xml" Id="R11224fc9594f4b0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24acf1cefe034829" /><Relationship Type="http://schemas.openxmlformats.org/officeDocument/2006/relationships/notesSlide" Target="/ppt/notesSlides/notesSlide25.xml" Id="Re788ecd307dc48a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29d823424c4e4fb4" /><Relationship Type="http://schemas.openxmlformats.org/officeDocument/2006/relationships/notesSlide" Target="/ppt/notesSlides/notesSlide26.xml" Id="R6612a0e1a4be413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7.xml" Id="R9fabb460f8f64fc3" /><Relationship Type="http://schemas.openxmlformats.org/officeDocument/2006/relationships/notesSlide" Target="/ppt/notesSlides/notesSlide27.xml" Id="R2053397c6dbb45b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350" b="0">
                <a:solidFill>
                  <a:srgbClr val="000000"/>
                </a:solidFill>
                <a:latin typeface="Aptos Display"/>
                <a:ea typeface="Aptos Display"/>
                <a:cs typeface="Aptos Display"/>
              </a:defRPr>
            </a:defPPr>
          </a:lstStyle>
          <a:p xmlns:a="http://schemas.openxmlformats.org/drawingml/2006/main">
            <a:pPr>
              <a:defRPr sz="4350" b="0">
                <a:solidFill>
                  <a:srgbClr val="000000"/>
                </a:solidFill>
                <a:latin typeface="Aptos Display"/>
                <a:ea typeface="Aptos Display"/>
                <a:cs typeface="Aptos Display"/>
              </a:defRPr>
            </a:pPr>
            <a:r>
              <a:rPr sz="4350" b="0">
                <a:solidFill>
                  <a:srgbClr val="000000"/>
                </a:solidFill>
                <a:latin typeface="Aptos Display"/>
                <a:ea typeface="Aptos Display"/>
                <a:cs typeface="Aptos Display"/>
              </a:rPr>
              <a:t>Speech pipeline</a:t>
            </a:r>
          </a:p>
        </p:txBody>
      </p:sp>
      <p:sp>
        <p:nvSpPr>
          <p:cNvPr id="2" name="">
            <a:extLst xmlns:a="http://schemas.openxmlformats.org/drawingml/2006/main">
              <a:ext uri="{FF2B5EF4-FFF2-40B4-BE49-F238E27FC236}">
                <a16:creationId xmlns:a16="http://schemas.microsoft.com/office/drawing/2014/main" id="{294AFB44-2386-41FE-B107-5DCC05BDDB58}"/>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Datasets, methods, results and next steps</a:t>
            </a:r>
          </a:p>
        </p:txBody>
      </p:sp>
      <p:sp>
        <p:nvSpPr>
          <p:cNvPr id="3" name="">
            <a:extLst xmlns:a="http://schemas.openxmlformats.org/drawingml/2006/main">
              <a:ext uri="{FF2B5EF4-FFF2-40B4-BE49-F238E27FC236}">
                <a16:creationId xmlns:a16="http://schemas.microsoft.com/office/drawing/2014/main" id="{4786A1A8-9CA5-44BE-8E42-08E9EFF417CF}"/>
              </a:ext>
            </a:extLst>
          </p:cNvPr>
          <p:cNvSpPr>
            <a:spLocks xmlns:a="http://schemas.openxmlformats.org/drawingml/2006/main" noGrp="1"/>
          </p:cNvSpPr>
          <p:nvPr/>
        </p:nvSpPr>
        <p:spPr>
          <a:xfrm xmlns:a="http://schemas.openxmlformats.org/drawingml/2006/main">
            <a:off x="628650" y="2381250"/>
            <a:ext cx="10858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000000"/>
                </a:solidFill>
                <a:latin typeface="Aptos"/>
                <a:ea typeface="Aptos"/>
                <a:cs typeface="Aptos"/>
              </a:defRPr>
            </a:defPPr>
          </a:lstStyle>
          <a:p xmlns:a="http://schemas.openxmlformats.org/drawingml/2006/main">
            <a:pPr algn="l">
              <a:defRPr sz="2700" b="0">
                <a:solidFill>
                  <a:srgbClr val="000000"/>
                </a:solidFill>
                <a:latin typeface="Aptos"/>
                <a:ea typeface="Aptos"/>
                <a:cs typeface="Aptos"/>
              </a:defRPr>
            </a:pPr>
            <a:r>
              <a:rPr sz="2700" b="0">
                <a:solidFill>
                  <a:srgbClr val="000000"/>
                </a:solidFill>
                <a:latin typeface="Aptos"/>
                <a:ea typeface="Aptos"/>
                <a:cs typeface="Aptos"/>
              </a:rPr>
              <a:t>London UCL Clear Speech in Interaction</a:t>
            </a:r>
          </a:p>
          <a:p xmlns:a="http://schemas.openxmlformats.org/drawingml/2006/main">
            <a:pPr algn="l">
              <a:defRPr sz="2700" b="0">
                <a:solidFill>
                  <a:srgbClr val="000000"/>
                </a:solidFill>
                <a:latin typeface="Aptos"/>
                <a:ea typeface="Aptos"/>
                <a:cs typeface="Aptos"/>
              </a:defRPr>
            </a:pPr>
            <a:r>
              <a:rPr sz="2700" b="0">
                <a:solidFill>
                  <a:srgbClr val="000000"/>
                </a:solidFill>
                <a:latin typeface="Aptos"/>
                <a:ea typeface="Aptos"/>
                <a:cs typeface="Aptos"/>
              </a:rPr>
              <a:t>Ohio Child Speech Corpus</a:t>
            </a:r>
          </a:p>
          <a:p xmlns:a="http://schemas.openxmlformats.org/drawingml/2006/main">
            <a:pPr algn="l">
              <a:defRPr sz="2700" b="0">
                <a:solidFill>
                  <a:srgbClr val="000000"/>
                </a:solidFill>
                <a:latin typeface="Aptos"/>
                <a:ea typeface="Aptos"/>
                <a:cs typeface="Aptos"/>
              </a:defRPr>
            </a:pPr>
            <a:r>
              <a:rPr sz="2700" b="0">
                <a:solidFill>
                  <a:srgbClr val="000000"/>
                </a:solidFill>
                <a:latin typeface="Aptos"/>
                <a:ea typeface="Aptos"/>
                <a:cs typeface="Aptos"/>
              </a:rPr>
              <a:t>New York University and Emerson College corpus</a:t>
            </a:r>
          </a:p>
        </p:txBody>
      </p:sp>
      <p:sp>
        <p:nvSpPr>
          <p:cNvPr id="4" name="">
            <a:extLst xmlns:a="http://schemas.openxmlformats.org/drawingml/2006/main">
              <a:ext uri="{FF2B5EF4-FFF2-40B4-BE49-F238E27FC236}">
                <a16:creationId xmlns:a16="http://schemas.microsoft.com/office/drawing/2014/main" id="{69FFD9B7-6DA7-4699-868F-7FE45763A09E}"/>
              </a:ext>
            </a:extLst>
          </p:cNvPr>
          <p:cNvSpPr>
            <a:spLocks xmlns:a="http://schemas.openxmlformats.org/drawingml/2006/main" noGrp="1"/>
          </p:cNvSpPr>
          <p:nvPr/>
        </p:nvSpPr>
        <p:spPr>
          <a:xfrm xmlns:a="http://schemas.openxmlformats.org/drawingml/2006/main">
            <a:off x="628650" y="5381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algn="l">
              <a:defRPr sz="2100" b="0">
                <a:solidFill>
                  <a:srgbClr val="000000"/>
                </a:solidFill>
                <a:latin typeface="Aptos"/>
                <a:ea typeface="Aptos"/>
                <a:cs typeface="Aptos"/>
              </a:defRPr>
            </a:pPr>
            <a:r>
              <a:rPr sz="2100" b="0">
                <a:solidFill>
                  <a:srgbClr val="000000"/>
                </a:solidFill>
                <a:latin typeface="Aptos"/>
                <a:ea typeface="Aptos"/>
                <a:cs typeface="Aptos"/>
              </a:rPr>
              <a:t>Research update, 16 October 2026</a:t>
            </a:r>
          </a:p>
        </p:txBody>
      </p:sp>
    </p:spTree>
    <p:extLst>
      <p:ext uri="{BB962C8B-B14F-4D97-AF65-F5344CB8AC3E}">
        <p14:creationId xmlns:p14="http://schemas.microsoft.com/office/powerpoint/2010/main" val="93432690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The three datasets</a:t>
            </a:r>
          </a:p>
        </p:txBody>
      </p:sp>
      <p:sp>
        <p:nvSpPr>
          <p:cNvPr id="2" name="">
            <a:extLst xmlns:a="http://schemas.openxmlformats.org/drawingml/2006/main">
              <a:ext uri="{FF2B5EF4-FFF2-40B4-BE49-F238E27FC236}">
                <a16:creationId xmlns:a16="http://schemas.microsoft.com/office/drawing/2014/main" id="{4421BA03-31FD-4991-A8B1-D887723A40D4}"/>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Source participants and the parts we used</a:t>
            </a:r>
          </a:p>
        </p:txBody>
      </p:sp>
      <p:graphicFrame>
        <p:nvGraphicFramePr>
          <p:cNvPr id="3" name="">
            <a:extLst xmlns:a="http://schemas.openxmlformats.org/drawingml/2006/main">
              <a:ext uri="{FF2B5EF4-FFF2-40B4-BE49-F238E27FC236}">
                <a16:creationId xmlns:a16="http://schemas.microsoft.com/office/drawing/2014/main" id="{9D175DD4-7FAC-47C9-86F1-1633C9B00E21}"/>
              </a:ext>
            </a:extLst>
          </p:cNvPr>
          <p:cNvGraphicFramePr/>
          <p:nvPr/>
        </p:nvGraphicFramePr>
        <p:xfrm>
          <a:off xmlns:a="http://schemas.openxmlformats.org/drawingml/2006/main" x="609600" y="1952625"/>
          <a:ext xmlns:a="http://schemas.openxmlformats.org/drawingml/2006/main" cx="10972800" cy="3714750"/>
        </p:xfrm>
        <a:graphic xmlns:a="http://schemas.openxmlformats.org/drawingml/2006/main">
          <a:graphicData uri="http://schemas.openxmlformats.org/drawingml/2006/table">
            <a:tbl>
              <a:tblPr firstRow="1" bandRow="0"/>
              <a:tblGrid>
                <a:gridCol w="4572000"/>
                <a:gridCol w="2190750"/>
                <a:gridCol w="4210050"/>
              </a:tblGrid>
              <a:tr h="928688">
                <a:tc>
                  <a:txBody>
                    <a:bodyPr lIns="114300" tIns="114300" rIns="114300" bIns="114300"/>
                    <a:lstStyle/>
                    <a:p>
                      <a:r>
                        <a:rPr sz="1950" b="1">
                          <a:solidFill>
                            <a:srgbClr val="FFFFFF"/>
                          </a:solidFill>
                          <a:latin typeface="Aptos"/>
                          <a:ea typeface="Aptos"/>
                          <a:cs typeface="Aptos"/>
                        </a:rPr>
                        <a:t>Dataset</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950" b="1">
                          <a:solidFill>
                            <a:srgbClr val="FFFFFF"/>
                          </a:solidFill>
                          <a:latin typeface="Aptos"/>
                          <a:ea typeface="Aptos"/>
                          <a:cs typeface="Aptos"/>
                        </a:rPr>
                        <a:t>Source participants</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950" b="1">
                          <a:solidFill>
                            <a:srgbClr val="FFFFFF"/>
                          </a:solidFill>
                          <a:latin typeface="Aptos"/>
                          <a:ea typeface="Aptos"/>
                          <a:cs typeface="Aptos"/>
                        </a:rPr>
                        <a:t>Our transcript comparison</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928688">
                <a:tc>
                  <a:txBody>
                    <a:bodyPr lIns="114300" tIns="114300" rIns="114300" bIns="114300"/>
                    <a:lstStyle/>
                    <a:p>
                      <a:r>
                        <a:rPr sz="1950" b="0">
                          <a:solidFill>
                            <a:srgbClr val="000000"/>
                          </a:solidFill>
                          <a:latin typeface="Aptos"/>
                          <a:ea typeface="Aptos"/>
                          <a:cs typeface="Aptos"/>
                        </a:rPr>
                        <a:t>London UCL Clear Speech in Interaction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40 adults</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300 human transcripts</a:t>
                      </a:r>
                    </a:p>
                    <a:p>
                      <a:r>
                        <a:rPr sz="1950" b="0">
                          <a:solidFill>
                            <a:srgbClr val="000000"/>
                          </a:solidFill>
                          <a:latin typeface="Aptos"/>
                          <a:ea typeface="Aptos"/>
                          <a:cs typeface="Aptos"/>
                        </a:rPr>
                        <a:t>180 of 240 reference samples scored</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928688">
                <a:tc>
                  <a:txBody>
                    <a:bodyPr lIns="114300" tIns="114300" rIns="114300" bIns="114300"/>
                    <a:lstStyle/>
                    <a:p>
                      <a:r>
                        <a:rPr sz="1950" b="0">
                          <a:solidFill>
                            <a:srgbClr val="000000"/>
                          </a:solidFill>
                          <a:latin typeface="Aptos"/>
                          <a:ea typeface="Aptos"/>
                          <a:cs typeface="Aptos"/>
                        </a:rPr>
                        <a:t>Ohio Child Speech Corpus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303 children</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301 children</a:t>
                      </a:r>
                    </a:p>
                    <a:p>
                      <a:r>
                        <a:rPr sz="1950" b="0">
                          <a:solidFill>
                            <a:srgbClr val="000000"/>
                          </a:solidFill>
                          <a:latin typeface="Aptos"/>
                          <a:ea typeface="Aptos"/>
                          <a:cs typeface="Aptos"/>
                        </a:rPr>
                        <a:t>803 selected task sections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928688">
                <a:tc>
                  <a:txBody>
                    <a:bodyPr lIns="114300" tIns="114300" rIns="114300" bIns="114300"/>
                    <a:lstStyle/>
                    <a:p>
                      <a:r>
                        <a:rPr sz="1950" b="0">
                          <a:solidFill>
                            <a:srgbClr val="000000"/>
                          </a:solidFill>
                          <a:latin typeface="Aptos"/>
                          <a:ea typeface="Aptos"/>
                          <a:cs typeface="Aptos"/>
                        </a:rPr>
                        <a:t>New York University and Emerson College corpus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30 autistic children</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28 children</a:t>
                      </a:r>
                    </a:p>
                    <a:p>
                      <a:r>
                        <a:rPr sz="1950" b="0">
                          <a:solidFill>
                            <a:srgbClr val="000000"/>
                          </a:solidFill>
                          <a:latin typeface="Aptos"/>
                          <a:ea typeface="Aptos"/>
                          <a:cs typeface="Aptos"/>
                        </a:rPr>
                        <a:t>92 usable task sections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Tree>
    <p:extLst>
      <p:ext uri="{BB962C8B-B14F-4D97-AF65-F5344CB8AC3E}">
        <p14:creationId xmlns:p14="http://schemas.microsoft.com/office/powerpoint/2010/main" val="164279147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London UCL Clear Speech in Interaction</a:t>
            </a:r>
          </a:p>
        </p:txBody>
      </p:sp>
      <p:sp>
        <p:nvSpPr>
          <p:cNvPr id="2" name="">
            <a:extLst xmlns:a="http://schemas.openxmlformats.org/drawingml/2006/main">
              <a:ext uri="{FF2B5EF4-FFF2-40B4-BE49-F238E27FC236}">
                <a16:creationId xmlns:a16="http://schemas.microsoft.com/office/drawing/2014/main" id="{FFB83A83-BBD3-4BD3-A39B-A2803B730D0A}"/>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LUCID: adult conversations collected by Rachel Baker and Valerie Hazan at UCL</a:t>
            </a:r>
          </a:p>
        </p:txBody>
      </p:sp>
      <p:sp>
        <p:nvSpPr>
          <p:cNvPr id="3" name="">
            <a:extLst xmlns:a="http://schemas.openxmlformats.org/drawingml/2006/main">
              <a:ext uri="{FF2B5EF4-FFF2-40B4-BE49-F238E27FC236}">
                <a16:creationId xmlns:a16="http://schemas.microsoft.com/office/drawing/2014/main" id="{35AFBF11-C85E-4CE5-B5EB-06614EADCC6D}"/>
              </a:ext>
            </a:extLst>
          </p:cNvPr>
          <p:cNvSpPr>
            <a:spLocks xmlns:a="http://schemas.openxmlformats.org/drawingml/2006/main" noGrp="1"/>
          </p:cNvSpPr>
          <p:nvPr/>
        </p:nvSpPr>
        <p:spPr>
          <a:xfrm xmlns:a="http://schemas.openxmlformats.org/drawingml/2006/main">
            <a:off x="723900" y="1952625"/>
            <a:ext cx="107061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Aptos"/>
                <a:ea typeface="Aptos"/>
                <a:cs typeface="Aptos"/>
              </a:defRPr>
            </a:defPPr>
          </a:lstStyle>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40 adults aged 18–29 spoke southern British English.</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Pairs described pictures to find differences without seeing each other’s picture.</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Listening conditions included normal conversation, background voices, vocoded sound and a partner learning English.</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The corpus contains audio and human transcripts with words, timestamps and speaker labels.</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We chose it to check our vocabulary calculations against existing reference values.</a:t>
            </a:r>
          </a:p>
        </p:txBody>
      </p:sp>
    </p:spTree>
    <p:extLst>
      <p:ext uri="{BB962C8B-B14F-4D97-AF65-F5344CB8AC3E}">
        <p14:creationId xmlns:p14="http://schemas.microsoft.com/office/powerpoint/2010/main" val="74654129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LUCID: the files and reference values</a:t>
            </a:r>
          </a:p>
        </p:txBody>
      </p:sp>
      <p:sp>
        <p:nvSpPr>
          <p:cNvPr id="2" name="">
            <a:extLst xmlns:a="http://schemas.openxmlformats.org/drawingml/2006/main">
              <a:ext uri="{FF2B5EF4-FFF2-40B4-BE49-F238E27FC236}">
                <a16:creationId xmlns:a16="http://schemas.microsoft.com/office/drawing/2014/main" id="{5A70572A-0289-4C1A-9F8D-E3D262BD537F}"/>
              </a:ext>
            </a:extLst>
          </p:cNvPr>
          <p:cNvSpPr>
            <a:spLocks xmlns:a="http://schemas.openxmlformats.org/drawingml/2006/main" noGrp="1"/>
          </p:cNvSpPr>
          <p:nvPr/>
        </p:nvSpPr>
        <p:spPr>
          <a:xfrm xmlns:a="http://schemas.openxmlformats.org/drawingml/2006/main">
            <a:off x="723900" y="1571625"/>
            <a:ext cx="107061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Aptos"/>
                <a:ea typeface="Aptos"/>
                <a:cs typeface="Aptos"/>
              </a:defRPr>
            </a:defPPr>
          </a:lstStyle>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Downloaded human transcripts: 300 Praat TextGrid files from SpeechBox.</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Retained reference file: TAALED_results.csv, recorded as the paper’s OSF export. It has 240 samples and 40 speaker IDs.</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Each reference condition contains 20 speakers and three scenes per speaker.</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We scored 180 samples. The other 60 have ambiguous vocoder recording matches.</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The local file matches saved acquisition metadata. Independent confirmation against the author-hosted file is still pending.</a:t>
            </a:r>
          </a:p>
        </p:txBody>
      </p:sp>
    </p:spTree>
    <p:extLst>
      <p:ext uri="{BB962C8B-B14F-4D97-AF65-F5344CB8AC3E}">
        <p14:creationId xmlns:p14="http://schemas.microsoft.com/office/powerpoint/2010/main" val="92159947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Ohio Child Speech Corpus</a:t>
            </a:r>
          </a:p>
        </p:txBody>
      </p:sp>
      <p:sp>
        <p:nvSpPr>
          <p:cNvPr id="2" name="">
            <a:extLst xmlns:a="http://schemas.openxmlformats.org/drawingml/2006/main">
              <a:ext uri="{FF2B5EF4-FFF2-40B4-BE49-F238E27FC236}">
                <a16:creationId xmlns:a16="http://schemas.microsoft.com/office/drawing/2014/main" id="{1DBF6DB1-9432-43F4-8E70-072841A4174E}"/>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Wagner and colleagues, 2025. Available through TalkBank CHILDES.</a:t>
            </a:r>
          </a:p>
        </p:txBody>
      </p:sp>
      <p:sp>
        <p:nvSpPr>
          <p:cNvPr id="3" name="">
            <a:extLst xmlns:a="http://schemas.openxmlformats.org/drawingml/2006/main">
              <a:ext uri="{FF2B5EF4-FFF2-40B4-BE49-F238E27FC236}">
                <a16:creationId xmlns:a16="http://schemas.microsoft.com/office/drawing/2014/main" id="{0C4E80C8-A8CD-4F2D-9746-AF870E29C1CB}"/>
              </a:ext>
            </a:extLst>
          </p:cNvPr>
          <p:cNvSpPr>
            <a:spLocks xmlns:a="http://schemas.openxmlformats.org/drawingml/2006/main" noGrp="1"/>
          </p:cNvSpPr>
          <p:nvPr/>
        </p:nvSpPr>
        <p:spPr>
          <a:xfrm xmlns:a="http://schemas.openxmlformats.org/drawingml/2006/main">
            <a:off x="723900" y="1952625"/>
            <a:ext cx="10706100" cy="395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Aptos"/>
                <a:ea typeface="Aptos"/>
                <a:cs typeface="Aptos"/>
              </a:defRPr>
            </a:defPPr>
          </a:lstStyle>
          <a:p xmlns:a="http://schemas.openxmlformats.org/drawingml/2006/main">
            <a:pPr marL="279400" indent="-139700" algn="l">
              <a:spcAft>
                <a:spcPts val="1500"/>
              </a:spcAft>
              <a:buChar char="•"/>
              <a:defRPr sz="2250" b="0">
                <a:solidFill>
                  <a:srgbClr val="000000"/>
                </a:solidFill>
                <a:latin typeface="Aptos"/>
                <a:ea typeface="Aptos"/>
                <a:cs typeface="Aptos"/>
              </a:defRPr>
            </a:pPr>
            <a:r>
              <a:rPr sz="2250">
                <a:solidFill>
                  <a:srgbClr val="000000"/>
                </a:solidFill>
                <a:latin typeface="Aptos"/>
                <a:ea typeface="Aptos"/>
                <a:cs typeface="Aptos"/>
              </a:rPr>
              <a:t>The published corpus contains 303 children, ages 4–9.</a:t>
            </a:r>
          </a:p>
          <a:p xmlns:a="http://schemas.openxmlformats.org/drawingml/2006/main">
            <a:pPr marL="279400" indent="-139700" algn="l">
              <a:spcAft>
                <a:spcPts val="1500"/>
              </a:spcAft>
              <a:buChar char="•"/>
              <a:defRPr sz="2250" b="0">
                <a:solidFill>
                  <a:srgbClr val="000000"/>
                </a:solidFill>
                <a:latin typeface="Aptos"/>
                <a:ea typeface="Aptos"/>
                <a:cs typeface="Aptos"/>
              </a:defRPr>
            </a:pPr>
            <a:r>
              <a:rPr sz="2250">
                <a:solidFill>
                  <a:srgbClr val="000000"/>
                </a:solidFill>
                <a:latin typeface="Aptos"/>
                <a:ea typeface="Aptos"/>
                <a:cs typeface="Aptos"/>
              </a:rPr>
              <a:t>Researchers recorded speech in a science-museum language lab in Ohio.</a:t>
            </a:r>
          </a:p>
          <a:p xmlns:a="http://schemas.openxmlformats.org/drawingml/2006/main">
            <a:pPr marL="279400" indent="-139700" algn="l">
              <a:spcAft>
                <a:spcPts val="1500"/>
              </a:spcAft>
              <a:buChar char="•"/>
              <a:defRPr sz="2250" b="0">
                <a:solidFill>
                  <a:srgbClr val="000000"/>
                </a:solidFill>
                <a:latin typeface="Aptos"/>
                <a:ea typeface="Aptos"/>
                <a:cs typeface="Aptos"/>
              </a:defRPr>
            </a:pPr>
            <a:r>
              <a:rPr sz="2250">
                <a:solidFill>
                  <a:srgbClr val="000000"/>
                </a:solidFill>
                <a:latin typeface="Aptos"/>
                <a:ea typeface="Aptos"/>
                <a:cs typeface="Aptos"/>
              </a:rPr>
              <a:t>We use the children’s human CHAT transcripts.</a:t>
            </a:r>
          </a:p>
          <a:p xmlns:a="http://schemas.openxmlformats.org/drawingml/2006/main">
            <a:pPr marL="279400" indent="-139700" algn="l">
              <a:spcAft>
                <a:spcPts val="1500"/>
              </a:spcAft>
              <a:buChar char="•"/>
              <a:defRPr sz="2250" b="0">
                <a:solidFill>
                  <a:srgbClr val="000000"/>
                </a:solidFill>
                <a:latin typeface="Aptos"/>
                <a:ea typeface="Aptos"/>
                <a:cs typeface="Aptos"/>
              </a:defRPr>
            </a:pPr>
            <a:r>
              <a:rPr sz="2250">
                <a:solidFill>
                  <a:srgbClr val="000000"/>
                </a:solidFill>
                <a:latin typeface="Aptos"/>
                <a:ea typeface="Aptos"/>
                <a:cs typeface="Aptos"/>
              </a:rPr>
              <a:t>We selected picture descriptions and “how to” explanations: 301 children and 803 task sections.</a:t>
            </a:r>
          </a:p>
          <a:p xmlns:a="http://schemas.openxmlformats.org/drawingml/2006/main">
            <a:pPr marL="279400" indent="-139700" algn="l">
              <a:spcAft>
                <a:spcPts val="1500"/>
              </a:spcAft>
              <a:buChar char="•"/>
              <a:defRPr sz="2250" b="0">
                <a:solidFill>
                  <a:srgbClr val="000000"/>
                </a:solidFill>
                <a:latin typeface="Aptos"/>
                <a:ea typeface="Aptos"/>
                <a:cs typeface="Aptos"/>
              </a:defRPr>
            </a:pPr>
            <a:r>
              <a:rPr sz="2250">
                <a:solidFill>
                  <a:srgbClr val="000000"/>
                </a:solidFill>
                <a:latin typeface="Aptos"/>
                <a:ea typeface="Aptos"/>
                <a:cs typeface="Aptos"/>
              </a:rPr>
              <a:t>This provides a larger child-speech reference for testing utterance measures.</a:t>
            </a:r>
          </a:p>
        </p:txBody>
      </p:sp>
    </p:spTree>
    <p:extLst>
      <p:ext uri="{BB962C8B-B14F-4D97-AF65-F5344CB8AC3E}">
        <p14:creationId xmlns:p14="http://schemas.microsoft.com/office/powerpoint/2010/main" val="68831549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New York University and Emerson College</a:t>
            </a:r>
          </a:p>
        </p:txBody>
      </p:sp>
      <p:sp>
        <p:nvSpPr>
          <p:cNvPr id="2" name="">
            <a:extLst xmlns:a="http://schemas.openxmlformats.org/drawingml/2006/main">
              <a:ext uri="{FF2B5EF4-FFF2-40B4-BE49-F238E27FC236}">
                <a16:creationId xmlns:a16="http://schemas.microsoft.com/office/drawing/2014/main" id="{DE137682-1FA3-4EC0-B553-9DEBF4466E33}"/>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Parent–child interaction corpus, available through TalkBank ASDBank</a:t>
            </a:r>
          </a:p>
        </p:txBody>
      </p:sp>
      <p:sp>
        <p:nvSpPr>
          <p:cNvPr id="3" name="">
            <a:extLst xmlns:a="http://schemas.openxmlformats.org/drawingml/2006/main">
              <a:ext uri="{FF2B5EF4-FFF2-40B4-BE49-F238E27FC236}">
                <a16:creationId xmlns:a16="http://schemas.microsoft.com/office/drawing/2014/main" id="{541F66E7-0F53-47ED-A6AC-DB27500476F7}"/>
              </a:ext>
            </a:extLst>
          </p:cNvPr>
          <p:cNvSpPr>
            <a:spLocks xmlns:a="http://schemas.openxmlformats.org/drawingml/2006/main" noGrp="1"/>
          </p:cNvSpPr>
          <p:nvPr/>
        </p:nvSpPr>
        <p:spPr>
          <a:xfrm xmlns:a="http://schemas.openxmlformats.org/drawingml/2006/main">
            <a:off x="723900" y="1952625"/>
            <a:ext cx="107061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Aptos"/>
                <a:ea typeface="Aptos"/>
                <a:cs typeface="Aptos"/>
              </a:defRPr>
            </a:defPPr>
          </a:lstStyle>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The released corpus contains 30 autistic children. Recruitment targeted ages 3 to under 6.</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Families completed play and conversation, mainly over Zoom at home.</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We use the child’s human CHAT transcript from free play, pretend play and sensory play.</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28 children contribute 92 usable task sections. Two have too little eligible speech for boundary scoring.</a:t>
            </a:r>
          </a:p>
          <a:p xmlns:a="http://schemas.openxmlformats.org/drawingml/2006/main">
            <a:pPr marL="279400" indent="-139700" algn="l">
              <a:spcAft>
                <a:spcPts val="1400"/>
              </a:spcAft>
              <a:buChar char="•"/>
              <a:defRPr sz="2175" b="0">
                <a:solidFill>
                  <a:srgbClr val="000000"/>
                </a:solidFill>
                <a:latin typeface="Aptos"/>
                <a:ea typeface="Aptos"/>
                <a:cs typeface="Aptos"/>
              </a:defRPr>
            </a:pPr>
            <a:r>
              <a:rPr sz="2175">
                <a:solidFill>
                  <a:srgbClr val="000000"/>
                </a:solidFill>
                <a:latin typeface="Aptos"/>
                <a:ea typeface="Aptos"/>
                <a:cs typeface="Aptos"/>
              </a:rPr>
              <a:t>We chose it to test transfer to young autistic children. The source also provides video.</a:t>
            </a:r>
          </a:p>
        </p:txBody>
      </p:sp>
    </p:spTree>
    <p:extLst>
      <p:ext uri="{BB962C8B-B14F-4D97-AF65-F5344CB8AC3E}">
        <p14:creationId xmlns:p14="http://schemas.microsoft.com/office/powerpoint/2010/main" val="212012947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Train, evaluation and test participants</a:t>
            </a:r>
          </a:p>
        </p:txBody>
      </p:sp>
      <p:sp>
        <p:nvSpPr>
          <p:cNvPr id="2" name="">
            <a:extLst xmlns:a="http://schemas.openxmlformats.org/drawingml/2006/main">
              <a:ext uri="{FF2B5EF4-FFF2-40B4-BE49-F238E27FC236}">
                <a16:creationId xmlns:a16="http://schemas.microsoft.com/office/drawing/2014/main" id="{A6757115-6546-482A-9DA9-2A8760BD7556}"/>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All sections from a child stay in that child’s original cohort.</a:t>
            </a:r>
          </a:p>
        </p:txBody>
      </p:sp>
      <p:graphicFrame>
        <p:nvGraphicFramePr>
          <p:cNvPr id="3" name="">
            <a:extLst xmlns:a="http://schemas.openxmlformats.org/drawingml/2006/main">
              <a:ext uri="{FF2B5EF4-FFF2-40B4-BE49-F238E27FC236}">
                <a16:creationId xmlns:a16="http://schemas.microsoft.com/office/drawing/2014/main" id="{854345D2-F56F-48A3-A43C-A05116016112}"/>
              </a:ext>
            </a:extLst>
          </p:cNvPr>
          <p:cNvGraphicFramePr/>
          <p:nvPr/>
        </p:nvGraphicFramePr>
        <p:xfrm>
          <a:off xmlns:a="http://schemas.openxmlformats.org/drawingml/2006/main" x="609600" y="1952625"/>
          <a:ext xmlns:a="http://schemas.openxmlformats.org/drawingml/2006/main" cx="10972800" cy="2952750"/>
        </p:xfrm>
        <a:graphic xmlns:a="http://schemas.openxmlformats.org/drawingml/2006/main">
          <a:graphicData uri="http://schemas.openxmlformats.org/drawingml/2006/table">
            <a:tbl>
              <a:tblPr firstRow="1" bandRow="0"/>
              <a:tblGrid>
                <a:gridCol w="5429250"/>
                <a:gridCol w="1847850"/>
                <a:gridCol w="1847850"/>
                <a:gridCol w="1847850"/>
              </a:tblGrid>
              <a:tr h="738188">
                <a:tc>
                  <a:txBody>
                    <a:bodyPr lIns="114300" tIns="114300" rIns="114300" bIns="114300"/>
                    <a:lstStyle/>
                    <a:p>
                      <a:r>
                        <a:rPr sz="2025" b="1">
                          <a:solidFill>
                            <a:srgbClr val="FFFFFF"/>
                          </a:solidFill>
                          <a:latin typeface="Aptos"/>
                          <a:ea typeface="Aptos"/>
                          <a:cs typeface="Aptos"/>
                        </a:rPr>
                        <a:t>Dataset</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Train</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Evaluation</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Test</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738188">
                <a:tc>
                  <a:txBody>
                    <a:bodyPr lIns="114300" tIns="114300" rIns="114300" bIns="114300"/>
                    <a:lstStyle/>
                    <a:p>
                      <a:r>
                        <a:rPr sz="2025" b="0">
                          <a:solidFill>
                            <a:srgbClr val="000000"/>
                          </a:solidFill>
                          <a:latin typeface="Aptos"/>
                          <a:ea typeface="Aptos"/>
                          <a:cs typeface="Aptos"/>
                        </a:rPr>
                        <a:t>Ohio Child Speech Corpus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211</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45</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45</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738188">
                <a:tc>
                  <a:txBody>
                    <a:bodyPr lIns="114300" tIns="114300" rIns="114300" bIns="114300"/>
                    <a:lstStyle/>
                    <a:p>
                      <a:r>
                        <a:rPr sz="2025" b="0">
                          <a:solidFill>
                            <a:srgbClr val="000000"/>
                          </a:solidFill>
                          <a:latin typeface="Aptos"/>
                          <a:ea typeface="Aptos"/>
                          <a:cs typeface="Aptos"/>
                        </a:rPr>
                        <a:t>New York University and Emerson College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20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4</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4</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738188">
                <a:tc>
                  <a:txBody>
                    <a:bodyPr lIns="114300" tIns="114300" rIns="114300" bIns="114300"/>
                    <a:lstStyle/>
                    <a:p>
                      <a:r>
                        <a:rPr sz="2025" b="0">
                          <a:solidFill>
                            <a:srgbClr val="000000"/>
                          </a:solidFill>
                          <a:latin typeface="Aptos"/>
                          <a:ea typeface="Aptos"/>
                          <a:cs typeface="Aptos"/>
                        </a:rPr>
                        <a:t>Total usable children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231</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49</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49</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AC82718-9CDF-4FD3-8C54-BF48DCD3FD23}"/>
              </a:ext>
            </a:extLst>
          </p:cNvPr>
          <p:cNvSpPr>
            <a:spLocks xmlns:a="http://schemas.openxmlformats.org/drawingml/2006/main" noGrp="1"/>
          </p:cNvSpPr>
          <p:nvPr/>
        </p:nvSpPr>
        <p:spPr>
          <a:xfrm xmlns:a="http://schemas.openxmlformats.org/drawingml/2006/main">
            <a:off x="723900" y="5286375"/>
            <a:ext cx="107061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marL="279400" indent="-139700" algn="l">
              <a:spcAft>
                <a:spcPts val="1100"/>
              </a:spcAft>
              <a:buChar char="•"/>
              <a:defRPr sz="2025" b="0">
                <a:solidFill>
                  <a:srgbClr val="000000"/>
                </a:solidFill>
                <a:latin typeface="Aptos"/>
                <a:ea typeface="Aptos"/>
                <a:cs typeface="Aptos"/>
              </a:defRPr>
            </a:pPr>
            <a:r>
              <a:rPr sz="2025">
                <a:solidFill>
                  <a:srgbClr val="000000"/>
                </a:solidFill>
                <a:latin typeface="Aptos"/>
                <a:ea typeface="Aptos"/>
                <a:cs typeface="Aptos"/>
              </a:rPr>
              <a:t>Train fits model weights. Evaluation selects settings. Test measures a frozen choice.</a:t>
            </a:r>
          </a:p>
          <a:p xmlns:a="http://schemas.openxmlformats.org/drawingml/2006/main">
            <a:pPr marL="279400" indent="-139700" algn="l">
              <a:spcAft>
                <a:spcPts val="1100"/>
              </a:spcAft>
              <a:buChar char="•"/>
              <a:defRPr sz="2025" b="0">
                <a:solidFill>
                  <a:srgbClr val="000000"/>
                </a:solidFill>
                <a:latin typeface="Aptos"/>
                <a:ea typeface="Aptos"/>
                <a:cs typeface="Aptos"/>
              </a:defRPr>
            </a:pPr>
            <a:r>
              <a:rPr sz="2025">
                <a:solidFill>
                  <a:srgbClr val="000000"/>
                </a:solidFill>
                <a:latin typeface="Aptos"/>
                <a:ea typeface="Aptos"/>
                <a:cs typeface="Aptos"/>
              </a:rPr>
              <a:t>Both child datasets contribute to the training cohort. LUCID stays outside boundary-model training.</a:t>
            </a:r>
          </a:p>
        </p:txBody>
      </p:sp>
    </p:spTree>
    <p:extLst>
      <p:ext uri="{BB962C8B-B14F-4D97-AF65-F5344CB8AC3E}">
        <p14:creationId xmlns:p14="http://schemas.microsoft.com/office/powerpoint/2010/main" val="152384796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Task sections in each cohort</a:t>
            </a:r>
          </a:p>
        </p:txBody>
      </p:sp>
      <p:sp>
        <p:nvSpPr>
          <p:cNvPr id="2" name="">
            <a:extLst xmlns:a="http://schemas.openxmlformats.org/drawingml/2006/main">
              <a:ext uri="{FF2B5EF4-FFF2-40B4-BE49-F238E27FC236}">
                <a16:creationId xmlns:a16="http://schemas.microsoft.com/office/drawing/2014/main" id="{D13925AB-3842-4BAD-8864-5CE6D5817D1B}"/>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A child can contribute several sections from the same recording.</a:t>
            </a:r>
          </a:p>
        </p:txBody>
      </p:sp>
      <p:graphicFrame>
        <p:nvGraphicFramePr>
          <p:cNvPr id="3" name="">
            <a:extLst xmlns:a="http://schemas.openxmlformats.org/drawingml/2006/main">
              <a:ext uri="{FF2B5EF4-FFF2-40B4-BE49-F238E27FC236}">
                <a16:creationId xmlns:a16="http://schemas.microsoft.com/office/drawing/2014/main" id="{F059377A-0997-4712-9969-E46FA1C57278}"/>
              </a:ext>
            </a:extLst>
          </p:cNvPr>
          <p:cNvGraphicFramePr/>
          <p:nvPr/>
        </p:nvGraphicFramePr>
        <p:xfrm>
          <a:off xmlns:a="http://schemas.openxmlformats.org/drawingml/2006/main" x="609600" y="1952625"/>
          <a:ext xmlns:a="http://schemas.openxmlformats.org/drawingml/2006/main" cx="10972800" cy="2952750"/>
        </p:xfrm>
        <a:graphic xmlns:a="http://schemas.openxmlformats.org/drawingml/2006/main">
          <a:graphicData uri="http://schemas.openxmlformats.org/drawingml/2006/table">
            <a:tbl>
              <a:tblPr firstRow="1" bandRow="0"/>
              <a:tblGrid>
                <a:gridCol w="5429250"/>
                <a:gridCol w="1847850"/>
                <a:gridCol w="1847850"/>
                <a:gridCol w="1847850"/>
              </a:tblGrid>
              <a:tr h="738188">
                <a:tc>
                  <a:txBody>
                    <a:bodyPr lIns="114300" tIns="114300" rIns="114300" bIns="114300"/>
                    <a:lstStyle/>
                    <a:p>
                      <a:r>
                        <a:rPr sz="2025" b="1">
                          <a:solidFill>
                            <a:srgbClr val="FFFFFF"/>
                          </a:solidFill>
                          <a:latin typeface="Aptos"/>
                          <a:ea typeface="Aptos"/>
                          <a:cs typeface="Aptos"/>
                        </a:rPr>
                        <a:t>Dataset</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Train</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Evaluation</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Test</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738188">
                <a:tc>
                  <a:txBody>
                    <a:bodyPr lIns="114300" tIns="114300" rIns="114300" bIns="114300"/>
                    <a:lstStyle/>
                    <a:p>
                      <a:r>
                        <a:rPr sz="2025" b="0">
                          <a:solidFill>
                            <a:srgbClr val="000000"/>
                          </a:solidFill>
                          <a:latin typeface="Aptos"/>
                          <a:ea typeface="Aptos"/>
                          <a:cs typeface="Aptos"/>
                        </a:rPr>
                        <a:t>Ohio Child Speech Corpus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567</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125</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111</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738188">
                <a:tc>
                  <a:txBody>
                    <a:bodyPr lIns="114300" tIns="114300" rIns="114300" bIns="114300"/>
                    <a:lstStyle/>
                    <a:p>
                      <a:r>
                        <a:rPr sz="2025" b="0">
                          <a:solidFill>
                            <a:srgbClr val="000000"/>
                          </a:solidFill>
                          <a:latin typeface="Aptos"/>
                          <a:ea typeface="Aptos"/>
                          <a:cs typeface="Aptos"/>
                        </a:rPr>
                        <a:t>New York University and Emerson College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63</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14</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15</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738188">
                <a:tc>
                  <a:txBody>
                    <a:bodyPr lIns="114300" tIns="114300" rIns="114300" bIns="114300"/>
                    <a:lstStyle/>
                    <a:p>
                      <a:r>
                        <a:rPr sz="2025" b="0">
                          <a:solidFill>
                            <a:srgbClr val="000000"/>
                          </a:solidFill>
                          <a:latin typeface="Aptos"/>
                          <a:ea typeface="Aptos"/>
                          <a:cs typeface="Aptos"/>
                        </a:rPr>
                        <a:t>Total sections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630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139</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126</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C2ED4FE-30C2-4B0A-B6E4-A44744D3E626}"/>
              </a:ext>
            </a:extLst>
          </p:cNvPr>
          <p:cNvSpPr>
            <a:spLocks xmlns:a="http://schemas.openxmlformats.org/drawingml/2006/main" noGrp="1"/>
          </p:cNvSpPr>
          <p:nvPr/>
        </p:nvSpPr>
        <p:spPr>
          <a:xfrm xmlns:a="http://schemas.openxmlformats.org/drawingml/2006/main">
            <a:off x="723900" y="5286375"/>
            <a:ext cx="107061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0000"/>
                </a:solidFill>
                <a:latin typeface="Aptos"/>
                <a:ea typeface="Aptos"/>
                <a:cs typeface="Aptos"/>
              </a:defRPr>
            </a:defPPr>
          </a:lstStyle>
          <a:p xmlns:a="http://schemas.openxmlformats.org/drawingml/2006/main">
            <a:pPr marL="279400" indent="-139700" algn="l">
              <a:spcAft>
                <a:spcPts val="1000"/>
              </a:spcAft>
              <a:buChar char="•"/>
              <a:defRPr sz="1875" b="0">
                <a:solidFill>
                  <a:srgbClr val="000000"/>
                </a:solidFill>
                <a:latin typeface="Aptos"/>
                <a:ea typeface="Aptos"/>
                <a:cs typeface="Aptos"/>
              </a:defRPr>
            </a:pPr>
            <a:r>
              <a:rPr sz="1875">
                <a:solidFill>
                  <a:srgbClr val="000000"/>
                </a:solidFill>
                <a:latin typeface="Aptos"/>
                <a:ea typeface="Aptos"/>
                <a:cs typeface="Aptos"/>
              </a:rPr>
              <a:t>Picture descriptions and explanations supply the selected Ohio child sections. Reading, alphabet, number and Wug tasks stay outside this comparison.</a:t>
            </a:r>
          </a:p>
          <a:p xmlns:a="http://schemas.openxmlformats.org/drawingml/2006/main">
            <a:pPr marL="279400" indent="-139700" algn="l">
              <a:spcAft>
                <a:spcPts val="1000"/>
              </a:spcAft>
              <a:buChar char="•"/>
              <a:defRPr sz="1875" b="0">
                <a:solidFill>
                  <a:srgbClr val="000000"/>
                </a:solidFill>
                <a:latin typeface="Aptos"/>
                <a:ea typeface="Aptos"/>
                <a:cs typeface="Aptos"/>
              </a:defRPr>
            </a:pPr>
            <a:r>
              <a:rPr sz="1875">
                <a:solidFill>
                  <a:srgbClr val="000000"/>
                </a:solidFill>
                <a:latin typeface="Aptos"/>
                <a:ea typeface="Aptos"/>
                <a:cs typeface="Aptos"/>
              </a:rPr>
              <a:t>Parent–child play supplies the other sections. All four excluded source files remain documented.</a:t>
            </a:r>
          </a:p>
        </p:txBody>
      </p:sp>
    </p:spTree>
    <p:extLst>
      <p:ext uri="{BB962C8B-B14F-4D97-AF65-F5344CB8AC3E}">
        <p14:creationId xmlns:p14="http://schemas.microsoft.com/office/powerpoint/2010/main" val="190067933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B5F0C370-98DF-4B18-80D1-57974D20C4DD}"/>
              </a:ext>
            </a:extLst>
          </p:cNvPr>
          <p:cNvCxnSpPr>
            <a:stCxn xmlns:a="http://schemas.openxmlformats.org/drawingml/2006/main" id="5" idx="3"/>
            <a:endCxn xmlns:a="http://schemas.openxmlformats.org/drawingml/2006/main" id="6" idx="1"/>
          </p:cNvCxnSpPr>
          <p:nvPr/>
        </p:nvCxnSpPr>
        <p:spPr>
          <a:xfrm xmlns:a="http://schemas.openxmlformats.org/drawingml/2006/main">
            <a:off x="932497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9" name="">
            <a:extLst xmlns:a="http://schemas.openxmlformats.org/drawingml/2006/main">
              <a:ext uri="{FF2B5EF4-FFF2-40B4-BE49-F238E27FC236}">
                <a16:creationId xmlns:a16="http://schemas.microsoft.com/office/drawing/2014/main" id="{5C97F682-5E7E-45F6-96BA-6ABD8749824E}"/>
              </a:ext>
            </a:extLst>
          </p:cNvPr>
          <p:cNvCxnSpPr>
            <a:stCxn xmlns:a="http://schemas.openxmlformats.org/drawingml/2006/main" id="4" idx="3"/>
            <a:endCxn xmlns:a="http://schemas.openxmlformats.org/drawingml/2006/main" id="5" idx="1"/>
          </p:cNvCxnSpPr>
          <p:nvPr/>
        </p:nvCxnSpPr>
        <p:spPr>
          <a:xfrm xmlns:a="http://schemas.openxmlformats.org/drawingml/2006/main">
            <a:off x="706755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8" name="">
            <a:extLst xmlns:a="http://schemas.openxmlformats.org/drawingml/2006/main">
              <a:ext uri="{FF2B5EF4-FFF2-40B4-BE49-F238E27FC236}">
                <a16:creationId xmlns:a16="http://schemas.microsoft.com/office/drawing/2014/main" id="{F19BF64F-8F5B-4B8D-B174-FF9B51F2D5EB}"/>
              </a:ext>
            </a:extLst>
          </p:cNvPr>
          <p:cNvCxnSpPr>
            <a:stCxn xmlns:a="http://schemas.openxmlformats.org/drawingml/2006/main" id="3" idx="3"/>
            <a:endCxn xmlns:a="http://schemas.openxmlformats.org/drawingml/2006/main" id="4" idx="1"/>
          </p:cNvCxnSpPr>
          <p:nvPr/>
        </p:nvCxnSpPr>
        <p:spPr>
          <a:xfrm xmlns:a="http://schemas.openxmlformats.org/drawingml/2006/main">
            <a:off x="481012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7" name="">
            <a:extLst xmlns:a="http://schemas.openxmlformats.org/drawingml/2006/main">
              <a:ext uri="{FF2B5EF4-FFF2-40B4-BE49-F238E27FC236}">
                <a16:creationId xmlns:a16="http://schemas.microsoft.com/office/drawing/2014/main" id="{C0BCB5F2-041E-4FCC-BDBA-50764841F9C3}"/>
              </a:ext>
            </a:extLst>
          </p:cNvPr>
          <p:cNvCxnSpPr>
            <a:stCxn xmlns:a="http://schemas.openxmlformats.org/drawingml/2006/main" id="2" idx="3"/>
            <a:endCxn xmlns:a="http://schemas.openxmlformats.org/drawingml/2006/main" id="3" idx="1"/>
          </p:cNvCxnSpPr>
          <p:nvPr/>
        </p:nvCxnSpPr>
        <p:spPr>
          <a:xfrm xmlns:a="http://schemas.openxmlformats.org/drawingml/2006/main">
            <a:off x="255270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sp>
        <p:nvSpPr>
          <p:cNvPr id="12"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Our current transcript pipeline</a:t>
            </a:r>
          </a:p>
        </p:txBody>
      </p:sp>
      <p:sp>
        <p:nvSpPr>
          <p:cNvPr id="2" name="">
            <a:extLst xmlns:a="http://schemas.openxmlformats.org/drawingml/2006/main">
              <a:ext uri="{FF2B5EF4-FFF2-40B4-BE49-F238E27FC236}">
                <a16:creationId xmlns:a16="http://schemas.microsoft.com/office/drawing/2014/main" id="{3E6E625B-4125-4586-9763-25650BC0A3C7}"/>
              </a:ext>
            </a:extLst>
          </p:cNvPr>
          <p:cNvSpPr>
            <a:spLocks xmlns:a="http://schemas.openxmlformats.org/drawingml/2006/main" noGrp="1"/>
          </p:cNvSpPr>
          <p:nvPr/>
        </p:nvSpPr>
        <p:spPr>
          <a:xfrm xmlns:a="http://schemas.openxmlformats.org/drawingml/2006/main">
            <a:off x="6096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Human</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transcript</a:t>
            </a:r>
          </a:p>
        </p:txBody>
      </p:sp>
      <p:sp>
        <p:nvSpPr>
          <p:cNvPr id="3" name="">
            <a:extLst xmlns:a="http://schemas.openxmlformats.org/drawingml/2006/main">
              <a:ext uri="{FF2B5EF4-FFF2-40B4-BE49-F238E27FC236}">
                <a16:creationId xmlns:a16="http://schemas.microsoft.com/office/drawing/2014/main" id="{BE712992-32A6-4340-992F-E8EB6EA354A3}"/>
              </a:ext>
            </a:extLst>
          </p:cNvPr>
          <p:cNvSpPr>
            <a:spLocks xmlns:a="http://schemas.openxmlformats.org/drawingml/2006/main" noGrp="1"/>
          </p:cNvSpPr>
          <p:nvPr/>
        </p:nvSpPr>
        <p:spPr>
          <a:xfrm xmlns:a="http://schemas.openxmlformats.org/drawingml/2006/main">
            <a:off x="286702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Keep the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participant’s words</a:t>
            </a:r>
          </a:p>
        </p:txBody>
      </p:sp>
      <p:sp>
        <p:nvSpPr>
          <p:cNvPr id="4" name="">
            <a:extLst xmlns:a="http://schemas.openxmlformats.org/drawingml/2006/main">
              <a:ext uri="{FF2B5EF4-FFF2-40B4-BE49-F238E27FC236}">
                <a16:creationId xmlns:a16="http://schemas.microsoft.com/office/drawing/2014/main" id="{16BE4687-CA32-4DF7-A9ED-CB80D4035CA4}"/>
              </a:ext>
            </a:extLst>
          </p:cNvPr>
          <p:cNvSpPr>
            <a:spLocks xmlns:a="http://schemas.openxmlformats.org/drawingml/2006/main" noGrp="1"/>
          </p:cNvSpPr>
          <p:nvPr/>
        </p:nvSpPr>
        <p:spPr>
          <a:xfrm xmlns:a="http://schemas.openxmlformats.org/drawingml/2006/main">
            <a:off x="512445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Our model predicts</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utterance endings</a:t>
            </a:r>
          </a:p>
        </p:txBody>
      </p:sp>
      <p:sp>
        <p:nvSpPr>
          <p:cNvPr id="5" name="">
            <a:extLst xmlns:a="http://schemas.openxmlformats.org/drawingml/2006/main">
              <a:ext uri="{FF2B5EF4-FFF2-40B4-BE49-F238E27FC236}">
                <a16:creationId xmlns:a16="http://schemas.microsoft.com/office/drawing/2014/main" id="{5CE17FEA-64E2-412B-9BFB-C7FCB0F9C77C}"/>
              </a:ext>
            </a:extLst>
          </p:cNvPr>
          <p:cNvSpPr>
            <a:spLocks xmlns:a="http://schemas.openxmlformats.org/drawingml/2006/main" noGrp="1"/>
          </p:cNvSpPr>
          <p:nvPr/>
        </p:nvSpPr>
        <p:spPr>
          <a:xfrm xmlns:a="http://schemas.openxmlformats.org/drawingml/2006/main">
            <a:off x="738187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Calculate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language measures</a:t>
            </a:r>
          </a:p>
        </p:txBody>
      </p:sp>
      <p:sp>
        <p:nvSpPr>
          <p:cNvPr id="6" name="">
            <a:extLst xmlns:a="http://schemas.openxmlformats.org/drawingml/2006/main">
              <a:ext uri="{FF2B5EF4-FFF2-40B4-BE49-F238E27FC236}">
                <a16:creationId xmlns:a16="http://schemas.microsoft.com/office/drawing/2014/main" id="{6CAEDDBC-4699-4D6A-AF96-1A389A6BAC24}"/>
              </a:ext>
            </a:extLst>
          </p:cNvPr>
          <p:cNvSpPr>
            <a:spLocks xmlns:a="http://schemas.openxmlformats.org/drawingml/2006/main" noGrp="1"/>
          </p:cNvSpPr>
          <p:nvPr/>
        </p:nvSpPr>
        <p:spPr>
          <a:xfrm xmlns:a="http://schemas.openxmlformats.org/drawingml/2006/main">
            <a:off x="96393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Save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results</a:t>
            </a:r>
          </a:p>
        </p:txBody>
      </p:sp>
      <p:sp>
        <p:nvSpPr>
          <p:cNvPr id="11" name="">
            <a:extLst xmlns:a="http://schemas.openxmlformats.org/drawingml/2006/main">
              <a:ext uri="{FF2B5EF4-FFF2-40B4-BE49-F238E27FC236}">
                <a16:creationId xmlns:a16="http://schemas.microsoft.com/office/drawing/2014/main" id="{B3D95AF0-9581-4979-8A93-8A2E6A0DAA5D}"/>
              </a:ext>
            </a:extLst>
          </p:cNvPr>
          <p:cNvSpPr>
            <a:spLocks xmlns:a="http://schemas.openxmlformats.org/drawingml/2006/main" noGrp="1"/>
          </p:cNvSpPr>
          <p:nvPr/>
        </p:nvSpPr>
        <p:spPr>
          <a:xfrm xmlns:a="http://schemas.openxmlformats.org/drawingml/2006/main">
            <a:off x="723900" y="4476750"/>
            <a:ext cx="107061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Aptos"/>
                <a:ea typeface="Aptos"/>
                <a:cs typeface="Aptos"/>
              </a:defRPr>
            </a:defPPr>
          </a:lstStyle>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The model receives words and observed speaker turns.</a:t>
            </a:r>
          </a:p>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Human utterance endings stay in the reference used for comparison.</a:t>
            </a:r>
          </a:p>
        </p:txBody>
      </p:sp>
    </p:spTree>
    <p:extLst>
      <p:ext uri="{BB962C8B-B14F-4D97-AF65-F5344CB8AC3E}">
        <p14:creationId xmlns:p14="http://schemas.microsoft.com/office/powerpoint/2010/main" val="212587972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Our model and the software it uses</a:t>
            </a:r>
          </a:p>
        </p:txBody>
      </p:sp>
      <p:graphicFrame>
        <p:nvGraphicFramePr>
          <p:cNvPr id="2" name="">
            <a:extLst xmlns:a="http://schemas.openxmlformats.org/drawingml/2006/main">
              <a:ext uri="{FF2B5EF4-FFF2-40B4-BE49-F238E27FC236}">
                <a16:creationId xmlns:a16="http://schemas.microsoft.com/office/drawing/2014/main" id="{D49A6362-3647-474F-ACDC-C8649B02D298}"/>
              </a:ext>
            </a:extLst>
          </p:cNvPr>
          <p:cNvGraphicFramePr/>
          <p:nvPr/>
        </p:nvGraphicFramePr>
        <p:xfrm>
          <a:off xmlns:a="http://schemas.openxmlformats.org/drawingml/2006/main" x="609600" y="1571625"/>
          <a:ext xmlns:a="http://schemas.openxmlformats.org/drawingml/2006/main" cx="10972800" cy="4286250"/>
        </p:xfrm>
        <a:graphic xmlns:a="http://schemas.openxmlformats.org/drawingml/2006/main">
          <a:graphicData uri="http://schemas.openxmlformats.org/drawingml/2006/table">
            <a:tbl>
              <a:tblPr firstRow="1" bandRow="0"/>
              <a:tblGrid>
                <a:gridCol w="3429000"/>
                <a:gridCol w="7543800"/>
              </a:tblGrid>
              <a:tr h="612321">
                <a:tc>
                  <a:txBody>
                    <a:bodyPr lIns="114300" tIns="114300" rIns="114300" bIns="114300"/>
                    <a:lstStyle/>
                    <a:p>
                      <a:r>
                        <a:rPr sz="2025" b="1">
                          <a:solidFill>
                            <a:srgbClr val="FFFFFF"/>
                          </a:solidFill>
                          <a:latin typeface="Aptos"/>
                          <a:ea typeface="Aptos"/>
                          <a:cs typeface="Aptos"/>
                        </a:rPr>
                        <a:t>Component</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Role</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612321">
                <a:tc>
                  <a:txBody>
                    <a:bodyPr lIns="114300" tIns="114300" rIns="114300" bIns="114300"/>
                    <a:lstStyle/>
                    <a:p>
                      <a:r>
                        <a:rPr sz="2025" b="0">
                          <a:solidFill>
                            <a:srgbClr val="000000"/>
                          </a:solidFill>
                          <a:latin typeface="Aptos"/>
                          <a:ea typeface="Aptos"/>
                          <a:cs typeface="Aptos"/>
                        </a:rPr>
                        <a:t>Microsoft MiniLM</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Pretrained language encoder that represents words in context</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2321">
                <a:tc>
                  <a:txBody>
                    <a:bodyPr lIns="114300" tIns="114300" rIns="114300" bIns="114300"/>
                    <a:lstStyle/>
                    <a:p>
                      <a:r>
                        <a:rPr sz="2025" b="0">
                          <a:solidFill>
                            <a:srgbClr val="000000"/>
                          </a:solidFill>
                          <a:latin typeface="Aptos"/>
                          <a:ea typeface="Aptos"/>
                          <a:cs typeface="Aptos"/>
                        </a:rPr>
                        <a:t>Our custom model</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A learned rule embedding and classifier predict utterance endings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2321">
                <a:tc>
                  <a:txBody>
                    <a:bodyPr lIns="114300" tIns="114300" rIns="114300" bIns="114300"/>
                    <a:lstStyle/>
                    <a:p>
                      <a:r>
                        <a:rPr sz="2025" b="0">
                          <a:solidFill>
                            <a:srgbClr val="000000"/>
                          </a:solidFill>
                          <a:latin typeface="Aptos"/>
                          <a:ea typeface="Aptos"/>
                          <a:cs typeface="Aptos"/>
                        </a:rPr>
                        <a:t>Task training</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We fine-tune MiniLM and our custom components together</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2321">
                <a:tc>
                  <a:txBody>
                    <a:bodyPr lIns="114300" tIns="114300" rIns="114300" bIns="114300"/>
                    <a:lstStyle/>
                    <a:p>
                      <a:r>
                        <a:rPr sz="2025" b="0">
                          <a:solidFill>
                            <a:srgbClr val="000000"/>
                          </a:solidFill>
                          <a:latin typeface="Aptos"/>
                          <a:ea typeface="Aptos"/>
                          <a:cs typeface="Aptos"/>
                        </a:rPr>
                        <a:t>spaCy</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Provides grammatical cues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2321">
                <a:tc>
                  <a:txBody>
                    <a:bodyPr lIns="114300" tIns="114300" rIns="114300" bIns="114300"/>
                    <a:lstStyle/>
                    <a:p>
                      <a:r>
                        <a:rPr sz="2025" b="0">
                          <a:solidFill>
                            <a:srgbClr val="000000"/>
                          </a:solidFill>
                          <a:latin typeface="Aptos"/>
                          <a:ea typeface="Aptos"/>
                          <a:cs typeface="Aptos"/>
                        </a:rPr>
                        <a:t>CLAN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Calculates measures from CHAT transcripts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2321">
                <a:tc>
                  <a:txBody>
                    <a:bodyPr lIns="114300" tIns="114300" rIns="114300" bIns="114300"/>
                    <a:lstStyle/>
                    <a:p>
                      <a:r>
                        <a:rPr sz="2025" b="0">
                          <a:solidFill>
                            <a:srgbClr val="000000"/>
                          </a:solidFill>
                          <a:latin typeface="Aptos"/>
                          <a:ea typeface="Aptos"/>
                          <a:cs typeface="Aptos"/>
                        </a:rPr>
                        <a:t>TAALED conventions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Guide vocabulary processing and calculation rules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Tree>
    <p:extLst>
      <p:ext uri="{BB962C8B-B14F-4D97-AF65-F5344CB8AC3E}">
        <p14:creationId xmlns:p14="http://schemas.microsoft.com/office/powerpoint/2010/main" val="45035319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The language measures we compare</a:t>
            </a:r>
          </a:p>
        </p:txBody>
      </p:sp>
      <p:sp>
        <p:nvSpPr>
          <p:cNvPr id="2" name="">
            <a:extLst xmlns:a="http://schemas.openxmlformats.org/drawingml/2006/main">
              <a:ext uri="{FF2B5EF4-FFF2-40B4-BE49-F238E27FC236}">
                <a16:creationId xmlns:a16="http://schemas.microsoft.com/office/drawing/2014/main" id="{AF97D6C7-E569-4ADF-B50F-ECB768D5DDE1}"/>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Percentage error describes the difference from the reference. Lower is better.</a:t>
            </a:r>
          </a:p>
        </p:txBody>
      </p:sp>
      <p:graphicFrame>
        <p:nvGraphicFramePr>
          <p:cNvPr id="3" name="">
            <a:extLst xmlns:a="http://schemas.openxmlformats.org/drawingml/2006/main">
              <a:ext uri="{FF2B5EF4-FFF2-40B4-BE49-F238E27FC236}">
                <a16:creationId xmlns:a16="http://schemas.microsoft.com/office/drawing/2014/main" id="{7FA98103-0FA3-4196-B5A9-ABBC28D8FED0}"/>
              </a:ext>
            </a:extLst>
          </p:cNvPr>
          <p:cNvGraphicFramePr/>
          <p:nvPr/>
        </p:nvGraphicFramePr>
        <p:xfrm>
          <a:off xmlns:a="http://schemas.openxmlformats.org/drawingml/2006/main" x="609600" y="1952625"/>
          <a:ext xmlns:a="http://schemas.openxmlformats.org/drawingml/2006/main" cx="10972800" cy="3619500"/>
        </p:xfrm>
        <a:graphic xmlns:a="http://schemas.openxmlformats.org/drawingml/2006/main">
          <a:graphicData uri="http://schemas.openxmlformats.org/drawingml/2006/table">
            <a:tbl>
              <a:tblPr firstRow="1" bandRow="0"/>
              <a:tblGrid>
                <a:gridCol w="4762500"/>
                <a:gridCol w="6210300"/>
              </a:tblGrid>
              <a:tr h="517071">
                <a:tc>
                  <a:txBody>
                    <a:bodyPr lIns="114300" tIns="114300" rIns="114300" bIns="114300"/>
                    <a:lstStyle/>
                    <a:p>
                      <a:r>
                        <a:rPr sz="1800" b="1">
                          <a:solidFill>
                            <a:srgbClr val="FFFFFF"/>
                          </a:solidFill>
                          <a:latin typeface="Aptos"/>
                          <a:ea typeface="Aptos"/>
                          <a:cs typeface="Aptos"/>
                        </a:rPr>
                        <a:t>Measure</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00" b="1">
                          <a:solidFill>
                            <a:srgbClr val="FFFFFF"/>
                          </a:solidFill>
                          <a:latin typeface="Aptos"/>
                          <a:ea typeface="Aptos"/>
                          <a:cs typeface="Aptos"/>
                        </a:rPr>
                        <a:t>Meaning</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517071">
                <a:tc>
                  <a:txBody>
                    <a:bodyPr lIns="114300" tIns="114300" rIns="114300" bIns="114300"/>
                    <a:lstStyle/>
                    <a:p>
                      <a:r>
                        <a:rPr sz="1800" b="0">
                          <a:solidFill>
                            <a:srgbClr val="000000"/>
                          </a:solidFill>
                          <a:latin typeface="Aptos"/>
                          <a:ea typeface="Aptos"/>
                          <a:cs typeface="Aptos"/>
                        </a:rPr>
                        <a:t>Word counts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00" b="0">
                          <a:solidFill>
                            <a:srgbClr val="000000"/>
                          </a:solidFill>
                          <a:latin typeface="Aptos"/>
                          <a:ea typeface="Aptos"/>
                          <a:cs typeface="Aptos"/>
                        </a:rPr>
                        <a:t>Total words and different words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17071">
                <a:tc>
                  <a:txBody>
                    <a:bodyPr lIns="114300" tIns="114300" rIns="114300" bIns="114300"/>
                    <a:lstStyle/>
                    <a:p>
                      <a:r>
                        <a:rPr sz="1800" b="0">
                          <a:solidFill>
                            <a:srgbClr val="000000"/>
                          </a:solidFill>
                          <a:latin typeface="Aptos"/>
                          <a:ea typeface="Aptos"/>
                          <a:cs typeface="Aptos"/>
                        </a:rPr>
                        <a:t>Type–token ratio (TTR)</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00" b="0">
                          <a:solidFill>
                            <a:srgbClr val="000000"/>
                          </a:solidFill>
                          <a:latin typeface="Aptos"/>
                          <a:ea typeface="Aptos"/>
                          <a:cs typeface="Aptos"/>
                        </a:rPr>
                        <a:t>Different words divided by total words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17071">
                <a:tc>
                  <a:txBody>
                    <a:bodyPr lIns="114300" tIns="114300" rIns="114300" bIns="114300"/>
                    <a:lstStyle/>
                    <a:p>
                      <a:r>
                        <a:rPr sz="1800" b="0">
                          <a:solidFill>
                            <a:srgbClr val="000000"/>
                          </a:solidFill>
                          <a:latin typeface="Aptos"/>
                          <a:ea typeface="Aptos"/>
                          <a:cs typeface="Aptos"/>
                        </a:rPr>
                        <a:t>Moving-average TTR (MATTR-50)</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00" b="0">
                          <a:solidFill>
                            <a:srgbClr val="000000"/>
                          </a:solidFill>
                          <a:latin typeface="Aptos"/>
                          <a:ea typeface="Aptos"/>
                          <a:cs typeface="Aptos"/>
                        </a:rPr>
                        <a:t>Vocabulary variety in moving 50-word windows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17071">
                <a:tc>
                  <a:txBody>
                    <a:bodyPr lIns="114300" tIns="114300" rIns="114300" bIns="114300"/>
                    <a:lstStyle/>
                    <a:p>
                      <a:r>
                        <a:rPr sz="1800" b="0">
                          <a:solidFill>
                            <a:srgbClr val="000000"/>
                          </a:solidFill>
                          <a:latin typeface="Aptos"/>
                          <a:ea typeface="Aptos"/>
                          <a:cs typeface="Aptos"/>
                        </a:rPr>
                        <a:t>Eligible utterance count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00" b="0">
                          <a:solidFill>
                            <a:srgbClr val="000000"/>
                          </a:solidFill>
                          <a:latin typeface="Aptos"/>
                          <a:ea typeface="Aptos"/>
                          <a:cs typeface="Aptos"/>
                        </a:rPr>
                        <a:t>Utterances included in CLAN’s length calculation</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17071">
                <a:tc>
                  <a:txBody>
                    <a:bodyPr lIns="114300" tIns="114300" rIns="114300" bIns="114300"/>
                    <a:lstStyle/>
                    <a:p>
                      <a:r>
                        <a:rPr sz="1800" b="0">
                          <a:solidFill>
                            <a:srgbClr val="000000"/>
                          </a:solidFill>
                          <a:latin typeface="Aptos"/>
                          <a:ea typeface="Aptos"/>
                          <a:cs typeface="Aptos"/>
                        </a:rPr>
                        <a:t>Mean length in words (MLUw)</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00" b="0">
                          <a:solidFill>
                            <a:srgbClr val="000000"/>
                          </a:solidFill>
                          <a:latin typeface="Aptos"/>
                          <a:ea typeface="Aptos"/>
                          <a:cs typeface="Aptos"/>
                        </a:rPr>
                        <a:t>Average words per eligible utterance</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17071">
                <a:tc>
                  <a:txBody>
                    <a:bodyPr lIns="114300" tIns="114300" rIns="114300" bIns="114300"/>
                    <a:lstStyle/>
                    <a:p>
                      <a:r>
                        <a:rPr sz="1800" b="0">
                          <a:solidFill>
                            <a:srgbClr val="000000"/>
                          </a:solidFill>
                          <a:latin typeface="Aptos"/>
                          <a:ea typeface="Aptos"/>
                          <a:cs typeface="Aptos"/>
                        </a:rPr>
                        <a:t>Length standard deviation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00" b="0">
                          <a:solidFill>
                            <a:srgbClr val="000000"/>
                          </a:solidFill>
                          <a:latin typeface="Aptos"/>
                          <a:ea typeface="Aptos"/>
                          <a:cs typeface="Aptos"/>
                        </a:rPr>
                        <a:t>How much utterance length varies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0360709-26F3-4CDF-85D8-EBD9BC62BED4}"/>
              </a:ext>
            </a:extLst>
          </p:cNvPr>
          <p:cNvSpPr>
            <a:spLocks xmlns:a="http://schemas.openxmlformats.org/drawingml/2006/main" noGrp="1"/>
          </p:cNvSpPr>
          <p:nvPr/>
        </p:nvSpPr>
        <p:spPr>
          <a:xfrm xmlns:a="http://schemas.openxmlformats.org/drawingml/2006/main">
            <a:off x="723900" y="5905500"/>
            <a:ext cx="1070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0000"/>
                </a:solidFill>
                <a:latin typeface="Aptos"/>
                <a:ea typeface="Aptos"/>
                <a:cs typeface="Aptos"/>
              </a:defRPr>
            </a:defPPr>
          </a:lstStyle>
          <a:p xmlns:a="http://schemas.openxmlformats.org/drawingml/2006/main">
            <a:pPr marL="279400" indent="-139700" algn="l">
              <a:spcAft>
                <a:spcPts val="0"/>
              </a:spcAft>
              <a:buChar char="•"/>
              <a:defRPr sz="1875" b="0">
                <a:solidFill>
                  <a:srgbClr val="000000"/>
                </a:solidFill>
                <a:latin typeface="Aptos"/>
                <a:ea typeface="Aptos"/>
                <a:cs typeface="Aptos"/>
              </a:defRPr>
            </a:pPr>
            <a:r>
              <a:rPr sz="1875">
                <a:solidFill>
                  <a:srgbClr val="000000"/>
                </a:solidFill>
                <a:latin typeface="Aptos"/>
                <a:ea typeface="Aptos"/>
                <a:cs typeface="Aptos"/>
              </a:rPr>
              <a:t>We calculate absolute percentage error per sample, then average within participants and across participants.</a:t>
            </a:r>
          </a:p>
        </p:txBody>
      </p:sp>
    </p:spTree>
    <p:extLst>
      <p:ext uri="{BB962C8B-B14F-4D97-AF65-F5344CB8AC3E}">
        <p14:creationId xmlns:p14="http://schemas.microsoft.com/office/powerpoint/2010/main" val="190085431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What we tried</a:t>
            </a:r>
          </a:p>
        </p:txBody>
      </p:sp>
      <p:sp>
        <p:nvSpPr>
          <p:cNvPr id="2" name="">
            <a:extLst xmlns:a="http://schemas.openxmlformats.org/drawingml/2006/main">
              <a:ext uri="{FF2B5EF4-FFF2-40B4-BE49-F238E27FC236}">
                <a16:creationId xmlns:a16="http://schemas.microsoft.com/office/drawing/2014/main" id="{DA0B3D9B-6BBC-4604-A2F4-8F2B4AF2AD3F}"/>
              </a:ext>
            </a:extLst>
          </p:cNvPr>
          <p:cNvSpPr>
            <a:spLocks xmlns:a="http://schemas.openxmlformats.org/drawingml/2006/main" noGrp="1"/>
          </p:cNvSpPr>
          <p:nvPr/>
        </p:nvSpPr>
        <p:spPr>
          <a:xfrm xmlns:a="http://schemas.openxmlformats.org/drawingml/2006/main">
            <a:off x="723900" y="1619250"/>
            <a:ext cx="10706100" cy="433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Aptos"/>
                <a:ea typeface="Aptos"/>
                <a:cs typeface="Aptos"/>
              </a:defRPr>
            </a:defPPr>
          </a:lstStyle>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Aligned vocabulary processing with historical TAALED dictionary, word-category and pause rules.</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Used native CLAN calculations to respect CHAT word and utterance eligibility.</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Compared prediction from whole paragraphs, prediction within observed speaker turns, and rules.</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Tested fixed settings for deciding where utterances end on development participants.</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Compared learning rates and count-loss weights using five-fold participant cross-validation.</a:t>
            </a:r>
          </a:p>
        </p:txBody>
      </p:sp>
    </p:spTree>
    <p:extLst>
      <p:ext uri="{BB962C8B-B14F-4D97-AF65-F5344CB8AC3E}">
        <p14:creationId xmlns:p14="http://schemas.microsoft.com/office/powerpoint/2010/main" val="140966591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Five-fold cross-validation</a:t>
            </a:r>
          </a:p>
        </p:txBody>
      </p:sp>
      <p:sp>
        <p:nvSpPr>
          <p:cNvPr id="2" name="">
            <a:extLst xmlns:a="http://schemas.openxmlformats.org/drawingml/2006/main">
              <a:ext uri="{FF2B5EF4-FFF2-40B4-BE49-F238E27FC236}">
                <a16:creationId xmlns:a16="http://schemas.microsoft.com/office/drawing/2014/main" id="{7382728E-0CA5-4A13-9088-027D57AB2355}"/>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Model-setting comparisons use only the original 231 usable training children.</a:t>
            </a:r>
          </a:p>
        </p:txBody>
      </p:sp>
      <p:sp>
        <p:nvSpPr>
          <p:cNvPr id="3" name="">
            <a:extLst xmlns:a="http://schemas.openxmlformats.org/drawingml/2006/main">
              <a:ext uri="{FF2B5EF4-FFF2-40B4-BE49-F238E27FC236}">
                <a16:creationId xmlns:a16="http://schemas.microsoft.com/office/drawing/2014/main" id="{B59BC768-D936-4DE5-AB09-315190FA2518}"/>
              </a:ext>
            </a:extLst>
          </p:cNvPr>
          <p:cNvSpPr>
            <a:spLocks xmlns:a="http://schemas.openxmlformats.org/drawingml/2006/main" noGrp="1"/>
          </p:cNvSpPr>
          <p:nvPr/>
        </p:nvSpPr>
        <p:spPr>
          <a:xfrm xmlns:a="http://schemas.openxmlformats.org/drawingml/2006/main">
            <a:off x="723900" y="1857375"/>
            <a:ext cx="107061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ptos"/>
                <a:ea typeface="Aptos"/>
                <a:cs typeface="Aptos"/>
              </a:defRPr>
            </a:defPPr>
          </a:lstStyle>
          <a:p xmlns:a="http://schemas.openxmlformats.org/drawingml/2006/main">
            <a:pPr marL="279400" indent="-139700" algn="l">
              <a:spcAft>
                <a:spcPts val="1200"/>
              </a:spcAft>
              <a:buChar char="•"/>
              <a:defRPr sz="2100" b="0">
                <a:solidFill>
                  <a:srgbClr val="000000"/>
                </a:solidFill>
                <a:latin typeface="Aptos"/>
                <a:ea typeface="Aptos"/>
                <a:cs typeface="Aptos"/>
              </a:defRPr>
            </a:pPr>
            <a:r>
              <a:rPr sz="2100">
                <a:solidFill>
                  <a:srgbClr val="000000"/>
                </a:solidFill>
                <a:latin typeface="Aptos"/>
                <a:ea typeface="Aptos"/>
                <a:cs typeface="Aptos"/>
              </a:rPr>
              <a:t>Each configuration has five fits, with different children held out each time.</a:t>
            </a:r>
          </a:p>
          <a:p xmlns:a="http://schemas.openxmlformats.org/drawingml/2006/main">
            <a:pPr marL="279400" indent="-139700" algn="l">
              <a:spcAft>
                <a:spcPts val="1200"/>
              </a:spcAft>
              <a:buChar char="•"/>
              <a:defRPr sz="2100" b="0">
                <a:solidFill>
                  <a:srgbClr val="000000"/>
                </a:solidFill>
                <a:latin typeface="Aptos"/>
                <a:ea typeface="Aptos"/>
                <a:cs typeface="Aptos"/>
              </a:defRPr>
            </a:pPr>
            <a:r>
              <a:rPr sz="2100">
                <a:solidFill>
                  <a:srgbClr val="000000"/>
                </a:solidFill>
                <a:latin typeface="Aptos"/>
                <a:ea typeface="Aptos"/>
                <a:cs typeface="Aptos"/>
              </a:rPr>
              <a:t>Separate inner children select the checkpoint and boundary setting within each fold.</a:t>
            </a:r>
          </a:p>
          <a:p xmlns:a="http://schemas.openxmlformats.org/drawingml/2006/main">
            <a:pPr marL="279400" indent="-139700" algn="l">
              <a:spcAft>
                <a:spcPts val="1200"/>
              </a:spcAft>
              <a:buChar char="•"/>
              <a:defRPr sz="2100" b="0">
                <a:solidFill>
                  <a:srgbClr val="000000"/>
                </a:solidFill>
                <a:latin typeface="Aptos"/>
                <a:ea typeface="Aptos"/>
                <a:cs typeface="Aptos"/>
              </a:defRPr>
            </a:pPr>
            <a:r>
              <a:rPr sz="2100">
                <a:solidFill>
                  <a:srgbClr val="000000"/>
                </a:solidFill>
                <a:latin typeface="Aptos"/>
                <a:ea typeface="Aptos"/>
                <a:cs typeface="Aptos"/>
              </a:rPr>
              <a:t>We pool held-out predictions across all five folds to compare configurations.</a:t>
            </a:r>
          </a:p>
        </p:txBody>
      </p:sp>
      <p:graphicFrame>
        <p:nvGraphicFramePr>
          <p:cNvPr id="4" name="">
            <a:extLst xmlns:a="http://schemas.openxmlformats.org/drawingml/2006/main">
              <a:ext uri="{FF2B5EF4-FFF2-40B4-BE49-F238E27FC236}">
                <a16:creationId xmlns:a16="http://schemas.microsoft.com/office/drawing/2014/main" id="{85C793DB-C28B-4CC2-8031-DEE2DA9A2F76}"/>
              </a:ext>
            </a:extLst>
          </p:cNvPr>
          <p:cNvGraphicFramePr/>
          <p:nvPr/>
        </p:nvGraphicFramePr>
        <p:xfrm>
          <a:off xmlns:a="http://schemas.openxmlformats.org/drawingml/2006/main" x="609600" y="3952875"/>
          <a:ext xmlns:a="http://schemas.openxmlformats.org/drawingml/2006/main" cx="10972800" cy="1809750"/>
        </p:xfrm>
        <a:graphic xmlns:a="http://schemas.openxmlformats.org/drawingml/2006/main">
          <a:graphicData uri="http://schemas.openxmlformats.org/drawingml/2006/table">
            <a:tbl>
              <a:tblPr firstRow="1" bandRow="0"/>
              <a:tblGrid>
                <a:gridCol w="8096250"/>
                <a:gridCol w="2876550"/>
              </a:tblGrid>
              <a:tr h="452438">
                <a:tc>
                  <a:txBody>
                    <a:bodyPr lIns="114300" tIns="114300" rIns="114300" bIns="114300"/>
                    <a:lstStyle/>
                    <a:p>
                      <a:r>
                        <a:rPr sz="1950" b="1">
                          <a:solidFill>
                            <a:srgbClr val="FFFFFF"/>
                          </a:solidFill>
                          <a:latin typeface="Aptos"/>
                          <a:ea typeface="Aptos"/>
                          <a:cs typeface="Aptos"/>
                        </a:rPr>
                        <a:t>Completed configuration</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950" b="1">
                          <a:solidFill>
                            <a:srgbClr val="FFFFFF"/>
                          </a:solidFill>
                          <a:latin typeface="Aptos"/>
                          <a:ea typeface="Aptos"/>
                          <a:cs typeface="Aptos"/>
                        </a:rPr>
                        <a:t>Combined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452438">
                <a:tc>
                  <a:txBody>
                    <a:bodyPr lIns="114300" tIns="114300" rIns="114300" bIns="114300"/>
                    <a:lstStyle/>
                    <a:p>
                      <a:r>
                        <a:rPr sz="1950" b="0">
                          <a:solidFill>
                            <a:srgbClr val="000000"/>
                          </a:solidFill>
                          <a:latin typeface="Aptos"/>
                          <a:ea typeface="Aptos"/>
                          <a:cs typeface="Aptos"/>
                        </a:rPr>
                        <a:t>Baseline learning rate and count loss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13.16%</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52438">
                <a:tc>
                  <a:txBody>
                    <a:bodyPr lIns="114300" tIns="114300" rIns="114300" bIns="114300"/>
                    <a:lstStyle/>
                    <a:p>
                      <a:r>
                        <a:rPr sz="1950" b="0">
                          <a:solidFill>
                            <a:srgbClr val="000000"/>
                          </a:solidFill>
                          <a:latin typeface="Aptos"/>
                          <a:ea typeface="Aptos"/>
                          <a:cs typeface="Aptos"/>
                        </a:rPr>
                        <a:t>Lower count-loss weight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13.36%</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52438">
                <a:tc>
                  <a:txBody>
                    <a:bodyPr lIns="114300" tIns="114300" rIns="114300" bIns="114300"/>
                    <a:lstStyle/>
                    <a:p>
                      <a:r>
                        <a:rPr sz="1950" b="0">
                          <a:solidFill>
                            <a:srgbClr val="000000"/>
                          </a:solidFill>
                          <a:latin typeface="Aptos"/>
                          <a:ea typeface="Aptos"/>
                          <a:cs typeface="Aptos"/>
                        </a:rPr>
                        <a:t>Higher learning rate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13.52%</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4B3A318-4D62-4A4F-889D-565EFF64132A}"/>
              </a:ext>
            </a:extLst>
          </p:cNvPr>
          <p:cNvSpPr>
            <a:spLocks xmlns:a="http://schemas.openxmlformats.org/drawingml/2006/main" noGrp="1"/>
          </p:cNvSpPr>
          <p:nvPr/>
        </p:nvSpPr>
        <p:spPr>
          <a:xfrm xmlns:a="http://schemas.openxmlformats.org/drawingml/2006/main">
            <a:off x="723900" y="6000750"/>
            <a:ext cx="10706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0000"/>
                </a:solidFill>
                <a:latin typeface="Aptos"/>
                <a:ea typeface="Aptos"/>
                <a:cs typeface="Aptos"/>
              </a:defRPr>
            </a:defPPr>
          </a:lstStyle>
          <a:p xmlns:a="http://schemas.openxmlformats.org/drawingml/2006/main">
            <a:pPr marL="279400" indent="-139700" algn="l">
              <a:spcAft>
                <a:spcPts val="0"/>
              </a:spcAft>
              <a:buChar char="•"/>
              <a:defRPr sz="1875" b="0">
                <a:solidFill>
                  <a:srgbClr val="000000"/>
                </a:solidFill>
                <a:latin typeface="Aptos"/>
                <a:ea typeface="Aptos"/>
                <a:cs typeface="Aptos"/>
              </a:defRPr>
            </a:pPr>
            <a:r>
              <a:rPr sz="1875">
                <a:solidFill>
                  <a:srgbClr val="000000"/>
                </a:solidFill>
                <a:latin typeface="Aptos"/>
                <a:ea typeface="Aptos"/>
                <a:cs typeface="Aptos"/>
              </a:rPr>
              <a:t>Three configurations completed all five folds. A fourth stopped in fold 1 and stays outside the ranking.</a:t>
            </a:r>
          </a:p>
        </p:txBody>
      </p:sp>
    </p:spTree>
    <p:extLst>
      <p:ext uri="{BB962C8B-B14F-4D97-AF65-F5344CB8AC3E}">
        <p14:creationId xmlns:p14="http://schemas.microsoft.com/office/powerpoint/2010/main" val="166465140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4B9DAB6B-896E-441D-8384-37444A5D328C}"/>
              </a:ext>
            </a:extLst>
          </p:cNvPr>
          <p:cNvCxnSpPr>
            <a:stCxn xmlns:a="http://schemas.openxmlformats.org/drawingml/2006/main" id="5" idx="3"/>
            <a:endCxn xmlns:a="http://schemas.openxmlformats.org/drawingml/2006/main" id="6" idx="1"/>
          </p:cNvCxnSpPr>
          <p:nvPr/>
        </p:nvCxnSpPr>
        <p:spPr>
          <a:xfrm xmlns:a="http://schemas.openxmlformats.org/drawingml/2006/main">
            <a:off x="932497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9" name="">
            <a:extLst xmlns:a="http://schemas.openxmlformats.org/drawingml/2006/main">
              <a:ext uri="{FF2B5EF4-FFF2-40B4-BE49-F238E27FC236}">
                <a16:creationId xmlns:a16="http://schemas.microsoft.com/office/drawing/2014/main" id="{FE5BB3D0-EDCF-4D70-814F-62A5152F085B}"/>
              </a:ext>
            </a:extLst>
          </p:cNvPr>
          <p:cNvCxnSpPr>
            <a:stCxn xmlns:a="http://schemas.openxmlformats.org/drawingml/2006/main" id="4" idx="3"/>
            <a:endCxn xmlns:a="http://schemas.openxmlformats.org/drawingml/2006/main" id="5" idx="1"/>
          </p:cNvCxnSpPr>
          <p:nvPr/>
        </p:nvCxnSpPr>
        <p:spPr>
          <a:xfrm xmlns:a="http://schemas.openxmlformats.org/drawingml/2006/main">
            <a:off x="706755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8" name="">
            <a:extLst xmlns:a="http://schemas.openxmlformats.org/drawingml/2006/main">
              <a:ext uri="{FF2B5EF4-FFF2-40B4-BE49-F238E27FC236}">
                <a16:creationId xmlns:a16="http://schemas.microsoft.com/office/drawing/2014/main" id="{2A3C0EB5-D619-4D05-AD5E-F72859475734}"/>
              </a:ext>
            </a:extLst>
          </p:cNvPr>
          <p:cNvCxnSpPr>
            <a:stCxn xmlns:a="http://schemas.openxmlformats.org/drawingml/2006/main" id="3" idx="3"/>
            <a:endCxn xmlns:a="http://schemas.openxmlformats.org/drawingml/2006/main" id="4" idx="1"/>
          </p:cNvCxnSpPr>
          <p:nvPr/>
        </p:nvCxnSpPr>
        <p:spPr>
          <a:xfrm xmlns:a="http://schemas.openxmlformats.org/drawingml/2006/main">
            <a:off x="481012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7" name="">
            <a:extLst xmlns:a="http://schemas.openxmlformats.org/drawingml/2006/main">
              <a:ext uri="{FF2B5EF4-FFF2-40B4-BE49-F238E27FC236}">
                <a16:creationId xmlns:a16="http://schemas.microsoft.com/office/drawing/2014/main" id="{A429C19D-2AF4-41F8-B24E-B85348B31443}"/>
              </a:ext>
            </a:extLst>
          </p:cNvPr>
          <p:cNvCxnSpPr>
            <a:stCxn xmlns:a="http://schemas.openxmlformats.org/drawingml/2006/main" id="2" idx="3"/>
            <a:endCxn xmlns:a="http://schemas.openxmlformats.org/drawingml/2006/main" id="3" idx="1"/>
          </p:cNvCxnSpPr>
          <p:nvPr/>
        </p:nvCxnSpPr>
        <p:spPr>
          <a:xfrm xmlns:a="http://schemas.openxmlformats.org/drawingml/2006/main">
            <a:off x="255270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sp>
        <p:nvSpPr>
          <p:cNvPr id="12"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LUCID comparison (provisional)</a:t>
            </a:r>
          </a:p>
        </p:txBody>
      </p:sp>
      <p:sp>
        <p:nvSpPr>
          <p:cNvPr id="2" name="">
            <a:extLst xmlns:a="http://schemas.openxmlformats.org/drawingml/2006/main">
              <a:ext uri="{FF2B5EF4-FFF2-40B4-BE49-F238E27FC236}">
                <a16:creationId xmlns:a16="http://schemas.microsoft.com/office/drawing/2014/main" id="{892F700B-63A9-4CCC-AB18-3C0A5AEFA689}"/>
              </a:ext>
            </a:extLst>
          </p:cNvPr>
          <p:cNvSpPr>
            <a:spLocks xmlns:a="http://schemas.openxmlformats.org/drawingml/2006/main" noGrp="1"/>
          </p:cNvSpPr>
          <p:nvPr/>
        </p:nvSpPr>
        <p:spPr>
          <a:xfrm xmlns:a="http://schemas.openxmlformats.org/drawingml/2006/main">
            <a:off x="6096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Human</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TextGrids</a:t>
            </a:r>
          </a:p>
        </p:txBody>
      </p:sp>
      <p:sp>
        <p:nvSpPr>
          <p:cNvPr id="3" name="">
            <a:extLst xmlns:a="http://schemas.openxmlformats.org/drawingml/2006/main">
              <a:ext uri="{FF2B5EF4-FFF2-40B4-BE49-F238E27FC236}">
                <a16:creationId xmlns:a16="http://schemas.microsoft.com/office/drawing/2014/main" id="{2790C464-B59A-4610-843F-8E4786C8B378}"/>
              </a:ext>
            </a:extLst>
          </p:cNvPr>
          <p:cNvSpPr>
            <a:spLocks xmlns:a="http://schemas.openxmlformats.org/drawingml/2006/main" noGrp="1"/>
          </p:cNvSpPr>
          <p:nvPr/>
        </p:nvSpPr>
        <p:spPr>
          <a:xfrm xmlns:a="http://schemas.openxmlformats.org/drawingml/2006/main">
            <a:off x="286702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Keep the target</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speaker’s words</a:t>
            </a:r>
          </a:p>
        </p:txBody>
      </p:sp>
      <p:sp>
        <p:nvSpPr>
          <p:cNvPr id="4" name="">
            <a:extLst xmlns:a="http://schemas.openxmlformats.org/drawingml/2006/main">
              <a:ext uri="{FF2B5EF4-FFF2-40B4-BE49-F238E27FC236}">
                <a16:creationId xmlns:a16="http://schemas.microsoft.com/office/drawing/2014/main" id="{C46442BF-DC62-4042-90F9-8074844B5A0E}"/>
              </a:ext>
            </a:extLst>
          </p:cNvPr>
          <p:cNvSpPr>
            <a:spLocks xmlns:a="http://schemas.openxmlformats.org/drawingml/2006/main" noGrp="1"/>
          </p:cNvSpPr>
          <p:nvPr/>
        </p:nvSpPr>
        <p:spPr>
          <a:xfrm xmlns:a="http://schemas.openxmlformats.org/drawingml/2006/main">
            <a:off x="512445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Calculate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vocabulary measures</a:t>
            </a:r>
          </a:p>
        </p:txBody>
      </p:sp>
      <p:sp>
        <p:nvSpPr>
          <p:cNvPr id="5" name="">
            <a:extLst xmlns:a="http://schemas.openxmlformats.org/drawingml/2006/main">
              <a:ext uri="{FF2B5EF4-FFF2-40B4-BE49-F238E27FC236}">
                <a16:creationId xmlns:a16="http://schemas.microsoft.com/office/drawing/2014/main" id="{661B038C-9051-4FA2-B7F9-73B5FD015660}"/>
              </a:ext>
            </a:extLst>
          </p:cNvPr>
          <p:cNvSpPr>
            <a:spLocks xmlns:a="http://schemas.openxmlformats.org/drawingml/2006/main" noGrp="1"/>
          </p:cNvSpPr>
          <p:nvPr/>
        </p:nvSpPr>
        <p:spPr>
          <a:xfrm xmlns:a="http://schemas.openxmlformats.org/drawingml/2006/main">
            <a:off x="738187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Compare with saved</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reference values</a:t>
            </a:r>
          </a:p>
        </p:txBody>
      </p:sp>
      <p:sp>
        <p:nvSpPr>
          <p:cNvPr id="6" name="">
            <a:extLst xmlns:a="http://schemas.openxmlformats.org/drawingml/2006/main">
              <a:ext uri="{FF2B5EF4-FFF2-40B4-BE49-F238E27FC236}">
                <a16:creationId xmlns:a16="http://schemas.microsoft.com/office/drawing/2014/main" id="{8E2DD33A-0F92-468A-8E13-368F5FE21779}"/>
              </a:ext>
            </a:extLst>
          </p:cNvPr>
          <p:cNvSpPr>
            <a:spLocks xmlns:a="http://schemas.openxmlformats.org/drawingml/2006/main" noGrp="1"/>
          </p:cNvSpPr>
          <p:nvPr/>
        </p:nvSpPr>
        <p:spPr>
          <a:xfrm xmlns:a="http://schemas.openxmlformats.org/drawingml/2006/main">
            <a:off x="96393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Report the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differences</a:t>
            </a:r>
          </a:p>
        </p:txBody>
      </p:sp>
      <p:sp>
        <p:nvSpPr>
          <p:cNvPr id="11" name="">
            <a:extLst xmlns:a="http://schemas.openxmlformats.org/drawingml/2006/main">
              <a:ext uri="{FF2B5EF4-FFF2-40B4-BE49-F238E27FC236}">
                <a16:creationId xmlns:a16="http://schemas.microsoft.com/office/drawing/2014/main" id="{6F62012A-AFBE-4832-85F2-D03CA9DFB780}"/>
              </a:ext>
            </a:extLst>
          </p:cNvPr>
          <p:cNvSpPr>
            <a:spLocks xmlns:a="http://schemas.openxmlformats.org/drawingml/2006/main" noGrp="1"/>
          </p:cNvSpPr>
          <p:nvPr/>
        </p:nvSpPr>
        <p:spPr>
          <a:xfrm xmlns:a="http://schemas.openxmlformats.org/drawingml/2006/main">
            <a:off x="723900" y="4476750"/>
            <a:ext cx="10706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Aptos"/>
                <a:ea typeface="Aptos"/>
                <a:cs typeface="Aptos"/>
              </a:defRPr>
            </a:defPPr>
          </a:lstStyle>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We match each sample by speaker, listening condition and scene.</a:t>
            </a:r>
          </a:p>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This comparison checks vocabulary calculations from human transcripts.</a:t>
            </a:r>
          </a:p>
        </p:txBody>
      </p:sp>
    </p:spTree>
    <p:extLst>
      <p:ext uri="{BB962C8B-B14F-4D97-AF65-F5344CB8AC3E}">
        <p14:creationId xmlns:p14="http://schemas.microsoft.com/office/powerpoint/2010/main" val="134724833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LUCID: paper metrics and exported data</a:t>
            </a:r>
          </a:p>
        </p:txBody>
      </p:sp>
      <p:sp>
        <p:nvSpPr>
          <p:cNvPr id="2" name="">
            <a:extLst xmlns:a="http://schemas.openxmlformats.org/drawingml/2006/main">
              <a:ext uri="{FF2B5EF4-FFF2-40B4-BE49-F238E27FC236}">
                <a16:creationId xmlns:a16="http://schemas.microsoft.com/office/drawing/2014/main" id="{CD62113D-C6A6-4D11-B680-E3AFF71BDC24}"/>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Baese-Berk et al. (2021): TAALED for diversity, TAALES for sophistication.</a:t>
            </a:r>
          </a:p>
        </p:txBody>
      </p:sp>
      <p:graphicFrame>
        <p:nvGraphicFramePr>
          <p:cNvPr id="3" name="">
            <a:extLst xmlns:a="http://schemas.openxmlformats.org/drawingml/2006/main">
              <a:ext uri="{FF2B5EF4-FFF2-40B4-BE49-F238E27FC236}">
                <a16:creationId xmlns:a16="http://schemas.microsoft.com/office/drawing/2014/main" id="{11C7EEE0-E365-48EB-BD77-91CC5B4CBE28}"/>
              </a:ext>
            </a:extLst>
          </p:cNvPr>
          <p:cNvGraphicFramePr/>
          <p:nvPr/>
        </p:nvGraphicFramePr>
        <p:xfrm>
          <a:off xmlns:a="http://schemas.openxmlformats.org/drawingml/2006/main" x="609600" y="1952625"/>
          <a:ext xmlns:a="http://schemas.openxmlformats.org/drawingml/2006/main" cx="10972800" cy="2714625"/>
        </p:xfrm>
        <a:graphic xmlns:a="http://schemas.openxmlformats.org/drawingml/2006/main">
          <a:graphicData uri="http://schemas.openxmlformats.org/drawingml/2006/table">
            <a:tbl>
              <a:tblPr firstRow="1" bandRow="0"/>
              <a:tblGrid>
                <a:gridCol w="6191250"/>
                <a:gridCol w="4781550"/>
              </a:tblGrid>
              <a:tr h="542925">
                <a:tc>
                  <a:txBody>
                    <a:bodyPr lIns="114300" tIns="114300" rIns="114300" bIns="114300"/>
                    <a:lstStyle/>
                    <a:p>
                      <a:r>
                        <a:rPr sz="1950" b="1">
                          <a:solidFill>
                            <a:srgbClr val="FFFFFF"/>
                          </a:solidFill>
                          <a:latin typeface="Aptos"/>
                          <a:ea typeface="Aptos"/>
                          <a:cs typeface="Aptos"/>
                        </a:rPr>
                        <a:t>Main article</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950" b="1">
                          <a:solidFill>
                            <a:srgbClr val="FFFFFF"/>
                          </a:solidFill>
                          <a:latin typeface="Aptos"/>
                          <a:ea typeface="Aptos"/>
                          <a:cs typeface="Aptos"/>
                        </a:rPr>
                        <a:t>Field in the local reference CSV</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542925">
                <a:tc>
                  <a:txBody>
                    <a:bodyPr lIns="114300" tIns="114300" rIns="114300" bIns="114300"/>
                    <a:lstStyle/>
                    <a:p>
                      <a:r>
                        <a:rPr sz="1950" b="0">
                          <a:solidFill>
                            <a:srgbClr val="000000"/>
                          </a:solidFill>
                          <a:latin typeface="Aptos"/>
                          <a:ea typeface="Aptos"/>
                          <a:cs typeface="Aptos"/>
                        </a:rPr>
                        <a:t>Table 1: mean word count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basic_ntokens</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42925">
                <a:tc>
                  <a:txBody>
                    <a:bodyPr lIns="114300" tIns="114300" rIns="114300" bIns="114300"/>
                    <a:lstStyle/>
                    <a:p>
                      <a:r>
                        <a:rPr sz="1950" b="0">
                          <a:solidFill>
                            <a:srgbClr val="000000"/>
                          </a:solidFill>
                          <a:latin typeface="Aptos"/>
                          <a:ea typeface="Aptos"/>
                          <a:cs typeface="Aptos"/>
                        </a:rPr>
                        <a:t>Figure 1: type–token ratio</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simple_ttr_aw</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42925">
                <a:tc>
                  <a:txBody>
                    <a:bodyPr lIns="114300" tIns="114300" rIns="114300" bIns="114300"/>
                    <a:lstStyle/>
                    <a:p>
                      <a:r>
                        <a:rPr sz="1950" b="0">
                          <a:solidFill>
                            <a:srgbClr val="000000"/>
                          </a:solidFill>
                          <a:latin typeface="Aptos"/>
                          <a:ea typeface="Aptos"/>
                          <a:cs typeface="Aptos"/>
                        </a:rPr>
                        <a:t>Figure 2: moving-average TTR</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mattr50_aw</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42925">
                <a:tc>
                  <a:txBody>
                    <a:bodyPr lIns="114300" tIns="114300" rIns="114300" bIns="114300"/>
                    <a:lstStyle/>
                    <a:p>
                      <a:r>
                        <a:rPr sz="1950" b="0">
                          <a:solidFill>
                            <a:srgbClr val="000000"/>
                          </a:solidFill>
                          <a:latin typeface="Aptos"/>
                          <a:ea typeface="Aptos"/>
                          <a:cs typeface="Aptos"/>
                        </a:rPr>
                        <a:t>Figure 3: HD-D42 diversity measure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950" b="0">
                          <a:solidFill>
                            <a:srgbClr val="000000"/>
                          </a:solidFill>
                          <a:latin typeface="Aptos"/>
                          <a:ea typeface="Aptos"/>
                          <a:cs typeface="Aptos"/>
                        </a:rPr>
                        <a:t>hdd42_aw</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8FAE09E-511F-408A-8BDA-34A7295BCFDA}"/>
              </a:ext>
            </a:extLst>
          </p:cNvPr>
          <p:cNvSpPr>
            <a:spLocks xmlns:a="http://schemas.openxmlformats.org/drawingml/2006/main" noGrp="1"/>
          </p:cNvSpPr>
          <p:nvPr/>
        </p:nvSpPr>
        <p:spPr>
          <a:xfrm xmlns:a="http://schemas.openxmlformats.org/drawingml/2006/main">
            <a:off x="723900" y="5095875"/>
            <a:ext cx="107061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marL="279400" indent="-139700" algn="l">
              <a:spcAft>
                <a:spcPts val="1200"/>
              </a:spcAft>
              <a:buChar char="•"/>
              <a:defRPr sz="2025" b="0">
                <a:solidFill>
                  <a:srgbClr val="000000"/>
                </a:solidFill>
                <a:latin typeface="Aptos"/>
                <a:ea typeface="Aptos"/>
                <a:cs typeface="Aptos"/>
              </a:defRPr>
            </a:pPr>
            <a:r>
              <a:rPr sz="2025">
                <a:solidFill>
                  <a:srgbClr val="000000"/>
                </a:solidFill>
                <a:latin typeface="Aptos"/>
                <a:ea typeface="Aptos"/>
                <a:cs typeface="Aptos"/>
              </a:rPr>
              <a:t>Our 15-field comparison also includes additional counts, densities and diversity measures in the export.</a:t>
            </a:r>
          </a:p>
          <a:p xmlns:a="http://schemas.openxmlformats.org/drawingml/2006/main">
            <a:pPr marL="279400" indent="-139700" algn="l">
              <a:spcAft>
                <a:spcPts val="1200"/>
              </a:spcAft>
              <a:buChar char="•"/>
              <a:defRPr sz="2025" b="0">
                <a:solidFill>
                  <a:srgbClr val="000000"/>
                </a:solidFill>
                <a:latin typeface="Aptos"/>
                <a:ea typeface="Aptos"/>
                <a:cs typeface="Aptos"/>
              </a:defRPr>
            </a:pPr>
            <a:r>
              <a:rPr sz="2025">
                <a:solidFill>
                  <a:srgbClr val="000000"/>
                </a:solidFill>
                <a:latin typeface="Aptos"/>
                <a:ea typeface="Aptos"/>
                <a:cs typeface="Aptos"/>
              </a:rPr>
              <a:t>Our original-MTLD field differs from Figure 4’s moving-average version.</a:t>
            </a:r>
          </a:p>
        </p:txBody>
      </p:sp>
    </p:spTree>
    <p:extLst>
      <p:ext uri="{BB962C8B-B14F-4D97-AF65-F5344CB8AC3E}">
        <p14:creationId xmlns:p14="http://schemas.microsoft.com/office/powerpoint/2010/main" val="102096361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LUCID results (provisional)</a:t>
            </a:r>
          </a:p>
        </p:txBody>
      </p:sp>
      <p:sp>
        <p:nvSpPr>
          <p:cNvPr id="2" name="">
            <a:extLst xmlns:a="http://schemas.openxmlformats.org/drawingml/2006/main">
              <a:ext uri="{FF2B5EF4-FFF2-40B4-BE49-F238E27FC236}">
                <a16:creationId xmlns:a16="http://schemas.microsoft.com/office/drawing/2014/main" id="{5413F28F-7267-47E6-B4C3-035CF2086024}"/>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Mean participant absolute percentage error against the retained reference values</a:t>
            </a:r>
          </a:p>
        </p:txBody>
      </p:sp>
      <p:graphicFrame>
        <p:nvGraphicFramePr>
          <p:cNvPr id="3" name="">
            <a:extLst xmlns:a="http://schemas.openxmlformats.org/drawingml/2006/main">
              <a:ext uri="{FF2B5EF4-FFF2-40B4-BE49-F238E27FC236}">
                <a16:creationId xmlns:a16="http://schemas.microsoft.com/office/drawing/2014/main" id="{17202AC8-2A55-4B0E-9027-E0E7B904A497}"/>
              </a:ext>
            </a:extLst>
          </p:cNvPr>
          <p:cNvGraphicFramePr/>
          <p:nvPr/>
        </p:nvGraphicFramePr>
        <p:xfrm>
          <a:off xmlns:a="http://schemas.openxmlformats.org/drawingml/2006/main" x="609600" y="1952625"/>
          <a:ext xmlns:a="http://schemas.openxmlformats.org/drawingml/2006/main" cx="10972800" cy="3095625"/>
        </p:xfrm>
        <a:graphic xmlns:a="http://schemas.openxmlformats.org/drawingml/2006/main">
          <a:graphicData uri="http://schemas.openxmlformats.org/drawingml/2006/table">
            <a:tbl>
              <a:tblPr firstRow="1" bandRow="0"/>
              <a:tblGrid>
                <a:gridCol w="2381250"/>
                <a:gridCol w="1428750"/>
                <a:gridCol w="1809750"/>
                <a:gridCol w="1619250"/>
                <a:gridCol w="1914525"/>
                <a:gridCol w="1819275"/>
              </a:tblGrid>
              <a:tr h="619125">
                <a:tc>
                  <a:txBody>
                    <a:bodyPr lIns="114300" tIns="114300" rIns="114300" bIns="114300"/>
                    <a:lstStyle/>
                    <a:p>
                      <a:r>
                        <a:rPr sz="1875" b="1">
                          <a:solidFill>
                            <a:srgbClr val="FFFFFF"/>
                          </a:solidFill>
                          <a:latin typeface="Aptos"/>
                          <a:ea typeface="Aptos"/>
                          <a:cs typeface="Aptos"/>
                        </a:rPr>
                        <a:t>Condition</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Scored</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Word count</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TTR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MATTR-50</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HD-D42</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619125">
                <a:tc>
                  <a:txBody>
                    <a:bodyPr lIns="114300" tIns="114300" rIns="114300" bIns="114300"/>
                    <a:lstStyle/>
                    <a:p>
                      <a:r>
                        <a:rPr sz="1875" b="0">
                          <a:solidFill>
                            <a:srgbClr val="000000"/>
                          </a:solidFill>
                          <a:latin typeface="Aptos"/>
                          <a:ea typeface="Aptos"/>
                          <a:cs typeface="Aptos"/>
                        </a:rPr>
                        <a:t>Babble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60 / 60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0.76%</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1.31%</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0.44%</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0.37%</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9125">
                <a:tc>
                  <a:txBody>
                    <a:bodyPr lIns="114300" tIns="114300" rIns="114300" bIns="114300"/>
                    <a:lstStyle/>
                    <a:p>
                      <a:r>
                        <a:rPr sz="1875" b="0">
                          <a:solidFill>
                            <a:srgbClr val="000000"/>
                          </a:solidFill>
                          <a:latin typeface="Aptos"/>
                          <a:ea typeface="Aptos"/>
                          <a:cs typeface="Aptos"/>
                        </a:rPr>
                        <a:t>English-learner partner</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60 / 60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1.87%</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1.57%</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0.44%</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0.25%</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9125">
                <a:tc>
                  <a:txBody>
                    <a:bodyPr lIns="114300" tIns="114300" rIns="114300" bIns="114300"/>
                    <a:lstStyle/>
                    <a:p>
                      <a:r>
                        <a:rPr sz="1875" b="0">
                          <a:solidFill>
                            <a:srgbClr val="000000"/>
                          </a:solidFill>
                          <a:latin typeface="Aptos"/>
                          <a:ea typeface="Aptos"/>
                          <a:cs typeface="Aptos"/>
                        </a:rPr>
                        <a:t>No barrier</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60 / 60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16.60%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7.56%</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2.11%</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2.12%</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19125">
                <a:tc>
                  <a:txBody>
                    <a:bodyPr lIns="114300" tIns="114300" rIns="114300" bIns="114300"/>
                    <a:lstStyle/>
                    <a:p>
                      <a:r>
                        <a:rPr sz="1875" b="0">
                          <a:solidFill>
                            <a:srgbClr val="000000"/>
                          </a:solidFill>
                          <a:latin typeface="Aptos"/>
                          <a:ea typeface="Aptos"/>
                          <a:cs typeface="Aptos"/>
                        </a:rPr>
                        <a:t>Vocoder</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0 / 60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Unavailable</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Unavailable</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Unavailable</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Unavailable</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5CDDF35-0917-470E-8D77-E3955F85616A}"/>
              </a:ext>
            </a:extLst>
          </p:cNvPr>
          <p:cNvSpPr>
            <a:spLocks xmlns:a="http://schemas.openxmlformats.org/drawingml/2006/main" noGrp="1"/>
          </p:cNvSpPr>
          <p:nvPr/>
        </p:nvSpPr>
        <p:spPr>
          <a:xfrm xmlns:a="http://schemas.openxmlformats.org/drawingml/2006/main">
            <a:off x="723900" y="5286375"/>
            <a:ext cx="107061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Aptos"/>
                <a:ea typeface="Aptos"/>
                <a:cs typeface="Aptos"/>
              </a:defRPr>
            </a:defPPr>
          </a:lstStyle>
          <a:p xmlns:a="http://schemas.openxmlformats.org/drawingml/2006/main">
            <a:pPr marL="279400" indent="-139700" algn="l">
              <a:spcAft>
                <a:spcPts val="1200"/>
              </a:spcAft>
              <a:buChar char="•"/>
              <a:defRPr sz="1950" b="0">
                <a:solidFill>
                  <a:srgbClr val="000000"/>
                </a:solidFill>
                <a:latin typeface="Aptos"/>
                <a:ea typeface="Aptos"/>
                <a:cs typeface="Aptos"/>
              </a:defRPr>
            </a:pPr>
            <a:r>
              <a:rPr sz="1950">
                <a:solidFill>
                  <a:srgbClr val="000000"/>
                </a:solidFill>
                <a:latin typeface="Aptos"/>
                <a:ea typeface="Aptos"/>
                <a:cs typeface="Aptos"/>
              </a:rPr>
              <a:t>Babble and the English-learner condition show close agreement. No-barrier word counts remain less consistent.</a:t>
            </a:r>
          </a:p>
          <a:p xmlns:a="http://schemas.openxmlformats.org/drawingml/2006/main">
            <a:pPr marL="279400" indent="-139700" algn="l">
              <a:spcAft>
                <a:spcPts val="1200"/>
              </a:spcAft>
              <a:buChar char="•"/>
              <a:defRPr sz="1950" b="0">
                <a:solidFill>
                  <a:srgbClr val="000000"/>
                </a:solidFill>
                <a:latin typeface="Aptos"/>
                <a:ea typeface="Aptos"/>
                <a:cs typeface="Aptos"/>
              </a:defRPr>
            </a:pPr>
            <a:r>
              <a:rPr sz="1950">
                <a:solidFill>
                  <a:srgbClr val="000000"/>
                </a:solidFill>
                <a:latin typeface="Aptos"/>
                <a:ea typeface="Aptos"/>
                <a:cs typeface="Aptos"/>
              </a:rPr>
              <a:t>Vocoder recording matches are unresolved. Independent author-source confirmation is also pending.</a:t>
            </a:r>
          </a:p>
        </p:txBody>
      </p:sp>
    </p:spTree>
    <p:extLst>
      <p:ext uri="{BB962C8B-B14F-4D97-AF65-F5344CB8AC3E}">
        <p14:creationId xmlns:p14="http://schemas.microsoft.com/office/powerpoint/2010/main" val="29441234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B05F2054-A69C-4960-B7B3-ACD77A48B09B}"/>
              </a:ext>
            </a:extLst>
          </p:cNvPr>
          <p:cNvCxnSpPr>
            <a:stCxn xmlns:a="http://schemas.openxmlformats.org/drawingml/2006/main" id="6" idx="3"/>
            <a:endCxn xmlns:a="http://schemas.openxmlformats.org/drawingml/2006/main" id="7" idx="1"/>
          </p:cNvCxnSpPr>
          <p:nvPr/>
        </p:nvCxnSpPr>
        <p:spPr>
          <a:xfrm xmlns:a="http://schemas.openxmlformats.org/drawingml/2006/main">
            <a:off x="932497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10" name="">
            <a:extLst xmlns:a="http://schemas.openxmlformats.org/drawingml/2006/main">
              <a:ext uri="{FF2B5EF4-FFF2-40B4-BE49-F238E27FC236}">
                <a16:creationId xmlns:a16="http://schemas.microsoft.com/office/drawing/2014/main" id="{C9DBBBE4-BECC-4F13-800B-A94C4B9E2EB6}"/>
              </a:ext>
            </a:extLst>
          </p:cNvPr>
          <p:cNvCxnSpPr>
            <a:stCxn xmlns:a="http://schemas.openxmlformats.org/drawingml/2006/main" id="5" idx="3"/>
            <a:endCxn xmlns:a="http://schemas.openxmlformats.org/drawingml/2006/main" id="6" idx="1"/>
          </p:cNvCxnSpPr>
          <p:nvPr/>
        </p:nvCxnSpPr>
        <p:spPr>
          <a:xfrm xmlns:a="http://schemas.openxmlformats.org/drawingml/2006/main">
            <a:off x="706755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9" name="">
            <a:extLst xmlns:a="http://schemas.openxmlformats.org/drawingml/2006/main">
              <a:ext uri="{FF2B5EF4-FFF2-40B4-BE49-F238E27FC236}">
                <a16:creationId xmlns:a16="http://schemas.microsoft.com/office/drawing/2014/main" id="{409D94C5-207E-4596-819B-1DC587337B05}"/>
              </a:ext>
            </a:extLst>
          </p:cNvPr>
          <p:cNvCxnSpPr>
            <a:stCxn xmlns:a="http://schemas.openxmlformats.org/drawingml/2006/main" id="4" idx="3"/>
            <a:endCxn xmlns:a="http://schemas.openxmlformats.org/drawingml/2006/main" id="5" idx="1"/>
          </p:cNvCxnSpPr>
          <p:nvPr/>
        </p:nvCxnSpPr>
        <p:spPr>
          <a:xfrm xmlns:a="http://schemas.openxmlformats.org/drawingml/2006/main">
            <a:off x="481012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8" name="">
            <a:extLst xmlns:a="http://schemas.openxmlformats.org/drawingml/2006/main">
              <a:ext uri="{FF2B5EF4-FFF2-40B4-BE49-F238E27FC236}">
                <a16:creationId xmlns:a16="http://schemas.microsoft.com/office/drawing/2014/main" id="{7590E3C1-B04F-4256-928F-1810F90D50D4}"/>
              </a:ext>
            </a:extLst>
          </p:cNvPr>
          <p:cNvCxnSpPr>
            <a:stCxn xmlns:a="http://schemas.openxmlformats.org/drawingml/2006/main" id="3" idx="3"/>
            <a:endCxn xmlns:a="http://schemas.openxmlformats.org/drawingml/2006/main" id="4" idx="1"/>
          </p:cNvCxnSpPr>
          <p:nvPr/>
        </p:nvCxnSpPr>
        <p:spPr>
          <a:xfrm xmlns:a="http://schemas.openxmlformats.org/drawingml/2006/main">
            <a:off x="255270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sp>
        <p:nvSpPr>
          <p:cNvPr id="13"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Ohio Child Speech Corpus</a:t>
            </a:r>
          </a:p>
        </p:txBody>
      </p:sp>
      <p:sp>
        <p:nvSpPr>
          <p:cNvPr id="2" name="">
            <a:extLst xmlns:a="http://schemas.openxmlformats.org/drawingml/2006/main">
              <a:ext uri="{FF2B5EF4-FFF2-40B4-BE49-F238E27FC236}">
                <a16:creationId xmlns:a16="http://schemas.microsoft.com/office/drawing/2014/main" id="{332C85DC-3A0B-44FD-BCD8-8DB14A58A526}"/>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How we compared predicted utterances with human transcripts</a:t>
            </a:r>
          </a:p>
        </p:txBody>
      </p:sp>
      <p:sp>
        <p:nvSpPr>
          <p:cNvPr id="3" name="">
            <a:extLst xmlns:a="http://schemas.openxmlformats.org/drawingml/2006/main">
              <a:ext uri="{FF2B5EF4-FFF2-40B4-BE49-F238E27FC236}">
                <a16:creationId xmlns:a16="http://schemas.microsoft.com/office/drawing/2014/main" id="{BAF57D62-986A-41A1-AAA7-0707092896E1}"/>
              </a:ext>
            </a:extLst>
          </p:cNvPr>
          <p:cNvSpPr>
            <a:spLocks xmlns:a="http://schemas.openxmlformats.org/drawingml/2006/main" noGrp="1"/>
          </p:cNvSpPr>
          <p:nvPr/>
        </p:nvSpPr>
        <p:spPr>
          <a:xfrm xmlns:a="http://schemas.openxmlformats.org/drawingml/2006/main">
            <a:off x="6096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Human</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transcript</a:t>
            </a:r>
          </a:p>
        </p:txBody>
      </p:sp>
      <p:sp>
        <p:nvSpPr>
          <p:cNvPr id="4" name="">
            <a:extLst xmlns:a="http://schemas.openxmlformats.org/drawingml/2006/main">
              <a:ext uri="{FF2B5EF4-FFF2-40B4-BE49-F238E27FC236}">
                <a16:creationId xmlns:a16="http://schemas.microsoft.com/office/drawing/2014/main" id="{34517D9E-7B76-44CB-AA76-8192249CBFC0}"/>
              </a:ext>
            </a:extLst>
          </p:cNvPr>
          <p:cNvSpPr>
            <a:spLocks xmlns:a="http://schemas.openxmlformats.org/drawingml/2006/main" noGrp="1"/>
          </p:cNvSpPr>
          <p:nvPr/>
        </p:nvSpPr>
        <p:spPr>
          <a:xfrm xmlns:a="http://schemas.openxmlformats.org/drawingml/2006/main">
            <a:off x="286702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Child’s words</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without utterance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breaks</a:t>
            </a:r>
          </a:p>
        </p:txBody>
      </p:sp>
      <p:sp>
        <p:nvSpPr>
          <p:cNvPr id="5" name="">
            <a:extLst xmlns:a="http://schemas.openxmlformats.org/drawingml/2006/main">
              <a:ext uri="{FF2B5EF4-FFF2-40B4-BE49-F238E27FC236}">
                <a16:creationId xmlns:a16="http://schemas.microsoft.com/office/drawing/2014/main" id="{5908D1DA-121F-4F68-B764-DBAD0168DF57}"/>
              </a:ext>
            </a:extLst>
          </p:cNvPr>
          <p:cNvSpPr>
            <a:spLocks xmlns:a="http://schemas.openxmlformats.org/drawingml/2006/main" noGrp="1"/>
          </p:cNvSpPr>
          <p:nvPr/>
        </p:nvSpPr>
        <p:spPr>
          <a:xfrm xmlns:a="http://schemas.openxmlformats.org/drawingml/2006/main">
            <a:off x="512445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Our model predicts</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utterance endings</a:t>
            </a:r>
          </a:p>
        </p:txBody>
      </p:sp>
      <p:sp>
        <p:nvSpPr>
          <p:cNvPr id="6" name="">
            <a:extLst xmlns:a="http://schemas.openxmlformats.org/drawingml/2006/main">
              <a:ext uri="{FF2B5EF4-FFF2-40B4-BE49-F238E27FC236}">
                <a16:creationId xmlns:a16="http://schemas.microsoft.com/office/drawing/2014/main" id="{969E847D-4E79-43CE-80F2-73D82F154BEF}"/>
              </a:ext>
            </a:extLst>
          </p:cNvPr>
          <p:cNvSpPr>
            <a:spLocks xmlns:a="http://schemas.openxmlformats.org/drawingml/2006/main" noGrp="1"/>
          </p:cNvSpPr>
          <p:nvPr/>
        </p:nvSpPr>
        <p:spPr>
          <a:xfrm xmlns:a="http://schemas.openxmlformats.org/drawingml/2006/main">
            <a:off x="738187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Calculate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language measures</a:t>
            </a:r>
          </a:p>
        </p:txBody>
      </p:sp>
      <p:sp>
        <p:nvSpPr>
          <p:cNvPr id="7" name="">
            <a:extLst xmlns:a="http://schemas.openxmlformats.org/drawingml/2006/main">
              <a:ext uri="{FF2B5EF4-FFF2-40B4-BE49-F238E27FC236}">
                <a16:creationId xmlns:a16="http://schemas.microsoft.com/office/drawing/2014/main" id="{C2FCB9E6-6050-45CB-A9B5-07D0F02E0A21}"/>
              </a:ext>
            </a:extLst>
          </p:cNvPr>
          <p:cNvSpPr>
            <a:spLocks xmlns:a="http://schemas.openxmlformats.org/drawingml/2006/main" noGrp="1"/>
          </p:cNvSpPr>
          <p:nvPr/>
        </p:nvSpPr>
        <p:spPr>
          <a:xfrm xmlns:a="http://schemas.openxmlformats.org/drawingml/2006/main">
            <a:off x="96393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Compare with the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human reference</a:t>
            </a:r>
          </a:p>
        </p:txBody>
      </p:sp>
      <p:sp>
        <p:nvSpPr>
          <p:cNvPr id="12" name="">
            <a:extLst xmlns:a="http://schemas.openxmlformats.org/drawingml/2006/main">
              <a:ext uri="{FF2B5EF4-FFF2-40B4-BE49-F238E27FC236}">
                <a16:creationId xmlns:a16="http://schemas.microsoft.com/office/drawing/2014/main" id="{8100D18C-84DB-48D1-A155-69B6B8E0647A}"/>
              </a:ext>
            </a:extLst>
          </p:cNvPr>
          <p:cNvSpPr>
            <a:spLocks xmlns:a="http://schemas.openxmlformats.org/drawingml/2006/main" noGrp="1"/>
          </p:cNvSpPr>
          <p:nvPr/>
        </p:nvSpPr>
        <p:spPr>
          <a:xfrm xmlns:a="http://schemas.openxmlformats.org/drawingml/2006/main">
            <a:off x="723900" y="4476750"/>
            <a:ext cx="10706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Aptos"/>
                <a:ea typeface="Aptos"/>
                <a:cs typeface="Aptos"/>
              </a:defRPr>
            </a:defPPr>
          </a:lstStyle>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The human reference keeps the original utterance coding.</a:t>
            </a:r>
          </a:p>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Native CLAN calculates the same measures for both versions.</a:t>
            </a:r>
          </a:p>
        </p:txBody>
      </p:sp>
    </p:spTree>
    <p:extLst>
      <p:ext uri="{BB962C8B-B14F-4D97-AF65-F5344CB8AC3E}">
        <p14:creationId xmlns:p14="http://schemas.microsoft.com/office/powerpoint/2010/main" val="162097370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Ohio Child Speech Corpus: test results</a:t>
            </a:r>
          </a:p>
        </p:txBody>
      </p:sp>
      <p:sp>
        <p:nvSpPr>
          <p:cNvPr id="2" name="">
            <a:extLst xmlns:a="http://schemas.openxmlformats.org/drawingml/2006/main">
              <a:ext uri="{FF2B5EF4-FFF2-40B4-BE49-F238E27FC236}">
                <a16:creationId xmlns:a16="http://schemas.microsoft.com/office/drawing/2014/main" id="{C7FE5ED2-67B2-4B1E-8B40-36148A48EAF0}"/>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Retained model. 45 children and 111 task sections.</a:t>
            </a:r>
          </a:p>
        </p:txBody>
      </p:sp>
      <p:graphicFrame>
        <p:nvGraphicFramePr>
          <p:cNvPr id="3" name="">
            <a:extLst xmlns:a="http://schemas.openxmlformats.org/drawingml/2006/main">
              <a:ext uri="{FF2B5EF4-FFF2-40B4-BE49-F238E27FC236}">
                <a16:creationId xmlns:a16="http://schemas.microsoft.com/office/drawing/2014/main" id="{C1DD47F0-7A17-4212-B8FA-1896828E78DA}"/>
              </a:ext>
            </a:extLst>
          </p:cNvPr>
          <p:cNvGraphicFramePr/>
          <p:nvPr/>
        </p:nvGraphicFramePr>
        <p:xfrm>
          <a:off xmlns:a="http://schemas.openxmlformats.org/drawingml/2006/main" x="609600" y="1952625"/>
          <a:ext xmlns:a="http://schemas.openxmlformats.org/drawingml/2006/main" cx="10972800" cy="3714750"/>
        </p:xfrm>
        <a:graphic xmlns:a="http://schemas.openxmlformats.org/drawingml/2006/main">
          <a:graphicData uri="http://schemas.openxmlformats.org/drawingml/2006/table">
            <a:tbl>
              <a:tblPr firstRow="1" bandRow="0"/>
              <a:tblGrid>
                <a:gridCol w="7620000"/>
                <a:gridCol w="3352800"/>
              </a:tblGrid>
              <a:tr h="464344">
                <a:tc>
                  <a:txBody>
                    <a:bodyPr lIns="114300" tIns="114300" rIns="114300" bIns="114300"/>
                    <a:lstStyle/>
                    <a:p>
                      <a:r>
                        <a:rPr sz="2025" b="1">
                          <a:solidFill>
                            <a:srgbClr val="FFFFFF"/>
                          </a:solidFill>
                          <a:latin typeface="Aptos"/>
                          <a:ea typeface="Aptos"/>
                          <a:cs typeface="Aptos"/>
                        </a:rPr>
                        <a:t>Measure</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Mean participant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464344">
                <a:tc>
                  <a:txBody>
                    <a:bodyPr lIns="114300" tIns="114300" rIns="114300" bIns="114300"/>
                    <a:lstStyle/>
                    <a:p>
                      <a:r>
                        <a:rPr sz="2025" b="0">
                          <a:solidFill>
                            <a:srgbClr val="000000"/>
                          </a:solidFill>
                          <a:latin typeface="Aptos"/>
                          <a:ea typeface="Aptos"/>
                          <a:cs typeface="Aptos"/>
                        </a:rPr>
                        <a:t>Total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1.86%</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Different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1.79%</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Type–token ratio</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1.14%</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Moving-average TTR</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0.49%</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Eligible utterance count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10.36%</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Average utterance length in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8.70%</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Utterance-length standard deviation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14.24%</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411A284-285A-4E6B-86E9-2823EE67272C}"/>
              </a:ext>
            </a:extLst>
          </p:cNvPr>
          <p:cNvSpPr>
            <a:spLocks xmlns:a="http://schemas.openxmlformats.org/drawingml/2006/main" noGrp="1"/>
          </p:cNvSpPr>
          <p:nvPr/>
        </p:nvSpPr>
        <p:spPr>
          <a:xfrm xmlns:a="http://schemas.openxmlformats.org/drawingml/2006/main">
            <a:off x="723900" y="5953125"/>
            <a:ext cx="10706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Aptos"/>
                <a:ea typeface="Aptos"/>
                <a:cs typeface="Aptos"/>
              </a:defRPr>
            </a:defPPr>
          </a:lstStyle>
          <a:p xmlns:a="http://schemas.openxmlformats.org/drawingml/2006/main">
            <a:pPr marL="279400" indent="-139700" algn="l">
              <a:spcAft>
                <a:spcPts val="0"/>
              </a:spcAft>
              <a:buChar char="•"/>
              <a:defRPr sz="1950" b="0">
                <a:solidFill>
                  <a:srgbClr val="000000"/>
                </a:solidFill>
                <a:latin typeface="Aptos"/>
                <a:ea typeface="Aptos"/>
                <a:cs typeface="Aptos"/>
              </a:defRPr>
            </a:pPr>
            <a:r>
              <a:rPr sz="1950">
                <a:solidFill>
                  <a:srgbClr val="000000"/>
                </a:solidFill>
                <a:latin typeface="Aptos"/>
                <a:ea typeface="Aptos"/>
                <a:cs typeface="Aptos"/>
              </a:rPr>
              <a:t>Vocabulary agreement is strong. Utterance count and average length remain less precise.</a:t>
            </a:r>
          </a:p>
        </p:txBody>
      </p:sp>
    </p:spTree>
    <p:extLst>
      <p:ext uri="{BB962C8B-B14F-4D97-AF65-F5344CB8AC3E}">
        <p14:creationId xmlns:p14="http://schemas.microsoft.com/office/powerpoint/2010/main" val="67251780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352EFFF3-D4CA-45C3-97C0-5A6D9453448D}"/>
              </a:ext>
            </a:extLst>
          </p:cNvPr>
          <p:cNvCxnSpPr>
            <a:stCxn xmlns:a="http://schemas.openxmlformats.org/drawingml/2006/main" id="6" idx="3"/>
            <a:endCxn xmlns:a="http://schemas.openxmlformats.org/drawingml/2006/main" id="7" idx="1"/>
          </p:cNvCxnSpPr>
          <p:nvPr/>
        </p:nvCxnSpPr>
        <p:spPr>
          <a:xfrm xmlns:a="http://schemas.openxmlformats.org/drawingml/2006/main">
            <a:off x="932497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10" name="">
            <a:extLst xmlns:a="http://schemas.openxmlformats.org/drawingml/2006/main">
              <a:ext uri="{FF2B5EF4-FFF2-40B4-BE49-F238E27FC236}">
                <a16:creationId xmlns:a16="http://schemas.microsoft.com/office/drawing/2014/main" id="{3EAF94E4-6EBF-4598-BE14-FD05760DCC40}"/>
              </a:ext>
            </a:extLst>
          </p:cNvPr>
          <p:cNvCxnSpPr>
            <a:stCxn xmlns:a="http://schemas.openxmlformats.org/drawingml/2006/main" id="5" idx="3"/>
            <a:endCxn xmlns:a="http://schemas.openxmlformats.org/drawingml/2006/main" id="6" idx="1"/>
          </p:cNvCxnSpPr>
          <p:nvPr/>
        </p:nvCxnSpPr>
        <p:spPr>
          <a:xfrm xmlns:a="http://schemas.openxmlformats.org/drawingml/2006/main">
            <a:off x="706755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9" name="">
            <a:extLst xmlns:a="http://schemas.openxmlformats.org/drawingml/2006/main">
              <a:ext uri="{FF2B5EF4-FFF2-40B4-BE49-F238E27FC236}">
                <a16:creationId xmlns:a16="http://schemas.microsoft.com/office/drawing/2014/main" id="{E71C9AD8-0C10-42E5-A281-7B84B797AF65}"/>
              </a:ext>
            </a:extLst>
          </p:cNvPr>
          <p:cNvCxnSpPr>
            <a:stCxn xmlns:a="http://schemas.openxmlformats.org/drawingml/2006/main" id="4" idx="3"/>
            <a:endCxn xmlns:a="http://schemas.openxmlformats.org/drawingml/2006/main" id="5" idx="1"/>
          </p:cNvCxnSpPr>
          <p:nvPr/>
        </p:nvCxnSpPr>
        <p:spPr>
          <a:xfrm xmlns:a="http://schemas.openxmlformats.org/drawingml/2006/main">
            <a:off x="481012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8" name="">
            <a:extLst xmlns:a="http://schemas.openxmlformats.org/drawingml/2006/main">
              <a:ext uri="{FF2B5EF4-FFF2-40B4-BE49-F238E27FC236}">
                <a16:creationId xmlns:a16="http://schemas.microsoft.com/office/drawing/2014/main" id="{63D8D3F6-C3DA-45AA-AA40-9F0A6BF41498}"/>
              </a:ext>
            </a:extLst>
          </p:cNvPr>
          <p:cNvCxnSpPr>
            <a:stCxn xmlns:a="http://schemas.openxmlformats.org/drawingml/2006/main" id="3" idx="3"/>
            <a:endCxn xmlns:a="http://schemas.openxmlformats.org/drawingml/2006/main" id="4" idx="1"/>
          </p:cNvCxnSpPr>
          <p:nvPr/>
        </p:nvCxnSpPr>
        <p:spPr>
          <a:xfrm xmlns:a="http://schemas.openxmlformats.org/drawingml/2006/main">
            <a:off x="255270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sp>
        <p:nvSpPr>
          <p:cNvPr id="13"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New York University and Emerson College</a:t>
            </a:r>
          </a:p>
        </p:txBody>
      </p:sp>
      <p:sp>
        <p:nvSpPr>
          <p:cNvPr id="2" name="">
            <a:extLst xmlns:a="http://schemas.openxmlformats.org/drawingml/2006/main">
              <a:ext uri="{FF2B5EF4-FFF2-40B4-BE49-F238E27FC236}">
                <a16:creationId xmlns:a16="http://schemas.microsoft.com/office/drawing/2014/main" id="{83455E37-4216-41A6-B772-609FF4B7234C}"/>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How we compared predicted utterances with human transcripts</a:t>
            </a:r>
          </a:p>
        </p:txBody>
      </p:sp>
      <p:sp>
        <p:nvSpPr>
          <p:cNvPr id="3" name="">
            <a:extLst xmlns:a="http://schemas.openxmlformats.org/drawingml/2006/main">
              <a:ext uri="{FF2B5EF4-FFF2-40B4-BE49-F238E27FC236}">
                <a16:creationId xmlns:a16="http://schemas.microsoft.com/office/drawing/2014/main" id="{CEBD2920-AFD8-4798-9502-B3A16F4CF7F6}"/>
              </a:ext>
            </a:extLst>
          </p:cNvPr>
          <p:cNvSpPr>
            <a:spLocks xmlns:a="http://schemas.openxmlformats.org/drawingml/2006/main" noGrp="1"/>
          </p:cNvSpPr>
          <p:nvPr/>
        </p:nvSpPr>
        <p:spPr>
          <a:xfrm xmlns:a="http://schemas.openxmlformats.org/drawingml/2006/main">
            <a:off x="6096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Human</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transcript</a:t>
            </a:r>
          </a:p>
        </p:txBody>
      </p:sp>
      <p:sp>
        <p:nvSpPr>
          <p:cNvPr id="4" name="">
            <a:extLst xmlns:a="http://schemas.openxmlformats.org/drawingml/2006/main">
              <a:ext uri="{FF2B5EF4-FFF2-40B4-BE49-F238E27FC236}">
                <a16:creationId xmlns:a16="http://schemas.microsoft.com/office/drawing/2014/main" id="{947F68FF-545B-4A78-B25F-E36D99E2099E}"/>
              </a:ext>
            </a:extLst>
          </p:cNvPr>
          <p:cNvSpPr>
            <a:spLocks xmlns:a="http://schemas.openxmlformats.org/drawingml/2006/main" noGrp="1"/>
          </p:cNvSpPr>
          <p:nvPr/>
        </p:nvSpPr>
        <p:spPr>
          <a:xfrm xmlns:a="http://schemas.openxmlformats.org/drawingml/2006/main">
            <a:off x="286702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Child’s words</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without utterance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breaks</a:t>
            </a:r>
          </a:p>
        </p:txBody>
      </p:sp>
      <p:sp>
        <p:nvSpPr>
          <p:cNvPr id="5" name="">
            <a:extLst xmlns:a="http://schemas.openxmlformats.org/drawingml/2006/main">
              <a:ext uri="{FF2B5EF4-FFF2-40B4-BE49-F238E27FC236}">
                <a16:creationId xmlns:a16="http://schemas.microsoft.com/office/drawing/2014/main" id="{CF0912B7-B85A-48E7-B597-54C0505F38E8}"/>
              </a:ext>
            </a:extLst>
          </p:cNvPr>
          <p:cNvSpPr>
            <a:spLocks xmlns:a="http://schemas.openxmlformats.org/drawingml/2006/main" noGrp="1"/>
          </p:cNvSpPr>
          <p:nvPr/>
        </p:nvSpPr>
        <p:spPr>
          <a:xfrm xmlns:a="http://schemas.openxmlformats.org/drawingml/2006/main">
            <a:off x="512445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Our model predicts</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utterance endings</a:t>
            </a:r>
          </a:p>
        </p:txBody>
      </p:sp>
      <p:sp>
        <p:nvSpPr>
          <p:cNvPr id="6" name="">
            <a:extLst xmlns:a="http://schemas.openxmlformats.org/drawingml/2006/main">
              <a:ext uri="{FF2B5EF4-FFF2-40B4-BE49-F238E27FC236}">
                <a16:creationId xmlns:a16="http://schemas.microsoft.com/office/drawing/2014/main" id="{95B6BC8D-156B-4F6A-A58D-E85029FE5809}"/>
              </a:ext>
            </a:extLst>
          </p:cNvPr>
          <p:cNvSpPr>
            <a:spLocks xmlns:a="http://schemas.openxmlformats.org/drawingml/2006/main" noGrp="1"/>
          </p:cNvSpPr>
          <p:nvPr/>
        </p:nvSpPr>
        <p:spPr>
          <a:xfrm xmlns:a="http://schemas.openxmlformats.org/drawingml/2006/main">
            <a:off x="738187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Calculate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language measures</a:t>
            </a:r>
          </a:p>
        </p:txBody>
      </p:sp>
      <p:sp>
        <p:nvSpPr>
          <p:cNvPr id="7" name="">
            <a:extLst xmlns:a="http://schemas.openxmlformats.org/drawingml/2006/main">
              <a:ext uri="{FF2B5EF4-FFF2-40B4-BE49-F238E27FC236}">
                <a16:creationId xmlns:a16="http://schemas.microsoft.com/office/drawing/2014/main" id="{ECF99561-C2FF-4EC6-89C2-CF6BFE64C4D4}"/>
              </a:ext>
            </a:extLst>
          </p:cNvPr>
          <p:cNvSpPr>
            <a:spLocks xmlns:a="http://schemas.openxmlformats.org/drawingml/2006/main" noGrp="1"/>
          </p:cNvSpPr>
          <p:nvPr/>
        </p:nvSpPr>
        <p:spPr>
          <a:xfrm xmlns:a="http://schemas.openxmlformats.org/drawingml/2006/main">
            <a:off x="96393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Compare with the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human reference</a:t>
            </a:r>
          </a:p>
        </p:txBody>
      </p:sp>
      <p:sp>
        <p:nvSpPr>
          <p:cNvPr id="12" name="">
            <a:extLst xmlns:a="http://schemas.openxmlformats.org/drawingml/2006/main">
              <a:ext uri="{FF2B5EF4-FFF2-40B4-BE49-F238E27FC236}">
                <a16:creationId xmlns:a16="http://schemas.microsoft.com/office/drawing/2014/main" id="{455D251F-D80C-4B6D-A0A7-60EF82CCA0DD}"/>
              </a:ext>
            </a:extLst>
          </p:cNvPr>
          <p:cNvSpPr>
            <a:spLocks xmlns:a="http://schemas.openxmlformats.org/drawingml/2006/main" noGrp="1"/>
          </p:cNvSpPr>
          <p:nvPr/>
        </p:nvSpPr>
        <p:spPr>
          <a:xfrm xmlns:a="http://schemas.openxmlformats.org/drawingml/2006/main">
            <a:off x="723900" y="4476750"/>
            <a:ext cx="10706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Aptos"/>
                <a:ea typeface="Aptos"/>
                <a:cs typeface="Aptos"/>
              </a:defRPr>
            </a:defPPr>
          </a:lstStyle>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We use the same comparison procedure as for the Ohio Child Speech Corpus.</a:t>
            </a:r>
          </a:p>
          <a:p xmlns:a="http://schemas.openxmlformats.org/drawingml/2006/main">
            <a:pPr marL="279400" indent="-139700" algn="l">
              <a:spcAft>
                <a:spcPts val="1800"/>
              </a:spcAft>
              <a:buChar char="•"/>
              <a:defRPr sz="2250" b="0">
                <a:solidFill>
                  <a:srgbClr val="000000"/>
                </a:solidFill>
                <a:latin typeface="Aptos"/>
                <a:ea typeface="Aptos"/>
                <a:cs typeface="Aptos"/>
              </a:defRPr>
            </a:pPr>
            <a:r>
              <a:rPr sz="2250">
                <a:solidFill>
                  <a:srgbClr val="000000"/>
                </a:solidFill>
                <a:latin typeface="Aptos"/>
                <a:ea typeface="Aptos"/>
                <a:cs typeface="Aptos"/>
              </a:rPr>
              <a:t>The existing test cohort contains four children and 15 sections.</a:t>
            </a:r>
          </a:p>
        </p:txBody>
      </p:sp>
    </p:spTree>
    <p:extLst>
      <p:ext uri="{BB962C8B-B14F-4D97-AF65-F5344CB8AC3E}">
        <p14:creationId xmlns:p14="http://schemas.microsoft.com/office/powerpoint/2010/main" val="53608055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Parent–child corpus: test results</a:t>
            </a:r>
          </a:p>
        </p:txBody>
      </p:sp>
      <p:sp>
        <p:nvSpPr>
          <p:cNvPr id="2" name="">
            <a:extLst xmlns:a="http://schemas.openxmlformats.org/drawingml/2006/main">
              <a:ext uri="{FF2B5EF4-FFF2-40B4-BE49-F238E27FC236}">
                <a16:creationId xmlns:a16="http://schemas.microsoft.com/office/drawing/2014/main" id="{E3351021-533A-47F3-9FD6-BD7B781B8D74}"/>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New York University and Emerson College. Retained model, four children and 15 sections.</a:t>
            </a:r>
          </a:p>
        </p:txBody>
      </p:sp>
      <p:graphicFrame>
        <p:nvGraphicFramePr>
          <p:cNvPr id="3" name="">
            <a:extLst xmlns:a="http://schemas.openxmlformats.org/drawingml/2006/main">
              <a:ext uri="{FF2B5EF4-FFF2-40B4-BE49-F238E27FC236}">
                <a16:creationId xmlns:a16="http://schemas.microsoft.com/office/drawing/2014/main" id="{E6D4F0CB-27D3-4913-B8DB-EE6322B0CE28}"/>
              </a:ext>
            </a:extLst>
          </p:cNvPr>
          <p:cNvGraphicFramePr/>
          <p:nvPr/>
        </p:nvGraphicFramePr>
        <p:xfrm>
          <a:off xmlns:a="http://schemas.openxmlformats.org/drawingml/2006/main" x="609600" y="1952625"/>
          <a:ext xmlns:a="http://schemas.openxmlformats.org/drawingml/2006/main" cx="10972800" cy="3714750"/>
        </p:xfrm>
        <a:graphic xmlns:a="http://schemas.openxmlformats.org/drawingml/2006/main">
          <a:graphicData uri="http://schemas.openxmlformats.org/drawingml/2006/table">
            <a:tbl>
              <a:tblPr firstRow="1" bandRow="0"/>
              <a:tblGrid>
                <a:gridCol w="7620000"/>
                <a:gridCol w="3352800"/>
              </a:tblGrid>
              <a:tr h="464344">
                <a:tc>
                  <a:txBody>
                    <a:bodyPr lIns="114300" tIns="114300" rIns="114300" bIns="114300"/>
                    <a:lstStyle/>
                    <a:p>
                      <a:r>
                        <a:rPr sz="2025" b="1">
                          <a:solidFill>
                            <a:srgbClr val="FFFFFF"/>
                          </a:solidFill>
                          <a:latin typeface="Aptos"/>
                          <a:ea typeface="Aptos"/>
                          <a:cs typeface="Aptos"/>
                        </a:rPr>
                        <a:t>Measure</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Mean participant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464344">
                <a:tc>
                  <a:txBody>
                    <a:bodyPr lIns="114300" tIns="114300" rIns="114300" bIns="114300"/>
                    <a:lstStyle/>
                    <a:p>
                      <a:r>
                        <a:rPr sz="2025" b="0">
                          <a:solidFill>
                            <a:srgbClr val="000000"/>
                          </a:solidFill>
                          <a:latin typeface="Aptos"/>
                          <a:ea typeface="Aptos"/>
                          <a:cs typeface="Aptos"/>
                        </a:rPr>
                        <a:t>Total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2.34%</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Different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1.69%</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Type–token ratio</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1.90%</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Moving-average TTR</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1.97%</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Eligible utterance count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29.98%</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Average utterance length in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16.57%</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464344">
                <a:tc>
                  <a:txBody>
                    <a:bodyPr lIns="114300" tIns="114300" rIns="114300" bIns="114300"/>
                    <a:lstStyle/>
                    <a:p>
                      <a:r>
                        <a:rPr sz="2025" b="0">
                          <a:solidFill>
                            <a:srgbClr val="000000"/>
                          </a:solidFill>
                          <a:latin typeface="Aptos"/>
                          <a:ea typeface="Aptos"/>
                          <a:cs typeface="Aptos"/>
                        </a:rPr>
                        <a:t>Utterance-length standard deviation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13.70%</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B79ACBA-DAA1-4086-B2B4-92E6BAA06685}"/>
              </a:ext>
            </a:extLst>
          </p:cNvPr>
          <p:cNvSpPr>
            <a:spLocks xmlns:a="http://schemas.openxmlformats.org/drawingml/2006/main" noGrp="1"/>
          </p:cNvSpPr>
          <p:nvPr/>
        </p:nvSpPr>
        <p:spPr>
          <a:xfrm xmlns:a="http://schemas.openxmlformats.org/drawingml/2006/main">
            <a:off x="723900" y="5953125"/>
            <a:ext cx="1070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Aptos"/>
                <a:ea typeface="Aptos"/>
                <a:cs typeface="Aptos"/>
              </a:defRPr>
            </a:defPPr>
          </a:lstStyle>
          <a:p xmlns:a="http://schemas.openxmlformats.org/drawingml/2006/main">
            <a:pPr marL="279400" indent="-139700" algn="l">
              <a:spcAft>
                <a:spcPts val="0"/>
              </a:spcAft>
              <a:buChar char="•"/>
              <a:defRPr sz="1950" b="0">
                <a:solidFill>
                  <a:srgbClr val="000000"/>
                </a:solidFill>
                <a:latin typeface="Aptos"/>
                <a:ea typeface="Aptos"/>
                <a:cs typeface="Aptos"/>
              </a:defRPr>
            </a:pPr>
            <a:r>
              <a:rPr sz="1950">
                <a:solidFill>
                  <a:srgbClr val="000000"/>
                </a:solidFill>
                <a:latin typeface="Aptos"/>
                <a:ea typeface="Aptos"/>
                <a:cs typeface="Aptos"/>
              </a:rPr>
              <a:t>Vocabulary agreement remains close. Count and average-length errors are higher, with a small test sample.</a:t>
            </a:r>
          </a:p>
        </p:txBody>
      </p:sp>
    </p:spTree>
    <p:extLst>
      <p:ext uri="{BB962C8B-B14F-4D97-AF65-F5344CB8AC3E}">
        <p14:creationId xmlns:p14="http://schemas.microsoft.com/office/powerpoint/2010/main" val="185160030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Ohio Child Speech Corpus: model tuning</a:t>
            </a:r>
          </a:p>
        </p:txBody>
      </p:sp>
      <p:sp>
        <p:nvSpPr>
          <p:cNvPr id="2" name="">
            <a:extLst xmlns:a="http://schemas.openxmlformats.org/drawingml/2006/main">
              <a:ext uri="{FF2B5EF4-FFF2-40B4-BE49-F238E27FC236}">
                <a16:creationId xmlns:a16="http://schemas.microsoft.com/office/drawing/2014/main" id="{D6228BDB-B432-48AE-B3D6-A45DD04A82D5}"/>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Five-fold cross-validation results, separate from the test results</a:t>
            </a:r>
          </a:p>
        </p:txBody>
      </p:sp>
      <p:graphicFrame>
        <p:nvGraphicFramePr>
          <p:cNvPr id="3" name="">
            <a:extLst xmlns:a="http://schemas.openxmlformats.org/drawingml/2006/main">
              <a:ext uri="{FF2B5EF4-FFF2-40B4-BE49-F238E27FC236}">
                <a16:creationId xmlns:a16="http://schemas.microsoft.com/office/drawing/2014/main" id="{D1B28897-205C-4C39-84A4-FD87D333814F}"/>
              </a:ext>
            </a:extLst>
          </p:cNvPr>
          <p:cNvGraphicFramePr/>
          <p:nvPr/>
        </p:nvGraphicFramePr>
        <p:xfrm>
          <a:off xmlns:a="http://schemas.openxmlformats.org/drawingml/2006/main" x="609600" y="1952625"/>
          <a:ext xmlns:a="http://schemas.openxmlformats.org/drawingml/2006/main" cx="10972800" cy="2667000"/>
        </p:xfrm>
        <a:graphic xmlns:a="http://schemas.openxmlformats.org/drawingml/2006/main">
          <a:graphicData uri="http://schemas.openxmlformats.org/drawingml/2006/table">
            <a:tbl>
              <a:tblPr firstRow="1" bandRow="0"/>
              <a:tblGrid>
                <a:gridCol w="5143500"/>
                <a:gridCol w="1943100"/>
                <a:gridCol w="1943100"/>
                <a:gridCol w="1943100"/>
              </a:tblGrid>
              <a:tr h="666750">
                <a:tc>
                  <a:txBody>
                    <a:bodyPr lIns="114300" tIns="114300" rIns="114300" bIns="114300"/>
                    <a:lstStyle/>
                    <a:p>
                      <a:r>
                        <a:rPr sz="2025" b="1">
                          <a:solidFill>
                            <a:srgbClr val="FFFFFF"/>
                          </a:solidFill>
                          <a:latin typeface="Aptos"/>
                          <a:ea typeface="Aptos"/>
                          <a:cs typeface="Aptos"/>
                        </a:rPr>
                        <a:t>Training configuration</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Count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Length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Length SD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666750">
                <a:tc>
                  <a:txBody>
                    <a:bodyPr lIns="114300" tIns="114300" rIns="114300" bIns="114300"/>
                    <a:lstStyle/>
                    <a:p>
                      <a:r>
                        <a:rPr sz="2025" b="0">
                          <a:solidFill>
                            <a:srgbClr val="000000"/>
                          </a:solidFill>
                          <a:latin typeface="Aptos"/>
                          <a:ea typeface="Aptos"/>
                          <a:cs typeface="Aptos"/>
                        </a:rPr>
                        <a:t>Earlier fixed recipe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9.16%</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9.09%</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14.89%</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66750">
                <a:tc>
                  <a:txBody>
                    <a:bodyPr lIns="114300" tIns="114300" rIns="114300" bIns="114300"/>
                    <a:lstStyle/>
                    <a:p>
                      <a:r>
                        <a:rPr sz="2025" b="0">
                          <a:solidFill>
                            <a:srgbClr val="000000"/>
                          </a:solidFill>
                          <a:latin typeface="Aptos"/>
                          <a:ea typeface="Aptos"/>
                          <a:cs typeface="Aptos"/>
                        </a:rPr>
                        <a:t>Current CV baseline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9.07%</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9.05%</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14.83%</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66750">
                <a:tc>
                  <a:txBody>
                    <a:bodyPr lIns="114300" tIns="114300" rIns="114300" bIns="114300"/>
                    <a:lstStyle/>
                    <a:p>
                      <a:r>
                        <a:rPr sz="2025" b="0">
                          <a:solidFill>
                            <a:srgbClr val="000000"/>
                          </a:solidFill>
                          <a:latin typeface="Aptos"/>
                          <a:ea typeface="Aptos"/>
                          <a:cs typeface="Aptos"/>
                        </a:rPr>
                        <a:t>Lower count-loss weight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8.84%</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8.67%</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14.73%</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54C0035-B3C3-40E1-8538-5FDFF461066F}"/>
              </a:ext>
            </a:extLst>
          </p:cNvPr>
          <p:cNvSpPr>
            <a:spLocks xmlns:a="http://schemas.openxmlformats.org/drawingml/2006/main" noGrp="1"/>
          </p:cNvSpPr>
          <p:nvPr/>
        </p:nvSpPr>
        <p:spPr>
          <a:xfrm xmlns:a="http://schemas.openxmlformats.org/drawingml/2006/main">
            <a:off x="723900" y="5048250"/>
            <a:ext cx="107061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Aptos"/>
                <a:ea typeface="Aptos"/>
                <a:cs typeface="Aptos"/>
              </a:defRPr>
            </a:defPPr>
          </a:lstStyle>
          <a:p xmlns:a="http://schemas.openxmlformats.org/drawingml/2006/main">
            <a:pPr marL="279400" indent="-139700" algn="l">
              <a:spcAft>
                <a:spcPts val="1500"/>
              </a:spcAft>
              <a:buChar char="•"/>
              <a:defRPr sz="2175" b="0">
                <a:solidFill>
                  <a:srgbClr val="000000"/>
                </a:solidFill>
                <a:latin typeface="Aptos"/>
                <a:ea typeface="Aptos"/>
                <a:cs typeface="Aptos"/>
              </a:defRPr>
            </a:pPr>
            <a:r>
              <a:rPr sz="2175">
                <a:solidFill>
                  <a:srgbClr val="000000"/>
                </a:solidFill>
                <a:latin typeface="Aptos"/>
                <a:ea typeface="Aptos"/>
                <a:cs typeface="Aptos"/>
              </a:rPr>
              <a:t>Lower count-loss weight modestly improved the count and average-length errors.</a:t>
            </a:r>
          </a:p>
          <a:p xmlns:a="http://schemas.openxmlformats.org/drawingml/2006/main">
            <a:pPr marL="279400" indent="-139700" algn="l">
              <a:spcAft>
                <a:spcPts val="1500"/>
              </a:spcAft>
              <a:buChar char="•"/>
              <a:defRPr sz="2175" b="0">
                <a:solidFill>
                  <a:srgbClr val="000000"/>
                </a:solidFill>
                <a:latin typeface="Aptos"/>
                <a:ea typeface="Aptos"/>
                <a:cs typeface="Aptos"/>
              </a:defRPr>
            </a:pPr>
            <a:r>
              <a:rPr sz="2175">
                <a:solidFill>
                  <a:srgbClr val="000000"/>
                </a:solidFill>
                <a:latin typeface="Aptos"/>
                <a:ea typeface="Aptos"/>
                <a:cs typeface="Aptos"/>
              </a:rPr>
              <a:t>The later cross-validation search did not produce a new final model or test result.</a:t>
            </a:r>
          </a:p>
        </p:txBody>
      </p:sp>
    </p:spTree>
    <p:extLst>
      <p:ext uri="{BB962C8B-B14F-4D97-AF65-F5344CB8AC3E}">
        <p14:creationId xmlns:p14="http://schemas.microsoft.com/office/powerpoint/2010/main" val="79465644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Parent–child corpus: model tuning</a:t>
            </a:r>
          </a:p>
        </p:txBody>
      </p:sp>
      <p:sp>
        <p:nvSpPr>
          <p:cNvPr id="2" name="">
            <a:extLst xmlns:a="http://schemas.openxmlformats.org/drawingml/2006/main">
              <a:ext uri="{FF2B5EF4-FFF2-40B4-BE49-F238E27FC236}">
                <a16:creationId xmlns:a16="http://schemas.microsoft.com/office/drawing/2014/main" id="{77D5BB68-BF62-432C-A979-3A44E293FE3F}"/>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New York University and Emerson College. Five-fold cross-validation tuning results.</a:t>
            </a:r>
          </a:p>
        </p:txBody>
      </p:sp>
      <p:graphicFrame>
        <p:nvGraphicFramePr>
          <p:cNvPr id="3" name="">
            <a:extLst xmlns:a="http://schemas.openxmlformats.org/drawingml/2006/main">
              <a:ext uri="{FF2B5EF4-FFF2-40B4-BE49-F238E27FC236}">
                <a16:creationId xmlns:a16="http://schemas.microsoft.com/office/drawing/2014/main" id="{46E76E2C-8E71-4B34-9123-3882EF53568B}"/>
              </a:ext>
            </a:extLst>
          </p:cNvPr>
          <p:cNvGraphicFramePr/>
          <p:nvPr/>
        </p:nvGraphicFramePr>
        <p:xfrm>
          <a:off xmlns:a="http://schemas.openxmlformats.org/drawingml/2006/main" x="609600" y="1952625"/>
          <a:ext xmlns:a="http://schemas.openxmlformats.org/drawingml/2006/main" cx="10972800" cy="2190750"/>
        </p:xfrm>
        <a:graphic xmlns:a="http://schemas.openxmlformats.org/drawingml/2006/main">
          <a:graphicData uri="http://schemas.openxmlformats.org/drawingml/2006/table">
            <a:tbl>
              <a:tblPr firstRow="1" bandRow="0"/>
              <a:tblGrid>
                <a:gridCol w="5143500"/>
                <a:gridCol w="1943100"/>
                <a:gridCol w="1943100"/>
                <a:gridCol w="1943100"/>
              </a:tblGrid>
              <a:tr h="730250">
                <a:tc>
                  <a:txBody>
                    <a:bodyPr lIns="114300" tIns="114300" rIns="114300" bIns="114300"/>
                    <a:lstStyle/>
                    <a:p>
                      <a:r>
                        <a:rPr sz="2025" b="1">
                          <a:solidFill>
                            <a:srgbClr val="FFFFFF"/>
                          </a:solidFill>
                          <a:latin typeface="Aptos"/>
                          <a:ea typeface="Aptos"/>
                          <a:cs typeface="Aptos"/>
                        </a:rPr>
                        <a:t>Training configuration</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Count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Length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Length SD error</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730250">
                <a:tc>
                  <a:txBody>
                    <a:bodyPr lIns="114300" tIns="114300" rIns="114300" bIns="114300"/>
                    <a:lstStyle/>
                    <a:p>
                      <a:r>
                        <a:rPr sz="2025" b="0">
                          <a:solidFill>
                            <a:srgbClr val="000000"/>
                          </a:solidFill>
                          <a:latin typeface="Aptos"/>
                          <a:ea typeface="Aptos"/>
                          <a:cs typeface="Aptos"/>
                        </a:rPr>
                        <a:t>Current CV baseline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16.28%</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10.27%</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19.47%</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730250">
                <a:tc>
                  <a:txBody>
                    <a:bodyPr lIns="114300" tIns="114300" rIns="114300" bIns="114300"/>
                    <a:lstStyle/>
                    <a:p>
                      <a:r>
                        <a:rPr sz="2025" b="0">
                          <a:solidFill>
                            <a:srgbClr val="000000"/>
                          </a:solidFill>
                          <a:latin typeface="Aptos"/>
                          <a:ea typeface="Aptos"/>
                          <a:cs typeface="Aptos"/>
                        </a:rPr>
                        <a:t>Lower count-loss weight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17.49%</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11.00%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19.42%</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DC8BF02-FE91-4489-9C8C-1FD02AB3A959}"/>
              </a:ext>
            </a:extLst>
          </p:cNvPr>
          <p:cNvSpPr>
            <a:spLocks xmlns:a="http://schemas.openxmlformats.org/drawingml/2006/main" noGrp="1"/>
          </p:cNvSpPr>
          <p:nvPr/>
        </p:nvSpPr>
        <p:spPr>
          <a:xfrm xmlns:a="http://schemas.openxmlformats.org/drawingml/2006/main">
            <a:off x="723900" y="4667250"/>
            <a:ext cx="107061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Aptos"/>
                <a:ea typeface="Aptos"/>
                <a:cs typeface="Aptos"/>
              </a:defRPr>
            </a:defPPr>
          </a:lstStyle>
          <a:p xmlns:a="http://schemas.openxmlformats.org/drawingml/2006/main">
            <a:pPr marL="279400" indent="-139700" algn="l">
              <a:spcAft>
                <a:spcPts val="1500"/>
              </a:spcAft>
              <a:buChar char="•"/>
              <a:defRPr sz="2175" b="0">
                <a:solidFill>
                  <a:srgbClr val="000000"/>
                </a:solidFill>
                <a:latin typeface="Aptos"/>
                <a:ea typeface="Aptos"/>
                <a:cs typeface="Aptos"/>
              </a:defRPr>
            </a:pPr>
            <a:r>
              <a:rPr sz="2175">
                <a:solidFill>
                  <a:srgbClr val="000000"/>
                </a:solidFill>
                <a:latin typeface="Aptos"/>
                <a:ea typeface="Aptos"/>
                <a:cs typeface="Aptos"/>
              </a:rPr>
              <a:t>The lower count-loss setting worsened count and average-length errors here.</a:t>
            </a:r>
          </a:p>
          <a:p xmlns:a="http://schemas.openxmlformats.org/drawingml/2006/main">
            <a:pPr marL="279400" indent="-139700" algn="l">
              <a:spcAft>
                <a:spcPts val="1500"/>
              </a:spcAft>
              <a:buChar char="•"/>
              <a:defRPr sz="2175" b="0">
                <a:solidFill>
                  <a:srgbClr val="000000"/>
                </a:solidFill>
                <a:latin typeface="Aptos"/>
                <a:ea typeface="Aptos"/>
                <a:cs typeface="Aptos"/>
              </a:defRPr>
            </a:pPr>
            <a:r>
              <a:rPr sz="2175">
                <a:solidFill>
                  <a:srgbClr val="000000"/>
                </a:solidFill>
                <a:latin typeface="Aptos"/>
                <a:ea typeface="Aptos"/>
                <a:cs typeface="Aptos"/>
              </a:rPr>
              <a:t>The baseline had the best combined score across both child corpora.</a:t>
            </a:r>
          </a:p>
          <a:p xmlns:a="http://schemas.openxmlformats.org/drawingml/2006/main">
            <a:pPr marL="279400" indent="-139700" algn="l">
              <a:spcAft>
                <a:spcPts val="1500"/>
              </a:spcAft>
              <a:buChar char="•"/>
              <a:defRPr sz="2175" b="0">
                <a:solidFill>
                  <a:srgbClr val="000000"/>
                </a:solidFill>
                <a:latin typeface="Aptos"/>
                <a:ea typeface="Aptos"/>
                <a:cs typeface="Aptos"/>
              </a:defRPr>
            </a:pPr>
            <a:r>
              <a:rPr sz="2175">
                <a:solidFill>
                  <a:srgbClr val="000000"/>
                </a:solidFill>
                <a:latin typeface="Aptos"/>
                <a:ea typeface="Aptos"/>
                <a:cs typeface="Aptos"/>
              </a:rPr>
              <a:t>We retained the existing production workflow when further experiments stopped.</a:t>
            </a:r>
          </a:p>
        </p:txBody>
      </p:sp>
    </p:spTree>
    <p:extLst>
      <p:ext uri="{BB962C8B-B14F-4D97-AF65-F5344CB8AC3E}">
        <p14:creationId xmlns:p14="http://schemas.microsoft.com/office/powerpoint/2010/main" val="1550282298"/>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Why the child-corpus results differ</a:t>
            </a:r>
          </a:p>
        </p:txBody>
      </p:sp>
      <p:sp>
        <p:nvSpPr>
          <p:cNvPr id="2" name="">
            <a:extLst xmlns:a="http://schemas.openxmlformats.org/drawingml/2006/main">
              <a:ext uri="{FF2B5EF4-FFF2-40B4-BE49-F238E27FC236}">
                <a16:creationId xmlns:a16="http://schemas.microsoft.com/office/drawing/2014/main" id="{781EBB35-B1DC-4100-A907-ADDAD96EC0D7}"/>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Measured differences in training and evaluation inputs</a:t>
            </a:r>
          </a:p>
        </p:txBody>
      </p:sp>
      <p:graphicFrame>
        <p:nvGraphicFramePr>
          <p:cNvPr id="3" name="">
            <a:extLst xmlns:a="http://schemas.openxmlformats.org/drawingml/2006/main">
              <a:ext uri="{FF2B5EF4-FFF2-40B4-BE49-F238E27FC236}">
                <a16:creationId xmlns:a16="http://schemas.microsoft.com/office/drawing/2014/main" id="{C5A5829F-9E03-4B3A-873A-6B299443A4E0}"/>
              </a:ext>
            </a:extLst>
          </p:cNvPr>
          <p:cNvGraphicFramePr/>
          <p:nvPr/>
        </p:nvGraphicFramePr>
        <p:xfrm>
          <a:off xmlns:a="http://schemas.openxmlformats.org/drawingml/2006/main" x="609600" y="1952625"/>
          <a:ext xmlns:a="http://schemas.openxmlformats.org/drawingml/2006/main" cx="10972800" cy="3333750"/>
        </p:xfrm>
        <a:graphic xmlns:a="http://schemas.openxmlformats.org/drawingml/2006/main">
          <a:graphicData uri="http://schemas.openxmlformats.org/drawingml/2006/table">
            <a:tbl>
              <a:tblPr firstRow="1" bandRow="0"/>
              <a:tblGrid>
                <a:gridCol w="5715000"/>
                <a:gridCol w="2628900"/>
                <a:gridCol w="2628900"/>
              </a:tblGrid>
              <a:tr h="666750">
                <a:tc>
                  <a:txBody>
                    <a:bodyPr lIns="114300" tIns="114300" rIns="114300" bIns="114300"/>
                    <a:lstStyle/>
                    <a:p>
                      <a:r>
                        <a:rPr sz="1875" b="1">
                          <a:solidFill>
                            <a:srgbClr val="FFFFFF"/>
                          </a:solidFill>
                          <a:latin typeface="Aptos"/>
                          <a:ea typeface="Aptos"/>
                          <a:cs typeface="Aptos"/>
                        </a:rPr>
                        <a:t>Input characteristic</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New York University</a:t>
                      </a:r>
                    </a:p>
                    <a:p>
                      <a:r>
                        <a:rPr sz="1875" b="1">
                          <a:solidFill>
                            <a:srgbClr val="FFFFFF"/>
                          </a:solidFill>
                          <a:latin typeface="Aptos"/>
                          <a:ea typeface="Aptos"/>
                          <a:cs typeface="Aptos"/>
                        </a:rPr>
                        <a:t>and Emerson College</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Ohio Child</a:t>
                      </a:r>
                    </a:p>
                    <a:p>
                      <a:r>
                        <a:rPr sz="1875" b="1">
                          <a:solidFill>
                            <a:srgbClr val="FFFFFF"/>
                          </a:solidFill>
                          <a:latin typeface="Aptos"/>
                          <a:ea typeface="Aptos"/>
                          <a:cs typeface="Aptos"/>
                        </a:rPr>
                        <a:t>Speech Corpus</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666750">
                <a:tc>
                  <a:txBody>
                    <a:bodyPr lIns="114300" tIns="114300" rIns="114300" bIns="114300"/>
                    <a:lstStyle/>
                    <a:p>
                      <a:r>
                        <a:rPr sz="1875" b="0">
                          <a:solidFill>
                            <a:srgbClr val="000000"/>
                          </a:solidFill>
                          <a:latin typeface="Aptos"/>
                          <a:ea typeface="Aptos"/>
                          <a:cs typeface="Aptos"/>
                        </a:rPr>
                        <a:t>Median child age, years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4.58</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7.22</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66750">
                <a:tc>
                  <a:txBody>
                    <a:bodyPr lIns="114300" tIns="114300" rIns="114300" bIns="114300"/>
                    <a:lstStyle/>
                    <a:p>
                      <a:r>
                        <a:rPr sz="1875" b="0">
                          <a:solidFill>
                            <a:srgbClr val="000000"/>
                          </a:solidFill>
                          <a:latin typeface="Aptos"/>
                          <a:ea typeface="Aptos"/>
                          <a:cs typeface="Aptos"/>
                        </a:rPr>
                        <a:t>Median words per speaker turn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2</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5</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66750">
                <a:tc>
                  <a:txBody>
                    <a:bodyPr lIns="114300" tIns="114300" rIns="114300" bIns="114300"/>
                    <a:lstStyle/>
                    <a:p>
                      <a:r>
                        <a:rPr sz="1875" b="0">
                          <a:solidFill>
                            <a:srgbClr val="000000"/>
                          </a:solidFill>
                          <a:latin typeface="Aptos"/>
                          <a:ea typeface="Aptos"/>
                          <a:cs typeface="Aptos"/>
                        </a:rPr>
                        <a:t>Turns with at most three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70%</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41%</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666750">
                <a:tc>
                  <a:txBody>
                    <a:bodyPr lIns="114300" tIns="114300" rIns="114300" bIns="114300"/>
                    <a:lstStyle/>
                    <a:p>
                      <a:r>
                        <a:rPr sz="1875" b="0">
                          <a:solidFill>
                            <a:srgbClr val="000000"/>
                          </a:solidFill>
                          <a:latin typeface="Aptos"/>
                          <a:ea typeface="Aptos"/>
                          <a:cs typeface="Aptos"/>
                        </a:rPr>
                        <a:t>Unintelligibility markers per 1,000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79.49</a:t>
                      </a:r>
                    </a:p>
                  </a:txBody>
                  <a:tcPr marL="91440" marR="91440" marT="45720" marB="45720" anchor="ctr">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5.73</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C857555-5CED-411E-A9CB-5CED257687A1}"/>
              </a:ext>
            </a:extLst>
          </p:cNvPr>
          <p:cNvSpPr>
            <a:spLocks xmlns:a="http://schemas.openxmlformats.org/drawingml/2006/main" noGrp="1"/>
          </p:cNvSpPr>
          <p:nvPr/>
        </p:nvSpPr>
        <p:spPr>
          <a:xfrm xmlns:a="http://schemas.openxmlformats.org/drawingml/2006/main">
            <a:off x="723900" y="5619750"/>
            <a:ext cx="10706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0000"/>
                </a:solidFill>
                <a:latin typeface="Aptos"/>
                <a:ea typeface="Aptos"/>
                <a:cs typeface="Aptos"/>
              </a:defRPr>
            </a:defPPr>
          </a:lstStyle>
          <a:p xmlns:a="http://schemas.openxmlformats.org/drawingml/2006/main">
            <a:pPr marL="279400" indent="-139700" algn="l">
              <a:spcAft>
                <a:spcPts val="1000"/>
              </a:spcAft>
              <a:buChar char="•"/>
              <a:defRPr sz="1875" b="0">
                <a:solidFill>
                  <a:srgbClr val="000000"/>
                </a:solidFill>
                <a:latin typeface="Aptos"/>
                <a:ea typeface="Aptos"/>
                <a:cs typeface="Aptos"/>
              </a:defRPr>
            </a:pPr>
            <a:r>
              <a:rPr sz="1875">
                <a:solidFill>
                  <a:srgbClr val="000000"/>
                </a:solidFill>
                <a:latin typeface="Aptos"/>
                <a:ea typeface="Aptos"/>
                <a:cs typeface="Aptos"/>
              </a:rPr>
              <a:t>The parent–child corpus provides shorter contexts, more missing speech and much less training text.</a:t>
            </a:r>
          </a:p>
          <a:p xmlns:a="http://schemas.openxmlformats.org/drawingml/2006/main">
            <a:pPr marL="279400" indent="-139700" algn="l">
              <a:spcAft>
                <a:spcPts val="1000"/>
              </a:spcAft>
              <a:buChar char="•"/>
              <a:defRPr sz="1875" b="0">
                <a:solidFill>
                  <a:srgbClr val="000000"/>
                </a:solidFill>
                <a:latin typeface="Aptos"/>
                <a:ea typeface="Aptos"/>
                <a:cs typeface="Aptos"/>
              </a:defRPr>
            </a:pPr>
            <a:r>
              <a:rPr sz="1875">
                <a:solidFill>
                  <a:srgbClr val="000000"/>
                </a:solidFill>
                <a:latin typeface="Aptos"/>
                <a:ea typeface="Aptos"/>
                <a:cs typeface="Aptos"/>
              </a:rPr>
              <a:t>Age, task and coding vary together. These observations do not establish age as the cause.</a:t>
            </a:r>
          </a:p>
        </p:txBody>
      </p:sp>
    </p:spTree>
    <p:extLst>
      <p:ext uri="{BB962C8B-B14F-4D97-AF65-F5344CB8AC3E}">
        <p14:creationId xmlns:p14="http://schemas.microsoft.com/office/powerpoint/2010/main" val="1528062287"/>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5"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Earlier audio feasibility pilot</a:t>
            </a:r>
          </a:p>
        </p:txBody>
      </p:sp>
      <p:sp>
        <p:nvSpPr>
          <p:cNvPr id="2" name="">
            <a:extLst xmlns:a="http://schemas.openxmlformats.org/drawingml/2006/main">
              <a:ext uri="{FF2B5EF4-FFF2-40B4-BE49-F238E27FC236}">
                <a16:creationId xmlns:a16="http://schemas.microsoft.com/office/drawing/2014/main" id="{665EFFF5-343C-474B-B2BE-4DACC5B3FCA7}"/>
              </a:ext>
            </a:extLst>
          </p:cNvPr>
          <p:cNvSpPr>
            <a:spLocks xmlns:a="http://schemas.openxmlformats.org/drawingml/2006/main" noGrp="1"/>
          </p:cNvSpPr>
          <p:nvPr/>
        </p:nvSpPr>
        <p:spPr>
          <a:xfrm xmlns:a="http://schemas.openxmlformats.org/drawingml/2006/main">
            <a:off x="628650" y="1171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algn="l">
              <a:defRPr sz="2025" b="0">
                <a:solidFill>
                  <a:srgbClr val="000000"/>
                </a:solidFill>
                <a:latin typeface="Aptos"/>
                <a:ea typeface="Aptos"/>
                <a:cs typeface="Aptos"/>
              </a:defRPr>
            </a:pPr>
            <a:r>
              <a:rPr sz="2025" b="0">
                <a:solidFill>
                  <a:srgbClr val="000000"/>
                </a:solidFill>
                <a:latin typeface="Aptos"/>
                <a:ea typeface="Aptos"/>
                <a:cs typeface="Aptos"/>
              </a:rPr>
              <a:t>One Ohio Child Speech Corpus picture-description section, 300 seconds</a:t>
            </a:r>
          </a:p>
        </p:txBody>
      </p:sp>
      <p:graphicFrame>
        <p:nvGraphicFramePr>
          <p:cNvPr id="3" name="">
            <a:extLst xmlns:a="http://schemas.openxmlformats.org/drawingml/2006/main">
              <a:ext uri="{FF2B5EF4-FFF2-40B4-BE49-F238E27FC236}">
                <a16:creationId xmlns:a16="http://schemas.microsoft.com/office/drawing/2014/main" id="{80B131D1-9A15-4AB8-997F-A5566535B03D}"/>
              </a:ext>
            </a:extLst>
          </p:cNvPr>
          <p:cNvGraphicFramePr/>
          <p:nvPr/>
        </p:nvGraphicFramePr>
        <p:xfrm>
          <a:off xmlns:a="http://schemas.openxmlformats.org/drawingml/2006/main" x="609600" y="1952625"/>
          <a:ext xmlns:a="http://schemas.openxmlformats.org/drawingml/2006/main" cx="10972800" cy="2762250"/>
        </p:xfrm>
        <a:graphic xmlns:a="http://schemas.openxmlformats.org/drawingml/2006/main">
          <a:graphicData uri="http://schemas.openxmlformats.org/drawingml/2006/table">
            <a:tbl>
              <a:tblPr firstRow="1" bandRow="0"/>
              <a:tblGrid>
                <a:gridCol w="7620000"/>
                <a:gridCol w="3352800"/>
              </a:tblGrid>
              <a:tr h="552450">
                <a:tc>
                  <a:txBody>
                    <a:bodyPr lIns="114300" tIns="114300" rIns="114300" bIns="114300"/>
                    <a:lstStyle/>
                    <a:p>
                      <a:r>
                        <a:rPr sz="2025" b="1">
                          <a:solidFill>
                            <a:srgbClr val="FFFFFF"/>
                          </a:solidFill>
                          <a:latin typeface="Aptos"/>
                          <a:ea typeface="Aptos"/>
                          <a:cs typeface="Aptos"/>
                        </a:rPr>
                        <a:t>Measure</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2025" b="1">
                          <a:solidFill>
                            <a:srgbClr val="FFFFFF"/>
                          </a:solidFill>
                          <a:latin typeface="Aptos"/>
                          <a:ea typeface="Aptos"/>
                          <a:cs typeface="Aptos"/>
                        </a:rPr>
                        <a:t>Error on this recording</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552450">
                <a:tc>
                  <a:txBody>
                    <a:bodyPr lIns="114300" tIns="114300" rIns="114300" bIns="114300"/>
                    <a:lstStyle/>
                    <a:p>
                      <a:r>
                        <a:rPr sz="2025" b="0">
                          <a:solidFill>
                            <a:srgbClr val="000000"/>
                          </a:solidFill>
                          <a:latin typeface="Aptos"/>
                          <a:ea typeface="Aptos"/>
                          <a:cs typeface="Aptos"/>
                        </a:rPr>
                        <a:t>Child word error rate</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18.82%</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52450">
                <a:tc>
                  <a:txBody>
                    <a:bodyPr lIns="114300" tIns="114300" rIns="114300" bIns="114300"/>
                    <a:lstStyle/>
                    <a:p>
                      <a:r>
                        <a:rPr sz="2025" b="0">
                          <a:solidFill>
                            <a:srgbClr val="000000"/>
                          </a:solidFill>
                          <a:latin typeface="Aptos"/>
                          <a:ea typeface="Aptos"/>
                          <a:cs typeface="Aptos"/>
                        </a:rPr>
                        <a:t>Eligible utterance count</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2.78%</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52450">
                <a:tc>
                  <a:txBody>
                    <a:bodyPr lIns="114300" tIns="114300" rIns="114300" bIns="114300"/>
                    <a:lstStyle/>
                    <a:p>
                      <a:r>
                        <a:rPr sz="2025" b="0">
                          <a:solidFill>
                            <a:srgbClr val="000000"/>
                          </a:solidFill>
                          <a:latin typeface="Aptos"/>
                          <a:ea typeface="Aptos"/>
                          <a:cs typeface="Aptos"/>
                        </a:rPr>
                        <a:t>Average utterance length in words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0.02%</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552450">
                <a:tc>
                  <a:txBody>
                    <a:bodyPr lIns="114300" tIns="114300" rIns="114300" bIns="114300"/>
                    <a:lstStyle/>
                    <a:p>
                      <a:r>
                        <a:rPr sz="2025" b="0">
                          <a:solidFill>
                            <a:srgbClr val="000000"/>
                          </a:solidFill>
                          <a:latin typeface="Aptos"/>
                          <a:ea typeface="Aptos"/>
                          <a:cs typeface="Aptos"/>
                        </a:rPr>
                        <a:t>Utterance-length standard deviation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2025" b="0">
                          <a:solidFill>
                            <a:srgbClr val="000000"/>
                          </a:solidFill>
                          <a:latin typeface="Aptos"/>
                          <a:ea typeface="Aptos"/>
                          <a:cs typeface="Aptos"/>
                        </a:rPr>
                        <a:t>18.02%</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BCCAFA0-732C-4076-B4C4-B336DE525D13}"/>
              </a:ext>
            </a:extLst>
          </p:cNvPr>
          <p:cNvSpPr>
            <a:spLocks xmlns:a="http://schemas.openxmlformats.org/drawingml/2006/main" noGrp="1"/>
          </p:cNvSpPr>
          <p:nvPr/>
        </p:nvSpPr>
        <p:spPr>
          <a:xfrm xmlns:a="http://schemas.openxmlformats.org/drawingml/2006/main">
            <a:off x="723900" y="5191125"/>
            <a:ext cx="10706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Aptos"/>
                <a:ea typeface="Aptos"/>
                <a:cs typeface="Aptos"/>
              </a:defRPr>
            </a:defPPr>
          </a:lstStyle>
          <a:p xmlns:a="http://schemas.openxmlformats.org/drawingml/2006/main">
            <a:pPr marL="279400" indent="-139700" algn="l">
              <a:spcAft>
                <a:spcPts val="1200"/>
              </a:spcAft>
              <a:buChar char="•"/>
              <a:defRPr sz="2025" b="0">
                <a:solidFill>
                  <a:srgbClr val="000000"/>
                </a:solidFill>
                <a:latin typeface="Aptos"/>
                <a:ea typeface="Aptos"/>
                <a:cs typeface="Aptos"/>
              </a:defRPr>
            </a:pPr>
            <a:r>
              <a:rPr sz="2025">
                <a:solidFill>
                  <a:srgbClr val="000000"/>
                </a:solidFill>
                <a:latin typeface="Aptos"/>
                <a:ea typeface="Aptos"/>
                <a:cs typeface="Aptos"/>
              </a:rPr>
              <a:t>The pilot used MOSS transcription, a frozen MiniLM model and native CLAN.</a:t>
            </a:r>
          </a:p>
          <a:p xmlns:a="http://schemas.openxmlformats.org/drawingml/2006/main">
            <a:pPr marL="279400" indent="-139700" algn="l">
              <a:spcAft>
                <a:spcPts val="1200"/>
              </a:spcAft>
              <a:buChar char="•"/>
              <a:defRPr sz="2025" b="0">
                <a:solidFill>
                  <a:srgbClr val="000000"/>
                </a:solidFill>
                <a:latin typeface="Aptos"/>
                <a:ea typeface="Aptos"/>
                <a:cs typeface="Aptos"/>
              </a:defRPr>
            </a:pPr>
            <a:r>
              <a:rPr sz="2025">
                <a:solidFill>
                  <a:srgbClr val="000000"/>
                </a:solidFill>
                <a:latin typeface="Aptos"/>
                <a:ea typeface="Aptos"/>
                <a:cs typeface="Aptos"/>
              </a:rPr>
              <a:t>Speaker-role matching used the human reference. Automatic child identification and cohort accuracy still need evaluation.</a:t>
            </a:r>
          </a:p>
        </p:txBody>
      </p:sp>
    </p:spTree>
    <p:extLst>
      <p:ext uri="{BB962C8B-B14F-4D97-AF65-F5344CB8AC3E}">
        <p14:creationId xmlns:p14="http://schemas.microsoft.com/office/powerpoint/2010/main" val="1002480760"/>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AB516FCF-A887-4A19-85C8-6514F6F9032E}"/>
              </a:ext>
            </a:extLst>
          </p:cNvPr>
          <p:cNvCxnSpPr>
            <a:stCxn xmlns:a="http://schemas.openxmlformats.org/drawingml/2006/main" id="5" idx="3"/>
            <a:endCxn xmlns:a="http://schemas.openxmlformats.org/drawingml/2006/main" id="6" idx="1"/>
          </p:cNvCxnSpPr>
          <p:nvPr/>
        </p:nvCxnSpPr>
        <p:spPr>
          <a:xfrm xmlns:a="http://schemas.openxmlformats.org/drawingml/2006/main">
            <a:off x="932497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9" name="">
            <a:extLst xmlns:a="http://schemas.openxmlformats.org/drawingml/2006/main">
              <a:ext uri="{FF2B5EF4-FFF2-40B4-BE49-F238E27FC236}">
                <a16:creationId xmlns:a16="http://schemas.microsoft.com/office/drawing/2014/main" id="{F00DFD0C-8A33-4AF3-9050-6F6BCC0CB68A}"/>
              </a:ext>
            </a:extLst>
          </p:cNvPr>
          <p:cNvCxnSpPr>
            <a:stCxn xmlns:a="http://schemas.openxmlformats.org/drawingml/2006/main" id="4" idx="3"/>
            <a:endCxn xmlns:a="http://schemas.openxmlformats.org/drawingml/2006/main" id="5" idx="1"/>
          </p:cNvCxnSpPr>
          <p:nvPr/>
        </p:nvCxnSpPr>
        <p:spPr>
          <a:xfrm xmlns:a="http://schemas.openxmlformats.org/drawingml/2006/main">
            <a:off x="706755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8" name="">
            <a:extLst xmlns:a="http://schemas.openxmlformats.org/drawingml/2006/main">
              <a:ext uri="{FF2B5EF4-FFF2-40B4-BE49-F238E27FC236}">
                <a16:creationId xmlns:a16="http://schemas.microsoft.com/office/drawing/2014/main" id="{FF45AE95-74DD-4EAF-964D-3025E29B7DCB}"/>
              </a:ext>
            </a:extLst>
          </p:cNvPr>
          <p:cNvCxnSpPr>
            <a:stCxn xmlns:a="http://schemas.openxmlformats.org/drawingml/2006/main" id="3" idx="3"/>
            <a:endCxn xmlns:a="http://schemas.openxmlformats.org/drawingml/2006/main" id="4" idx="1"/>
          </p:cNvCxnSpPr>
          <p:nvPr/>
        </p:nvCxnSpPr>
        <p:spPr>
          <a:xfrm xmlns:a="http://schemas.openxmlformats.org/drawingml/2006/main">
            <a:off x="4810125"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cxnSp>
        <p:nvCxnSpPr>
          <p:cNvPr id="7" name="">
            <a:extLst xmlns:a="http://schemas.openxmlformats.org/drawingml/2006/main">
              <a:ext uri="{FF2B5EF4-FFF2-40B4-BE49-F238E27FC236}">
                <a16:creationId xmlns:a16="http://schemas.microsoft.com/office/drawing/2014/main" id="{A56FFAFA-F1C0-4E2A-852B-4B7C96674EA0}"/>
              </a:ext>
            </a:extLst>
          </p:cNvPr>
          <p:cNvCxnSpPr>
            <a:stCxn xmlns:a="http://schemas.openxmlformats.org/drawingml/2006/main" id="2" idx="3"/>
            <a:endCxn xmlns:a="http://schemas.openxmlformats.org/drawingml/2006/main" id="3" idx="1"/>
          </p:cNvCxnSpPr>
          <p:nvPr/>
        </p:nvCxnSpPr>
        <p:spPr>
          <a:xfrm xmlns:a="http://schemas.openxmlformats.org/drawingml/2006/main">
            <a:off x="2552700" y="3048000"/>
            <a:ext cx="314325" cy="0"/>
          </a:xfrm>
          <a:prstGeom xmlns:a="http://schemas.openxmlformats.org/drawingml/2006/main" prst="straightConnector1">
            <a:avLst/>
          </a:prstGeom>
          <a:ln xmlns:a="http://schemas.openxmlformats.org/drawingml/2006/main" w="16193">
            <a:solidFill>
              <a:srgbClr val="000000"/>
            </a:solidFill>
            <a:tailEnd type="triangle" w="med" len="med"/>
          </a:ln>
        </p:spPr>
      </p:cxnSp>
      <p:sp>
        <p:nvSpPr>
          <p:cNvPr id="12"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Planned audio comparison across participants</a:t>
            </a:r>
          </a:p>
        </p:txBody>
      </p:sp>
      <p:sp>
        <p:nvSpPr>
          <p:cNvPr id="2" name="">
            <a:extLst xmlns:a="http://schemas.openxmlformats.org/drawingml/2006/main">
              <a:ext uri="{FF2B5EF4-FFF2-40B4-BE49-F238E27FC236}">
                <a16:creationId xmlns:a16="http://schemas.microsoft.com/office/drawing/2014/main" id="{9E8C0D5F-3A70-46A2-A3AD-273A914E8BE2}"/>
              </a:ext>
            </a:extLst>
          </p:cNvPr>
          <p:cNvSpPr>
            <a:spLocks xmlns:a="http://schemas.openxmlformats.org/drawingml/2006/main" noGrp="1"/>
          </p:cNvSpPr>
          <p:nvPr/>
        </p:nvSpPr>
        <p:spPr>
          <a:xfrm xmlns:a="http://schemas.openxmlformats.org/drawingml/2006/main">
            <a:off x="6096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Audio</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recording</a:t>
            </a:r>
          </a:p>
        </p:txBody>
      </p:sp>
      <p:sp>
        <p:nvSpPr>
          <p:cNvPr id="3" name="">
            <a:extLst xmlns:a="http://schemas.openxmlformats.org/drawingml/2006/main">
              <a:ext uri="{FF2B5EF4-FFF2-40B4-BE49-F238E27FC236}">
                <a16:creationId xmlns:a16="http://schemas.microsoft.com/office/drawing/2014/main" id="{FFB09980-E63E-4A09-93B3-AFE01B112EDB}"/>
              </a:ext>
            </a:extLst>
          </p:cNvPr>
          <p:cNvSpPr>
            <a:spLocks xmlns:a="http://schemas.openxmlformats.org/drawingml/2006/main" noGrp="1"/>
          </p:cNvSpPr>
          <p:nvPr/>
        </p:nvSpPr>
        <p:spPr>
          <a:xfrm xmlns:a="http://schemas.openxmlformats.org/drawingml/2006/main">
            <a:off x="286702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MOSS transcribes</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and labels speakers</a:t>
            </a:r>
          </a:p>
        </p:txBody>
      </p:sp>
      <p:sp>
        <p:nvSpPr>
          <p:cNvPr id="4" name="">
            <a:extLst xmlns:a="http://schemas.openxmlformats.org/drawingml/2006/main">
              <a:ext uri="{FF2B5EF4-FFF2-40B4-BE49-F238E27FC236}">
                <a16:creationId xmlns:a16="http://schemas.microsoft.com/office/drawing/2014/main" id="{BA96BE56-9423-4A74-BB35-015AE4615F10}"/>
              </a:ext>
            </a:extLst>
          </p:cNvPr>
          <p:cNvSpPr>
            <a:spLocks xmlns:a="http://schemas.openxmlformats.org/drawingml/2006/main" noGrp="1"/>
          </p:cNvSpPr>
          <p:nvPr/>
        </p:nvSpPr>
        <p:spPr>
          <a:xfrm xmlns:a="http://schemas.openxmlformats.org/drawingml/2006/main">
            <a:off x="512445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Keep the</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child’s speech</a:t>
            </a:r>
          </a:p>
        </p:txBody>
      </p:sp>
      <p:sp>
        <p:nvSpPr>
          <p:cNvPr id="5" name="">
            <a:extLst xmlns:a="http://schemas.openxmlformats.org/drawingml/2006/main">
              <a:ext uri="{FF2B5EF4-FFF2-40B4-BE49-F238E27FC236}">
                <a16:creationId xmlns:a16="http://schemas.microsoft.com/office/drawing/2014/main" id="{891F61F8-F990-4DCB-8A54-8FC5050A116D}"/>
              </a:ext>
            </a:extLst>
          </p:cNvPr>
          <p:cNvSpPr>
            <a:spLocks xmlns:a="http://schemas.openxmlformats.org/drawingml/2006/main" noGrp="1"/>
          </p:cNvSpPr>
          <p:nvPr/>
        </p:nvSpPr>
        <p:spPr>
          <a:xfrm xmlns:a="http://schemas.openxmlformats.org/drawingml/2006/main">
            <a:off x="7381875"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Run our</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language pipeline</a:t>
            </a:r>
          </a:p>
        </p:txBody>
      </p:sp>
      <p:sp>
        <p:nvSpPr>
          <p:cNvPr id="6" name="">
            <a:extLst xmlns:a="http://schemas.openxmlformats.org/drawingml/2006/main">
              <a:ext uri="{FF2B5EF4-FFF2-40B4-BE49-F238E27FC236}">
                <a16:creationId xmlns:a16="http://schemas.microsoft.com/office/drawing/2014/main" id="{2B4EE784-EF62-4BB2-BB8E-A79780524DB5}"/>
              </a:ext>
            </a:extLst>
          </p:cNvPr>
          <p:cNvSpPr>
            <a:spLocks xmlns:a="http://schemas.openxmlformats.org/drawingml/2006/main" noGrp="1"/>
          </p:cNvSpPr>
          <p:nvPr/>
        </p:nvSpPr>
        <p:spPr>
          <a:xfrm xmlns:a="http://schemas.openxmlformats.org/drawingml/2006/main">
            <a:off x="9639300" y="2238375"/>
            <a:ext cx="194310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000000"/>
            </a:solidFill>
          </a:ln>
        </p:spPr>
        <p:txBody>
          <a:bodyPr xmlns:a="http://schemas.openxmlformats.org/drawingml/2006/main" lIns="114300" tIns="114300" rIns="114300" bIns="114300" anchor="ctr">
            <a:noAutofit/>
          </a:bodyPr>
          <a:lstStyle xmlns:a="http://schemas.openxmlformats.org/drawingml/2006/main">
            <a:defPPr algn="ctr">
              <a:defRPr sz="1950">
                <a:solidFill>
                  <a:srgbClr val="000000"/>
                </a:solidFill>
                <a:latin typeface="Aptos"/>
                <a:ea typeface="Aptos"/>
                <a:cs typeface="Aptos"/>
              </a:defRPr>
            </a:defPPr>
          </a:lstStyle>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Compare with</a:t>
            </a:r>
          </a:p>
          <a:p xmlns:a="http://schemas.openxmlformats.org/drawingml/2006/main">
            <a:pPr algn="ctr">
              <a:defRPr sz="1950">
                <a:solidFill>
                  <a:srgbClr val="000000"/>
                </a:solidFill>
                <a:latin typeface="Aptos"/>
                <a:ea typeface="Aptos"/>
                <a:cs typeface="Aptos"/>
              </a:defRPr>
            </a:pPr>
            <a:r>
              <a:rPr sz="1950">
                <a:solidFill>
                  <a:srgbClr val="000000"/>
                </a:solidFill>
                <a:latin typeface="Aptos"/>
                <a:ea typeface="Aptos"/>
                <a:cs typeface="Aptos"/>
              </a:rPr>
              <a:t>human references</a:t>
            </a:r>
          </a:p>
        </p:txBody>
      </p:sp>
      <p:sp>
        <p:nvSpPr>
          <p:cNvPr id="11" name="">
            <a:extLst xmlns:a="http://schemas.openxmlformats.org/drawingml/2006/main">
              <a:ext uri="{FF2B5EF4-FFF2-40B4-BE49-F238E27FC236}">
                <a16:creationId xmlns:a16="http://schemas.microsoft.com/office/drawing/2014/main" id="{CC71B3CE-22E9-4E76-820E-B3C9C70F0382}"/>
              </a:ext>
            </a:extLst>
          </p:cNvPr>
          <p:cNvSpPr>
            <a:spLocks xmlns:a="http://schemas.openxmlformats.org/drawingml/2006/main" noGrp="1"/>
          </p:cNvSpPr>
          <p:nvPr/>
        </p:nvSpPr>
        <p:spPr>
          <a:xfrm xmlns:a="http://schemas.openxmlformats.org/drawingml/2006/main">
            <a:off x="723900" y="4476750"/>
            <a:ext cx="107061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Aptos"/>
                <a:ea typeface="Aptos"/>
                <a:cs typeface="Aptos"/>
              </a:defRPr>
            </a:defPPr>
          </a:lstStyle>
          <a:p xmlns:a="http://schemas.openxmlformats.org/drawingml/2006/main">
            <a:pPr marL="279400" indent="-139700" algn="l">
              <a:spcAft>
                <a:spcPts val="1700"/>
              </a:spcAft>
              <a:buChar char="•"/>
              <a:defRPr sz="2175" b="0">
                <a:solidFill>
                  <a:srgbClr val="000000"/>
                </a:solidFill>
                <a:latin typeface="Aptos"/>
                <a:ea typeface="Aptos"/>
                <a:cs typeface="Aptos"/>
              </a:defRPr>
            </a:pPr>
            <a:r>
              <a:rPr sz="2175">
                <a:solidFill>
                  <a:srgbClr val="000000"/>
                </a:solidFill>
                <a:latin typeface="Aptos"/>
                <a:ea typeface="Aptos"/>
                <a:cs typeface="Aptos"/>
              </a:rPr>
              <a:t>Use the same child, recording and task section in both paths.</a:t>
            </a:r>
          </a:p>
          <a:p xmlns:a="http://schemas.openxmlformats.org/drawingml/2006/main">
            <a:pPr marL="279400" indent="-139700" algn="l">
              <a:spcAft>
                <a:spcPts val="1700"/>
              </a:spcAft>
              <a:buChar char="•"/>
              <a:defRPr sz="2175" b="0">
                <a:solidFill>
                  <a:srgbClr val="000000"/>
                </a:solidFill>
                <a:latin typeface="Aptos"/>
                <a:ea typeface="Aptos"/>
                <a:cs typeface="Aptos"/>
              </a:defRPr>
            </a:pPr>
            <a:r>
              <a:rPr sz="2175">
                <a:solidFill>
                  <a:srgbClr val="000000"/>
                </a:solidFill>
                <a:latin typeface="Aptos"/>
                <a:ea typeface="Aptos"/>
                <a:cs typeface="Aptos"/>
              </a:rPr>
              <a:t>Measure word recognition errors separately from vocabulary and utterance-measure errors.</a:t>
            </a:r>
          </a:p>
        </p:txBody>
      </p:sp>
    </p:spTree>
    <p:extLst>
      <p:ext uri="{BB962C8B-B14F-4D97-AF65-F5344CB8AC3E}">
        <p14:creationId xmlns:p14="http://schemas.microsoft.com/office/powerpoint/2010/main" val="1196741198"/>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Next steps</a:t>
            </a:r>
          </a:p>
        </p:txBody>
      </p:sp>
      <p:sp>
        <p:nvSpPr>
          <p:cNvPr id="2" name="">
            <a:extLst xmlns:a="http://schemas.openxmlformats.org/drawingml/2006/main">
              <a:ext uri="{FF2B5EF4-FFF2-40B4-BE49-F238E27FC236}">
                <a16:creationId xmlns:a16="http://schemas.microsoft.com/office/drawing/2014/main" id="{DE768F40-555B-48D7-9529-E89EA277353D}"/>
              </a:ext>
            </a:extLst>
          </p:cNvPr>
          <p:cNvSpPr>
            <a:spLocks xmlns:a="http://schemas.openxmlformats.org/drawingml/2006/main" noGrp="1"/>
          </p:cNvSpPr>
          <p:nvPr/>
        </p:nvSpPr>
        <p:spPr>
          <a:xfrm xmlns:a="http://schemas.openxmlformats.org/drawingml/2006/main">
            <a:off x="723900" y="1619250"/>
            <a:ext cx="1070610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Aptos"/>
                <a:ea typeface="Aptos"/>
                <a:cs typeface="Aptos"/>
              </a:defRPr>
            </a:defPPr>
          </a:lstStyle>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Independently reconfirm the LUCID author-reference file when OSF access returns.</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Download matching recordings into separate source and cohort folders.</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Check audio quality, target speaker and task timestamps before transcription.</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Extend the audio pilot to the original study: 10 participants and 37 recordings, then the public cohorts.</a:t>
            </a:r>
          </a:p>
          <a:p xmlns:a="http://schemas.openxmlformats.org/drawingml/2006/main">
            <a:pPr marL="279400" indent="-139700" algn="l">
              <a:spcAft>
                <a:spcPts val="1600"/>
              </a:spcAft>
              <a:buChar char="•"/>
              <a:defRPr sz="2250" b="0">
                <a:solidFill>
                  <a:srgbClr val="000000"/>
                </a:solidFill>
                <a:latin typeface="Aptos"/>
                <a:ea typeface="Aptos"/>
                <a:cs typeface="Aptos"/>
              </a:defRPr>
            </a:pPr>
            <a:r>
              <a:rPr sz="2250">
                <a:solidFill>
                  <a:srgbClr val="000000"/>
                </a:solidFill>
                <a:latin typeface="Aptos"/>
                <a:ea typeface="Aptos"/>
                <a:cs typeface="Aptos"/>
              </a:rPr>
              <a:t>Report recognition errors and downstream language measures separately.</a:t>
            </a:r>
          </a:p>
        </p:txBody>
      </p:sp>
    </p:spTree>
    <p:extLst>
      <p:ext uri="{BB962C8B-B14F-4D97-AF65-F5344CB8AC3E}">
        <p14:creationId xmlns:p14="http://schemas.microsoft.com/office/powerpoint/2010/main" val="57616127"/>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3" name="placeholder_1">
            <a:extLst xmlns:a="http://schemas.openxmlformats.org/drawingml/2006/main">
              <a:ext uri="{FF2B5EF4-FFF2-40B4-BE49-F238E27FC236}">
                <a16:creationId xmlns:a16="http://schemas.microsoft.com/office/drawing/2014/main" id="{D18455A9-9026-44F3-99BD-67920DEDF6B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Dataset sources and references</a:t>
            </a:r>
          </a:p>
        </p:txBody>
      </p:sp>
      <p:graphicFrame>
        <p:nvGraphicFramePr>
          <p:cNvPr id="2" name="">
            <a:extLst xmlns:a="http://schemas.openxmlformats.org/drawingml/2006/main">
              <a:ext uri="{FF2B5EF4-FFF2-40B4-BE49-F238E27FC236}">
                <a16:creationId xmlns:a16="http://schemas.microsoft.com/office/drawing/2014/main" id="{5F1E7DC0-D0F8-4BF8-901D-6EFF6E393E3E}"/>
              </a:ext>
            </a:extLst>
          </p:cNvPr>
          <p:cNvGraphicFramePr/>
          <p:nvPr/>
        </p:nvGraphicFramePr>
        <p:xfrm>
          <a:off xmlns:a="http://schemas.openxmlformats.org/drawingml/2006/main" x="609600" y="1571625"/>
          <a:ext xmlns:a="http://schemas.openxmlformats.org/drawingml/2006/main" cx="10972800" cy="4191000"/>
        </p:xfrm>
        <a:graphic xmlns:a="http://schemas.openxmlformats.org/drawingml/2006/main">
          <a:graphicData uri="http://schemas.openxmlformats.org/drawingml/2006/table">
            <a:tbl>
              <a:tblPr firstRow="1" bandRow="0"/>
              <a:tblGrid>
                <a:gridCol w="4286250"/>
                <a:gridCol w="6686550"/>
              </a:tblGrid>
              <a:tr h="838200">
                <a:tc>
                  <a:txBody>
                    <a:bodyPr lIns="114300" tIns="114300" rIns="114300" bIns="114300"/>
                    <a:lstStyle/>
                    <a:p>
                      <a:r>
                        <a:rPr sz="1875" b="1">
                          <a:solidFill>
                            <a:srgbClr val="FFFFFF"/>
                          </a:solidFill>
                          <a:latin typeface="Aptos"/>
                          <a:ea typeface="Aptos"/>
                          <a:cs typeface="Aptos"/>
                        </a:rPr>
                        <a:t>Source</a:t>
                      </a:r>
                    </a:p>
                  </a:txBody>
                  <a:tcPr marL="91440" marR="91440" marT="45720" marB="45720" anchor="ctr">
                    <a:lnL w="6668">
                      <a:solidFill>
                        <a:srgbClr val="BFBFBF"/>
                      </a:solidFill>
                      <a:prstDash val="solid"/>
                    </a:lnL>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c>
                  <a:txBody>
                    <a:bodyPr lIns="114300" tIns="114300" rIns="114300" bIns="114300"/>
                    <a:lstStyle/>
                    <a:p>
                      <a:r>
                        <a:rPr sz="1875" b="1">
                          <a:solidFill>
                            <a:srgbClr val="FFFFFF"/>
                          </a:solidFill>
                          <a:latin typeface="Aptos"/>
                          <a:ea typeface="Aptos"/>
                          <a:cs typeface="Aptos"/>
                        </a:rPr>
                        <a:t>Reference and access</a:t>
                      </a:r>
                    </a:p>
                  </a:txBody>
                  <a:tcPr marL="91440" marR="91440" marT="45720" marB="45720" anchor="ctr">
                    <a:lnR w="6668">
                      <a:solidFill>
                        <a:srgbClr val="BFBFBF"/>
                      </a:solidFill>
                      <a:prstDash val="solid"/>
                    </a:lnR>
                    <a:lnT w="6668">
                      <a:solidFill>
                        <a:srgbClr val="BFBFBF"/>
                      </a:solidFill>
                      <a:prstDash val="solid"/>
                    </a:lnT>
                    <a:lnB w="6668">
                      <a:solidFill>
                        <a:srgbClr val="BFBFBF"/>
                      </a:solidFill>
                      <a:prstDash val="solid"/>
                    </a:lnB>
                    <a:solidFill>
                      <a:schemeClr val="accent1"/>
                    </a:solidFill>
                  </a:tcPr>
                </a:tc>
              </a:tr>
              <a:tr h="838200">
                <a:tc>
                  <a:txBody>
                    <a:bodyPr lIns="114300" tIns="114300" rIns="114300" bIns="114300"/>
                    <a:lstStyle/>
                    <a:p>
                      <a:r>
                        <a:rPr sz="1875" b="0">
                          <a:solidFill>
                            <a:srgbClr val="000000"/>
                          </a:solidFill>
                          <a:latin typeface="Aptos"/>
                          <a:ea typeface="Aptos"/>
                          <a:cs typeface="Aptos"/>
                        </a:rPr>
                        <a:t>London UCL Clear Speech</a:t>
                      </a:r>
                    </a:p>
                    <a:p>
                      <a:r>
                        <a:rPr sz="1875" b="0">
                          <a:solidFill>
                            <a:srgbClr val="000000"/>
                          </a:solidFill>
                          <a:latin typeface="Aptos"/>
                          <a:ea typeface="Aptos"/>
                          <a:cs typeface="Aptos"/>
                        </a:rPr>
                        <a:t>in Interaction</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Baker and Hazan. Corpus materials through SpeechBox.</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838200">
                <a:tc>
                  <a:txBody>
                    <a:bodyPr lIns="114300" tIns="114300" rIns="114300" bIns="114300"/>
                    <a:lstStyle/>
                    <a:p>
                      <a:r>
                        <a:rPr sz="1875" b="0">
                          <a:solidFill>
                            <a:srgbClr val="000000"/>
                          </a:solidFill>
                          <a:latin typeface="Aptos"/>
                          <a:ea typeface="Aptos"/>
                          <a:cs typeface="Aptos"/>
                        </a:rPr>
                        <a:t>LUCID lexical analysis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Baese-Berk et al. (2021), Frontiers in Psychology.</a:t>
                      </a:r>
                    </a:p>
                    <a:p>
                      <a:r>
                        <a:rPr sz="1875" b="0">
                          <a:solidFill>
                            <a:srgbClr val="000000"/>
                          </a:solidFill>
                          <a:latin typeface="Aptos"/>
                          <a:ea typeface="Aptos"/>
                          <a:cs typeface="Aptos"/>
                        </a:rPr>
                        <a:t>Reference export recorded at OSF, confirmation pending.</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838200">
                <a:tc>
                  <a:txBody>
                    <a:bodyPr lIns="114300" tIns="114300" rIns="114300" bIns="114300"/>
                    <a:lstStyle/>
                    <a:p>
                      <a:r>
                        <a:rPr sz="1875" b="0">
                          <a:solidFill>
                            <a:srgbClr val="000000"/>
                          </a:solidFill>
                          <a:latin typeface="Aptos"/>
                          <a:ea typeface="Aptos"/>
                          <a:cs typeface="Aptos"/>
                        </a:rPr>
                        <a:t>Ohio Child Speech Corpus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Wagner et al. (2025), Speech Communication.</a:t>
                      </a:r>
                    </a:p>
                    <a:p>
                      <a:r>
                        <a:rPr sz="1875" b="0">
                          <a:solidFill>
                            <a:srgbClr val="000000"/>
                          </a:solidFill>
                          <a:latin typeface="Aptos"/>
                          <a:ea typeface="Aptos"/>
                          <a:cs typeface="Aptos"/>
                        </a:rPr>
                        <a:t>TalkBank CHILDES, DOI 10.21415/60TV-D669.</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r h="838200">
                <a:tc>
                  <a:txBody>
                    <a:bodyPr lIns="114300" tIns="114300" rIns="114300" bIns="114300"/>
                    <a:lstStyle/>
                    <a:p>
                      <a:r>
                        <a:rPr sz="1875" b="0">
                          <a:solidFill>
                            <a:srgbClr val="000000"/>
                          </a:solidFill>
                          <a:latin typeface="Aptos"/>
                          <a:ea typeface="Aptos"/>
                          <a:cs typeface="Aptos"/>
                        </a:rPr>
                        <a:t>New York University</a:t>
                      </a:r>
                    </a:p>
                    <a:p>
                      <a:r>
                        <a:rPr sz="1875" b="0">
                          <a:solidFill>
                            <a:srgbClr val="000000"/>
                          </a:solidFill>
                          <a:latin typeface="Aptos"/>
                          <a:ea typeface="Aptos"/>
                          <a:cs typeface="Aptos"/>
                        </a:rPr>
                        <a:t>and Emerson College corpus</a:t>
                      </a:r>
                    </a:p>
                  </a:txBody>
                  <a:tcPr marL="91440" marR="91440" marT="45720" marB="45720" anchor="ctr">
                    <a:lnL w="6668">
                      <a:solidFill>
                        <a:srgbClr val="BFBFBF"/>
                      </a:solidFill>
                      <a:prstDash val="solid"/>
                    </a:lnL>
                    <a:lnR w="6668">
                      <a:solidFill>
                        <a:srgbClr val="BFBFBF"/>
                      </a:solidFill>
                      <a:prstDash val="solid"/>
                    </a:lnR>
                    <a:lnB w="6668">
                      <a:solidFill>
                        <a:srgbClr val="BFBFBF"/>
                      </a:solidFill>
                      <a:prstDash val="solid"/>
                    </a:lnB>
                    <a:solidFill>
                      <a:srgbClr val="FFFFFF"/>
                    </a:solidFill>
                  </a:tcPr>
                </a:tc>
                <a:tc>
                  <a:txBody>
                    <a:bodyPr lIns="114300" tIns="114300" rIns="114300" bIns="114300"/>
                    <a:lstStyle/>
                    <a:p>
                      <a:r>
                        <a:rPr sz="1875" b="0">
                          <a:solidFill>
                            <a:srgbClr val="000000"/>
                          </a:solidFill>
                          <a:latin typeface="Aptos"/>
                          <a:ea typeface="Aptos"/>
                          <a:cs typeface="Aptos"/>
                        </a:rPr>
                        <a:t>Steen et al. (2026), Meeting on Language in Autism.</a:t>
                      </a:r>
                    </a:p>
                    <a:p>
                      <a:r>
                        <a:rPr sz="1875" b="0">
                          <a:solidFill>
                            <a:srgbClr val="000000"/>
                          </a:solidFill>
                          <a:latin typeface="Aptos"/>
                          <a:ea typeface="Aptos"/>
                          <a:cs typeface="Aptos"/>
                        </a:rPr>
                        <a:t>TalkBank ASDBank, DOI 10.21415/VT7P-YF83.</a:t>
                      </a:r>
                    </a:p>
                  </a:txBody>
                  <a:tcPr marL="91440" marR="91440" marT="45720" marB="45720" anchor="ctr">
                    <a:lnR w="6668">
                      <a:solidFill>
                        <a:srgbClr val="BFBFBF"/>
                      </a:solidFill>
                      <a:prstDash val="solid"/>
                    </a:lnR>
                    <a:lnB w="6668">
                      <a:solidFill>
                        <a:srgbClr val="BFBFBF"/>
                      </a:solidFill>
                      <a:prstDash val="solid"/>
                    </a:lnB>
                    <a:solidFill>
                      <a:srgbClr val="FFFFFF"/>
                    </a:solidFill>
                  </a:tcPr>
                </a:tc>
              </a:tr>
            </a:tbl>
          </a:graphicData>
        </a:graphic>
      </p:graphicFrame>
    </p:spTree>
    <p:extLst>
      <p:ext uri="{BB962C8B-B14F-4D97-AF65-F5344CB8AC3E}">
        <p14:creationId xmlns:p14="http://schemas.microsoft.com/office/powerpoint/2010/main" val="227463315"/>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2026-10-16T15:46:10.5470000Z</dcterms:created>
  <dcterms:modified xsi:type="dcterms:W3CDTF">2026-10-16T15:46:10.5470000Z</dcterms:modified>
</coreProperties>
</file>