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1f2a24fecb64232" /><Relationship Type="http://schemas.openxmlformats.org/officeDocument/2006/relationships/extended-properties" Target="/docProps/app.xml" Id="R5140e22e880e4149" /><Relationship Type="http://schemas.openxmlformats.org/officeDocument/2006/relationships/officeDocument" Target="/ppt/presentation.xml" Id="Rabc026986d6647f8" /></Relationships>
</file>

<file path=ppt/presentation.xml><?xml version="1.0" encoding="utf-8"?>
<p:presentation xmlns:p="http://schemas.openxmlformats.org/presentationml/2006/main">
  <p:sldMasterIdLst>
    <p:sldMasterId xmlns:r="http://schemas.openxmlformats.org/officeDocument/2006/relationships" id="2147483648" r:id="R4dc9a52323744537"/>
  </p:sldMasterIdLst>
  <p:notesMasterIdLst>
    <p:notesMasterId xmlns:r="http://schemas.openxmlformats.org/officeDocument/2006/relationships" r:id="R4ac7f14c1d2f4fdf"/>
  </p:notesMasterIdLst>
  <p:sldIdLst>
    <p:sldId xmlns:r="http://schemas.openxmlformats.org/officeDocument/2006/relationships" id="256" r:id="Rad0963a9220a469d"/>
    <p:sldId xmlns:r="http://schemas.openxmlformats.org/officeDocument/2006/relationships" id="257" r:id="Rdab74ea7996245ee"/>
    <p:sldId xmlns:r="http://schemas.openxmlformats.org/officeDocument/2006/relationships" id="258" r:id="R63ea3aad93a146f7"/>
    <p:sldId xmlns:r="http://schemas.openxmlformats.org/officeDocument/2006/relationships" id="259" r:id="Rfbd743c5a9bc41bd"/>
    <p:sldId xmlns:r="http://schemas.openxmlformats.org/officeDocument/2006/relationships" id="260" r:id="R8661b8c5020b4123"/>
    <p:sldId xmlns:r="http://schemas.openxmlformats.org/officeDocument/2006/relationships" id="261" r:id="Rf5708cd3e5124434"/>
    <p:sldId xmlns:r="http://schemas.openxmlformats.org/officeDocument/2006/relationships" id="262" r:id="Rceb3d3b5ab5e470c"/>
    <p:sldId xmlns:r="http://schemas.openxmlformats.org/officeDocument/2006/relationships" id="263" r:id="Rb9e6949cc64c4eb7"/>
    <p:sldId xmlns:r="http://schemas.openxmlformats.org/officeDocument/2006/relationships" id="264" r:id="R978390a715814052"/>
    <p:sldId xmlns:r="http://schemas.openxmlformats.org/officeDocument/2006/relationships" id="265" r:id="R8dc05a3d87774727"/>
    <p:sldId xmlns:r="http://schemas.openxmlformats.org/officeDocument/2006/relationships" id="266" r:id="Rbd03607c0cdf414d"/>
    <p:sldId xmlns:r="http://schemas.openxmlformats.org/officeDocument/2006/relationships" id="267" r:id="R52e33d06c2f24d98"/>
    <p:sldId xmlns:r="http://schemas.openxmlformats.org/officeDocument/2006/relationships" id="268" r:id="R2fd7bad51c624214"/>
    <p:sldId xmlns:r="http://schemas.openxmlformats.org/officeDocument/2006/relationships" id="269" r:id="Re6fbae0deb1e4cea"/>
    <p:sldId xmlns:r="http://schemas.openxmlformats.org/officeDocument/2006/relationships" id="270" r:id="Rbe66572f9e12491b"/>
    <p:sldId xmlns:r="http://schemas.openxmlformats.org/officeDocument/2006/relationships" id="271" r:id="Rc1280b53cb17492e"/>
    <p:sldId xmlns:r="http://schemas.openxmlformats.org/officeDocument/2006/relationships" id="272" r:id="R8383100148184e1d"/>
    <p:sldId xmlns:r="http://schemas.openxmlformats.org/officeDocument/2006/relationships" id="273" r:id="R1f1bee691bed48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ada65b5b464f92" /><Relationship Type="http://schemas.openxmlformats.org/officeDocument/2006/relationships/slideMaster" Target="/ppt/slideMasters/slideMaster1.xml" Id="R4dc9a52323744537" /><Relationship Type="http://schemas.openxmlformats.org/officeDocument/2006/relationships/notesMaster" Target="/ppt/notesMasters/notesMaster1.xml" Id="R4ac7f14c1d2f4fdf" /><Relationship Type="http://schemas.openxmlformats.org/officeDocument/2006/relationships/presProps" Target="/ppt/presProps.xml" Id="R394e750d996c49ae" /><Relationship Type="http://schemas.openxmlformats.org/officeDocument/2006/relationships/tableStyles" Target="/ppt/tableStyles.xml" Id="Rdd3d178e6ff844af" /><Relationship Type="http://schemas.openxmlformats.org/officeDocument/2006/relationships/slide" Target="/ppt/slides/slide1.xml" Id="Rad0963a9220a469d" /><Relationship Type="http://schemas.openxmlformats.org/officeDocument/2006/relationships/slide" Target="/ppt/slides/slide2.xml" Id="Rdab74ea7996245ee" /><Relationship Type="http://schemas.openxmlformats.org/officeDocument/2006/relationships/slide" Target="/ppt/slides/slide3.xml" Id="R63ea3aad93a146f7" /><Relationship Type="http://schemas.openxmlformats.org/officeDocument/2006/relationships/slide" Target="/ppt/slides/slide4.xml" Id="Rfbd743c5a9bc41bd" /><Relationship Type="http://schemas.openxmlformats.org/officeDocument/2006/relationships/slide" Target="/ppt/slides/slide5.xml" Id="R8661b8c5020b4123" /><Relationship Type="http://schemas.openxmlformats.org/officeDocument/2006/relationships/slide" Target="/ppt/slides/slide6.xml" Id="Rf5708cd3e5124434" /><Relationship Type="http://schemas.openxmlformats.org/officeDocument/2006/relationships/slide" Target="/ppt/slides/slide7.xml" Id="Rceb3d3b5ab5e470c" /><Relationship Type="http://schemas.openxmlformats.org/officeDocument/2006/relationships/slide" Target="/ppt/slides/slide8.xml" Id="Rb9e6949cc64c4eb7" /><Relationship Type="http://schemas.openxmlformats.org/officeDocument/2006/relationships/slide" Target="/ppt/slides/slide9.xml" Id="R978390a715814052" /><Relationship Type="http://schemas.openxmlformats.org/officeDocument/2006/relationships/slide" Target="/ppt/slides/slide10.xml" Id="R8dc05a3d87774727" /><Relationship Type="http://schemas.openxmlformats.org/officeDocument/2006/relationships/slide" Target="/ppt/slides/slide11.xml" Id="Rbd03607c0cdf414d" /><Relationship Type="http://schemas.openxmlformats.org/officeDocument/2006/relationships/slide" Target="/ppt/slides/slide12.xml" Id="R52e33d06c2f24d98" /><Relationship Type="http://schemas.openxmlformats.org/officeDocument/2006/relationships/slide" Target="/ppt/slides/slide13.xml" Id="R2fd7bad51c624214" /><Relationship Type="http://schemas.openxmlformats.org/officeDocument/2006/relationships/slide" Target="/ppt/slides/slide14.xml" Id="Re6fbae0deb1e4cea" /><Relationship Type="http://schemas.openxmlformats.org/officeDocument/2006/relationships/slide" Target="/ppt/slides/slide15.xml" Id="Rbe66572f9e12491b" /><Relationship Type="http://schemas.openxmlformats.org/officeDocument/2006/relationships/slide" Target="/ppt/slides/slide16.xml" Id="Rc1280b53cb17492e" /><Relationship Type="http://schemas.openxmlformats.org/officeDocument/2006/relationships/slide" Target="/ppt/slides/slide17.xml" Id="R8383100148184e1d" /><Relationship Type="http://schemas.openxmlformats.org/officeDocument/2006/relationships/slide" Target="/ppt/slides/slide18.xml" Id="R1f1bee691bed48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87383480b148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c20333b815431c" /><Relationship Type="http://schemas.openxmlformats.org/officeDocument/2006/relationships/notesMaster" Target="/ppt/notesMasters/notesMaster1.xml" Id="Re9eb8ffc02ca43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531c5bf17e4325" /><Relationship Type="http://schemas.openxmlformats.org/officeDocument/2006/relationships/notesMaster" Target="/ppt/notesMasters/notesMaster1.xml" Id="R82337728a08148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64cd3c2fbe46c7" /><Relationship Type="http://schemas.openxmlformats.org/officeDocument/2006/relationships/notesMaster" Target="/ppt/notesMasters/notesMaster1.xml" Id="R5744e53f92d743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8255879c664e91" /><Relationship Type="http://schemas.openxmlformats.org/officeDocument/2006/relationships/notesMaster" Target="/ppt/notesMasters/notesMaster1.xml" Id="R588fdb25e58348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d1c9c8c0af4ced" /><Relationship Type="http://schemas.openxmlformats.org/officeDocument/2006/relationships/notesMaster" Target="/ppt/notesMasters/notesMaster1.xml" Id="R65d5d6ad4ca845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3f1d28aa15463b" /><Relationship Type="http://schemas.openxmlformats.org/officeDocument/2006/relationships/notesMaster" Target="/ppt/notesMasters/notesMaster1.xml" Id="R6efce96b7daf45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2cc43a87cb4360" /><Relationship Type="http://schemas.openxmlformats.org/officeDocument/2006/relationships/notesMaster" Target="/ppt/notesMasters/notesMaster1.xml" Id="Rae340cbc9b144d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090521e855491e" /><Relationship Type="http://schemas.openxmlformats.org/officeDocument/2006/relationships/notesMaster" Target="/ppt/notesMasters/notesMaster1.xml" Id="Rfca560fda6a445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0f239f16ef41a9" /><Relationship Type="http://schemas.openxmlformats.org/officeDocument/2006/relationships/notesMaster" Target="/ppt/notesMasters/notesMaster1.xml" Id="Rf567142bb63841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a6e49c06af416c" /><Relationship Type="http://schemas.openxmlformats.org/officeDocument/2006/relationships/notesMaster" Target="/ppt/notesMasters/notesMaster1.xml" Id="R8d58ca8a44194b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39716a4c8e45cc" /><Relationship Type="http://schemas.openxmlformats.org/officeDocument/2006/relationships/notesMaster" Target="/ppt/notesMasters/notesMaster1.xml" Id="Rc9d3ccf8527642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e964d1439a4d6d" /><Relationship Type="http://schemas.openxmlformats.org/officeDocument/2006/relationships/notesMaster" Target="/ppt/notesMasters/notesMaster1.xml" Id="R3b6d56a8b7814d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cd586db86e4e35" /><Relationship Type="http://schemas.openxmlformats.org/officeDocument/2006/relationships/notesMaster" Target="/ppt/notesMasters/notesMaster1.xml" Id="Re0abf52e8d0648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62249ffc3e4c69" /><Relationship Type="http://schemas.openxmlformats.org/officeDocument/2006/relationships/notesMaster" Target="/ppt/notesMasters/notesMaster1.xml" Id="Re58b34f07d3f4b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5325672a5147ab" /><Relationship Type="http://schemas.openxmlformats.org/officeDocument/2006/relationships/notesMaster" Target="/ppt/notesMasters/notesMaster1.xml" Id="R1563075b3105430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723c58a0de4fc7" /><Relationship Type="http://schemas.openxmlformats.org/officeDocument/2006/relationships/notesMaster" Target="/ppt/notesMasters/notesMaster1.xml" Id="Ra9e68f9981cc45a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f979c6642a419e" /><Relationship Type="http://schemas.openxmlformats.org/officeDocument/2006/relationships/notesMaster" Target="/ppt/notesMasters/notesMaster1.xml" Id="Rfb1bc1c3292649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fa4556b3e74830" /><Relationship Type="http://schemas.openxmlformats.org/officeDocument/2006/relationships/notesMaster" Target="/ppt/notesMasters/notesMaster1.xml" Id="R84798f4cdea84a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covers the current public transcript-validation work. Three complete five-fold comparisons are available. Further training stopped at the user’s request. The existing production model remains active. No v4 fresh final fit or test occurred.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pilot uses 37 recordings from 10 autistic participants aged 8–17 years. That work and audio processing remain separate from the public transcript evaluation summarized here. Public LUCID checks also cover additional shared lexical indices beyond the project’s 11 primary outputs.</a:t>
            </a:r>
          </a:p>
          <a:p xmlns:a="http://schemas.openxmlformats.org/drawingml/2006/main">
            <a:r>
              <a:t/>
            </a:r>
          </a:p>
          <a:p xmlns:a="http://schemas.openxmlformats.org/drawingml/2006/main">
            <a:r>
              <a:t>Sources</a:t>
            </a:r>
          </a:p>
          <a:p xmlns:a="http://schemas.openxmlformats.org/drawingml/2006/main">
            <a:r>
              <a:t>/Users/nafeekazi/Desktop/PhD/speech_pipeline_code/conference_paper/conference_paper.docx</a:t>
            </a:r>
          </a:p>
          <a:p xmlns:a="http://schemas.openxmlformats.org/drawingml/2006/main">
            <a:r>
              <a:t>/Users/nafeekazi/Desktop/PhD/speech_pipeline_code/thompson_center_poster/Thompson_Center_Abstract.docx</a:t>
            </a:r>
          </a:p>
          <a:p xmlns:a="http://schemas.openxmlformats.org/drawingml/2006/main">
            <a:r>
              <a:t>/Users/nafeekazi/Desktop/PhD/speech_pipeline_code/SESSION_HANDOFF.md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LUCID source includes the authors’ TAALED_results.csv at OSF and publicly distributed DiapixUK speaker-labeled TextGrids. The paper describes 40 adult native Southern British English speakers. LUCID supplies lexical statistics, not gold utterances or MLU. OCSC’s published corpus contains 303 children and elicited tasks collected in a science-museum lab. NYU–Emerson’s current release contains 30 autistic children in parent–child interactions, largely recorded at home over Zoom. The reasons in the final column describe our evaluation rationale.</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a:t>
            </a:r>
          </a:p>
          <a:p xmlns:a="http://schemas.openxmlformats.org/drawingml/2006/main">
            <a:r>
              <a:t>https://nuwildcat.sharepoint.com/:f:/s/WNB-OSCAAR/Et1cBwxG3eFMgo7l6UWDNA0B98o1Z37glbdyz5f0ZzdzvQ?e=kuhfkY</a:t>
            </a:r>
          </a:p>
          <a:p xmlns:a="http://schemas.openxmlformats.org/drawingml/2006/main">
            <a:r>
              <a:t>https://talkbank.org/childes/access/Eng-NA/OCSC.html</a:t>
            </a:r>
          </a:p>
          <a:p xmlns:a="http://schemas.openxmlformats.org/drawingml/2006/main">
            <a:r>
              <a:t>https://doi.org/10.1016/j.specom.2025.103206</a:t>
            </a:r>
          </a:p>
          <a:p xmlns:a="http://schemas.openxmlformats.org/drawingml/2006/main">
            <a:r>
              <a:t>https://talkbank.org/asd/access/English/NYU-Emerson.html</a:t>
            </a:r>
          </a:p>
          <a:p xmlns:a="http://schemas.openxmlformats.org/drawingml/2006/main">
            <a:r>
              <a:t>https://doi.org/10.21415/60TV-D669</a:t>
            </a:r>
          </a:p>
          <a:p xmlns:a="http://schemas.openxmlformats.org/drawingml/2006/main">
            <a:r>
              <a:t>https://doi.org/10.21415/VT7P-YF83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333 CHAT source files were inventoried and 895 usable task sections retained for 329 participants. Two additional assigned NYU training children lack eligible target speech. Two OCSC files contain only excluded alphabet, number or Wug tasks. Exclusions remain explicit and are not zero-error results. The audit checks participants, source files and exact full-section text. Participant disjointness and the history of earlier benchmark exposure are both preserved.</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/Users/nafeekazi/Desktop/PhD/speech_pipeline_code/outputs/validation/cohorts_v1/manifest.json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production workflow uses the previous calibrated observed-turn model and margin 0.25. Consecutive target-speaker source rows merge into observed turns, removing human utterance endings as inference cuts. Reference coding and gold target boundaries remain evaluator information. Words remain unchanged. Native CLAN calculates supported CHAT measures, while the historical lexical profile supports the LUCID comparison. Plain text without speaker rows uses the existing paragraph workflow.</a:t>
            </a:r>
          </a:p>
          <a:p xmlns:a="http://schemas.openxmlformats.org/drawingml/2006/main">
            <a:r>
              <a:t/>
            </a:r>
          </a:p>
          <a:p xmlns:a="http://schemas.openxmlformats.org/drawingml/2006/main">
            <a:r>
              <a:t>Sources</a:t>
            </a:r>
          </a:p>
          <a:p xmlns:a="http://schemas.openxmlformats.org/drawingml/2006/main">
            <a:r>
              <a:t>/Users/nafeekazi/Desktop/PhD/speech_pipeline_code/speech_pipeline/transcript.py</a:t>
            </a:r>
          </a:p>
          <a:p xmlns:a="http://schemas.openxmlformats.org/drawingml/2006/main">
            <a:r>
              <a:t>/Users/nafeekazi/Desktop/PhD/speech_pipeline_code/speech_pipeline/research/transcript_chat.py</a:t>
            </a:r>
          </a:p>
          <a:p xmlns:a="http://schemas.openxmlformats.org/drawingml/2006/main">
            <a:r>
              <a:t>/Users/nafeekazi/Desktop/PhD/speech_pipeline_code/speech_pipeline/chat_metrics.py</a:t>
            </a:r>
          </a:p>
          <a:p xmlns:a="http://schemas.openxmlformats.org/drawingml/2006/main">
            <a:r>
              <a:t>/Users/nafeekazi/Desktop/PhD/speech_pipeline_code/speech_pipeline/lexical_compat.py</a:t>
            </a:r>
          </a:p>
          <a:p xmlns:a="http://schemas.openxmlformats.org/drawingml/2006/main">
            <a:r>
              <a:t>/Users/nafeekazi/Desktop/PhD/speech_pipeline_code/outputs/results/benchmark/transcript_workflow.json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Microsoft MiniLM encoder is an off-the-shelf pretrained component. Our rule embedding and gap classifier are custom trainable layers. The classifier concatenates two 384-dimensional context vectors and a 16-dimensional rule embedding, then uses a 128-unit GELU layer, dropout 0.15 and two output logits. The registered CV models use independent gap decoding, cross entropy plus a relative boundary-count loss, 256-token windows and stride 128. No CRF or ensemble is active in this study. All new fits begin from the original pinned pretrained encoder, not another task model’s fine-tuned weights.</a:t>
            </a:r>
          </a:p>
          <a:p xmlns:a="http://schemas.openxmlformats.org/drawingml/2006/main">
            <a:r>
              <a:t/>
            </a:r>
          </a:p>
          <a:p xmlns:a="http://schemas.openxmlformats.org/drawingml/2006/main">
            <a:r>
              <a:t>Sources</a:t>
            </a:r>
          </a:p>
          <a:p xmlns:a="http://schemas.openxmlformats.org/drawingml/2006/main">
            <a:r>
              <a:t>/Users/nafeekazi/Desktop/PhD/speech_pipeline_code/speech_pipeline/segmentation.py</a:t>
            </a:r>
          </a:p>
          <a:p xmlns:a="http://schemas.openxmlformats.org/drawingml/2006/main">
            <a:r>
              <a:t>https://huggingface.co/microsoft/MiniLM-L12-H384-uncased</a:t>
            </a:r>
          </a:p>
          <a:p xmlns:a="http://schemas.openxmlformats.org/drawingml/2006/main">
            <a:r>
              <a:t>/Users/nafeekazi/Desktop/PhD/speech_pipeline_code/speech_pipeline/research/metric_training.py</a:t>
            </a:r>
          </a:p>
          <a:p xmlns:a="http://schemas.openxmlformats.org/drawingml/2006/main">
            <a:r>
              <a:t>/Users/nafeekazi/Desktop/PhD/speech_pipeline_code/outputs/validation/cv_hyperparameter_v4/protocol.json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MLUw is native eligible MLU words divided by native eligible MLU utterances. FREQ and MLU have different eligibility rules. Zero reference denominators and unavailable values remain missing. The cross-corpus tuning objective averages the three primary participant errors equally across OCSC and NYU. Engineering goals are 5% for most measures and 10% for length SD and original MTLD. These are project goals, not validated clinical acceptance standards. APE is a metric agreement measure, not classification accuracy.</a:t>
            </a:r>
          </a:p>
          <a:p xmlns:a="http://schemas.openxmlformats.org/drawingml/2006/main">
            <a:r>
              <a:t/>
            </a:r>
          </a:p>
          <a:p xmlns:a="http://schemas.openxmlformats.org/drawingml/2006/main">
            <a:r>
              <a:t>Sources</a:t>
            </a:r>
          </a:p>
          <a:p xmlns:a="http://schemas.openxmlformats.org/drawingml/2006/main">
            <a:r>
              <a:t>/Users/nafeekazi/Desktop/PhD/speech_pipeline_code/speech_pipeline/research/transcript_chat.py</a:t>
            </a:r>
          </a:p>
          <a:p xmlns:a="http://schemas.openxmlformats.org/drawingml/2006/main">
            <a:r>
              <a:t>/Users/nafeekazi/Desktop/PhD/speech_pipeline_code/speech_pipeline/chat_metrics.py</a:t>
            </a:r>
          </a:p>
          <a:p xmlns:a="http://schemas.openxmlformats.org/drawingml/2006/main">
            <a:r>
              <a:t>https://talkbank.org/manuals/CLAN.pdf</a:t>
            </a:r>
          </a:p>
          <a:p xmlns:a="http://schemas.openxmlformats.org/drawingml/2006/main">
            <a:r>
              <a:t>/Users/nafeekazi/Desktop/PhD/speech_pipeline_code/outputs/results/transcript_validation/lucid_results.json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compatibility correction preserves the current spaCy model and does not claim exact reproduction of the authors’ historical environment. Boundary calibration leaves words, lexical calculations and trained weights unchanged. The original zero-margin batched implementation failed parity for six recordings, so the original preprocessing path replaced it before accepting calibration. A later full-model/five-model/six-model ensemble exploration used original eval and was superseded when the user clarified CV’s selection role. Its frozen-choice test preparation began but stopped before a fresh metric result. No ensemble entered production.</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/Users/nafeekazi/Desktop/PhD/speech_pipeline_code/outputs/results/transcript_validation/REPORT.md</a:t>
            </a:r>
          </a:p>
          <a:p xmlns:a="http://schemas.openxmlformats.org/drawingml/2006/main">
            <a:r>
              <a:t>/Users/nafeekazi/Desktop/PhD/speech_pipeline_code/outputs/validation/transcript_validation/calibration_zero_parity.json</a:t>
            </a:r>
          </a:p>
          <a:p xmlns:a="http://schemas.openxmlformats.org/drawingml/2006/main">
            <a:r>
              <a:t>/Users/nafeekazi/Desktop/PhD/speech_pipeline_code/outputs/validation/cv_hyperparameter_v4/protocol.json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 each fold, fitting, inner and CV-heldout participants are disjoint. Each child contributes all sections to a single role. The inner split selects epoch by native objective at margin 0, then calibrates over 12 fixed margins. CV-heldout scores rank training recipes, and original eval/test remain outside that comparison. Five folds contain 4 NYU children each and 42–43 OCSC children. Shared initial seeds within a fold across recipes deliberately pair initialization and augmentation. This is five-fold hyperparameter search with a within-fold holdout, not a 5-by-5 nested-CV claim. CV minimum is a tuning score. Fold SD is descriptive because training groups overlap.</a:t>
            </a:r>
          </a:p>
          <a:p xmlns:a="http://schemas.openxmlformats.org/drawingml/2006/main">
            <a:r>
              <a:t/>
            </a:r>
          </a:p>
          <a:p xmlns:a="http://schemas.openxmlformats.org/drawingml/2006/main">
            <a:r>
              <a:t>Sources</a:t>
            </a:r>
          </a:p>
          <a:p xmlns:a="http://schemas.openxmlformats.org/drawingml/2006/main">
            <a:r>
              <a:t>/Users/nafeekazi/Desktop/PhD/speech_pipeline_code/outputs/validation/cv_hyperparameter_v4/protocol.json</a:t>
            </a:r>
          </a:p>
          <a:p xmlns:a="http://schemas.openxmlformats.org/drawingml/2006/main">
            <a:r>
              <a:t>/Users/nafeekazi/Desktop/PhD/speech_pipeline_code/outputs/validation/cohorts_v1/manifest.json</a:t>
            </a:r>
          </a:p>
          <a:p xmlns:a="http://schemas.openxmlformats.org/drawingml/2006/main">
            <a:r>
              <a:t>https://scikit-learn.org/stable/modules/grid_search.html</a:t>
            </a:r>
          </a:p>
          <a:p xmlns:a="http://schemas.openxmlformats.org/drawingml/2006/main">
            <a:r>
              <a:t>https://scikit-learn.org/stable/modules/cross_validation.html#cross-validation-iterators-for-grouped-data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Pooled CV objective equally averages eligible-count, MLUw and length-SD participant APE across both corpora. Completed fold means and sample SDs are baseline 13.16 ± 2.48, lower count loss 13.36 ± 2.68, and higher learning rate 13.53 ± 3.10. The five verified baseline fits were reused with frozen weights and roles checked, then recalibrated on their inner groups with the same 12 margins. Ten new nonbaseline fold fits completed. The fourth configuration stopped during fold 1 after its complete epoch-4 checkpoint, before a frozen fold selection or heldout score. Exclude that setting as a whole. The registered four-setting study is incomplete. No new v4 final fit, test or activation occurred.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/Users/nafeekazi/Desktop/PhD/speech_pipeline_code/outputs/validation/cv_hyperparameter_v4/stopped_search_integrity_audit.json</a:t>
            </a:r>
          </a:p>
          <a:p xmlns:a="http://schemas.openxmlformats.org/drawingml/2006/main">
            <a:r>
              <a:t>/Users/nafeekazi/Desktop/PhD/speech_pipeline_code/outputs/validation/cv_hyperparameter_v4/user_stop.json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Coverage retains all 300 source TextGrids and all 240 published rows. We scored 180 rows, with 60 vocoder rows unavailable because two source candidates map to each target. No recording was selected by numeric similarity to the published values. Exact cleaned index files, historical GUI configuration and source/tier mapping remain unresolved. Babble and L2 contain 120 samples total and all 15 shared measures meet the declared mean-error targets. A source-only comment/tier audit found no contradiction among available Speaker A/B comments and numeric tier labels. These results check lexical statistic reproduction and provide no boundary-model superiority claim.</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/Users/nafeekazi/Desktop/PhD/speech_pipeline_code/outputs/validation/cv_hyperparameter_v4/lucid_comment_tier_summary.json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fixed-recipe five-fold OCSC errors are 9.16497845%, 9.09250479% and 14.88540339%. Lower count-loss setting errors are 8.83619768%, 8.66736307% and 14.73139231%. The lower count-loss setting has the best completed OCSC average across these three measures. Its comparison also includes the common expanded 12-margin inner calibration policy. The higher-learning-rate setting has lower SD error alone, but a worse OCSC three-metric mean. We do not combine per-metric minima from different models. These are CV tuning results, not new final-test results. Count/MLU agreement is reasonably good; the 5% project goals remain unmet.</a:t>
            </a:r>
          </a:p>
          <a:p xmlns:a="http://schemas.openxmlformats.org/drawingml/2006/main">
            <a:r>
              <a:t/>
            </a:r>
          </a:p>
          <a:p xmlns:a="http://schemas.openxmlformats.org/drawingml/2006/main">
            <a:r>
              <a:t>Sources</a:t>
            </a:r>
          </a:p>
          <a:p xmlns:a="http://schemas.openxmlformats.org/drawingml/2006/main">
            <a:r>
              <a:t>/Users/nafeekazi/Desktop/PhD/speech_pipeline_code/outputs/results/participant_cv_v1/cross_validation_results.json</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NYU numbers on this slide are cross-validation tuning results on original-training participants. The baseline gives count 16.27527326%, MLUw 10.27484130%, SD 19.47100597%. The lower count-loss setting gives 17.48621240%, 10.99835804%, 19.42027262%. Higher learning rate gives 16.1239%, 12.1032%, 20.3088%. Each row corresponds to one consistent setting assessed on all five folds. Baseline has the best NYU and combined primary-metric mean. We retain individual gains, regressions and missing values rather than selecting the best metric from each row.</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already evaluated, preserved production-test results for the prior calibrated observed-turn model, margin 0.25. No new v4 final test or model activation occurred. All entries are mean participant APE. OCSC length SD has 2 missing sections and MATTR has 7, retained as unavailable. NYU has no missing sections for these metrics but only 4 test participants. This historically evaluated test cohort supports reproducible descriptive comparisons, not a claim of newly unexposed external confirmation. The table above is not the 8.84% OCSC CV result from a different fitted procedure.</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/Users/nafeekazi/Desktop/PhD/speech_pipeline_code/outputs/results/benchmark/transcript_workflow.json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descriptive comparisons use original train and eval, except training-word totals, which use train only. Ages come from local target-child CHAT @ID headers and describe our usable cohorts. Published corpus descriptions differ in age precision and coverage; header demographics should be reconciled before making causal age claims. NYU’s official source describes home Zoom recordings without external microphones and notes unintelligible material. Local native FREQ/MLU word-total gaps are 7.22% NYU versus 1.79% OCSC. Training masks 11.80% of NYU nonfinal gaps near unintelligibility versus 1.08% OCSC. Sample size, task, participant ages and transcription conventions vary together. We cannot identify their separate causal contributions. Earlier fixed-recipe NYU boundary F1 (88.81%) exceeded OCSC (87.22%), so the difficulty is metric-specific.</a:t>
            </a:r>
          </a:p>
          <a:p xmlns:a="http://schemas.openxmlformats.org/drawingml/2006/main">
            <a:r>
              <a:t/>
            </a:r>
          </a:p>
          <a:p xmlns:a="http://schemas.openxmlformats.org/drawingml/2006/main">
            <a:r>
              <a:t>Sources</a:t>
            </a:r>
          </a:p>
          <a:p xmlns:a="http://schemas.openxmlformats.org/drawingml/2006/main">
            <a:r>
              <a:t>/Users/nafeekazi/Desktop/PhD/speech_pipeline_code/outputs/validation/cv_hyperparameter_v4/development_input_profile.json</a:t>
            </a:r>
          </a:p>
          <a:p xmlns:a="http://schemas.openxmlformats.org/drawingml/2006/main">
            <a:r>
              <a:t>/Users/nafeekazi/Desktop/PhD/speech_pipeline_code/outputs/validation/cv_hyperparameter_v4/development_age_profile.json</a:t>
            </a:r>
          </a:p>
          <a:p xmlns:a="http://schemas.openxmlformats.org/drawingml/2006/main">
            <a:r>
              <a:t>/Users/nafeekazi/Desktop/PhD/speech_pipeline_code/outputs/results/cv_hyperparameter_v4/NYU_EXPLANATION.md</a:t>
            </a:r>
          </a:p>
          <a:p xmlns:a="http://schemas.openxmlformats.org/drawingml/2006/main">
            <a:r>
              <a:t>https://talkbank.org/asd/access/English/NYU-Emerson.html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evidence supports good lexical agreement and stronger OCSC count/MLU performance than NYU. It does not establish clinical validity or universal accuracy across corpora. Baseline had the best completed combined CV objective, and lower count loss had the best OCSC three-metric CV objective. The fourth configuration remains incomplete and excluded. All fifteen completed assessments passed integrity checks. No new final model was deployed.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/Users/nafeekazi/Desktop/PhD/speech_pipeline_code/outputs/validation/cv_hyperparameter_v4/stopped_search_integrity_audit.json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staged plan validates transcripts and metric calculations first, then returns to the original 10 participants before evaluating the audio path. The original pilot includes 37 recordings from autistic participants aged 8–17 years, with manual focused samples from 14 recordings. MOSS-Transcribe-Diarize 0.9B supplies the planned audio transcript/speaker path with brief human target-speaker identification. Re-evaluate corrected wording and human boundaries separately. Preserve participant roles for any future training or tuning. New recordings are needed for genuinely unexposed generalization evidence and measurement of human review time. Updating the paper/poster is a proposed next step, not a claim those files were edited in this task.</a:t>
            </a:r>
          </a:p>
          <a:p xmlns:a="http://schemas.openxmlformats.org/drawingml/2006/main">
            <a:r>
              <a:t/>
            </a:r>
          </a:p>
          <a:p xmlns:a="http://schemas.openxmlformats.org/drawingml/2006/main">
            <a:r>
              <a:t>Sources</a:t>
            </a:r>
          </a:p>
          <a:p xmlns:a="http://schemas.openxmlformats.org/drawingml/2006/main">
            <a:r>
              <a:t>/Users/nafeekazi/Desktop/PhD/speech_pipeline_code/conference_paper/conference_paper.docx</a:t>
            </a:r>
          </a:p>
          <a:p xmlns:a="http://schemas.openxmlformats.org/drawingml/2006/main">
            <a:r>
              <a:t>/Users/nafeekazi/Desktop/PhD/speech_pipeline_code/thompson_center_poster/Thompson_Center_Abstract.docx</a:t>
            </a:r>
          </a:p>
          <a:p xmlns:a="http://schemas.openxmlformats.org/drawingml/2006/main">
            <a:r>
              <a:t>/Users/nafeekazi/Desktop/PhD/speech_pipeline_code/SESSION_HANDOFF.md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references</a:t>
            </a:r>
          </a:p>
          <a:p xmlns:a="http://schemas.openxmlformats.org/drawingml/2006/main">
            <a:r>
              <a:t>Baese-Berk et al. (2021). Lexical Diversity, Lexical Sophistication, and Predictability for Speech in Multiple Listening Conditions. Frontiers in Psychology, 12, 661415.</a:t>
            </a:r>
          </a:p>
          <a:p xmlns:a="http://schemas.openxmlformats.org/drawingml/2006/main">
            <a:r>
              <a:t>Wagner et al. (2025). The Ohio Child Speech Corpus. Speech Communication, 170, 103206.</a:t>
            </a:r>
          </a:p>
          <a:p xmlns:a="http://schemas.openxmlformats.org/drawingml/2006/main">
            <a:r>
              <a:t>Steen, K., Buonocore, T., Luyster, R., Sancimino, C., &amp; Arunachalam, S. (2026, March). Introducing the NYU-Emerson Corpus: Transcripts of parent-child interaction with young autistic children. Poster presentation, Meeting on Language in Autism, Atlanta, GA.</a:t>
            </a:r>
          </a:p>
          <a:p xmlns:a="http://schemas.openxmlformats.org/drawingml/2006/main">
            <a:r>
              <a:t/>
            </a:r>
          </a:p>
          <a:p xmlns:a="http://schemas.openxmlformats.org/drawingml/2006/main">
            <a:r>
              <a:t>External sources</a:t>
            </a:r>
          </a:p>
          <a:p xmlns:a="http://schemas.openxmlformats.org/drawingml/2006/main">
            <a:r>
              <a:t>ocsc: https://talkbank.org/childes/access/Eng-NA/OCSC.html</a:t>
            </a:r>
          </a:p>
          <a:p xmlns:a="http://schemas.openxmlformats.org/drawingml/2006/main">
            <a:r>
              <a:t>nyu: https://talkbank.org/asd/access/English/NYU-Emerson.html</a:t>
            </a:r>
          </a:p>
          <a:p xmlns:a="http://schemas.openxmlformats.org/drawingml/2006/main">
            <a:r>
              <a:t>lucid: https://doi.org/10.3389/fpsyg.2021.661415</a:t>
            </a:r>
          </a:p>
          <a:p xmlns:a="http://schemas.openxmlformats.org/drawingml/2006/main">
            <a:r>
              <a:t>osf: https://osf.io/dfhpu/</a:t>
            </a:r>
          </a:p>
          <a:p xmlns:a="http://schemas.openxmlformats.org/drawingml/2006/main">
            <a:r>
              <a:t>ocscPaper: https://doi.org/10.1016/j.specom.2025.103206</a:t>
            </a:r>
          </a:p>
          <a:p xmlns:a="http://schemas.openxmlformats.org/drawingml/2006/main">
            <a:r>
              <a:t>cv: https://scikit-learn.org/stable/modules/grid_search.html</a:t>
            </a:r>
          </a:p>
          <a:p xmlns:a="http://schemas.openxmlformats.org/drawingml/2006/main">
            <a:r>
              <a:t>groups: https://scikit-learn.org/stable/modules/cross_validation.html#cross-validation-iterators-for-grouped-data</a:t>
            </a:r>
          </a:p>
          <a:p xmlns:a="http://schemas.openxmlformats.org/drawingml/2006/main">
            <a:r>
              <a:t>clan: https://talkbank.org/manuals/CLAN.pdf</a:t>
            </a:r>
          </a:p>
          <a:p xmlns:a="http://schemas.openxmlformats.org/drawingml/2006/main">
            <a:r>
              <a:t>mini: https://huggingface.co/microsoft/MiniLM-L12-H384-uncased</a:t>
            </a:r>
          </a:p>
          <a:p xmlns:a="http://schemas.openxmlformats.org/drawingml/2006/main">
            <a:r>
              <a:t/>
            </a:r>
          </a:p>
          <a:p xmlns:a="http://schemas.openxmlformats.org/drawingml/2006/main">
            <a:r>
              <a:t>Local result lineage</a:t>
            </a:r>
          </a:p>
          <a:p xmlns:a="http://schemas.openxmlformats.org/drawingml/2006/main">
            <a:r>
              <a:t>closed: /Users/nafeekazi/Desktop/PhD/speech_pipeline_code/outputs/results/cv_hyperparameter_v4/stopped_search_summary.json</a:t>
            </a:r>
          </a:p>
          <a:p xmlns:a="http://schemas.openxmlformats.org/drawingml/2006/main">
            <a:r>
              <a:t>lucid: /Users/nafeekazi/Desktop/PhD/speech_pipeline_code/outputs/results/transcript_validation/lucid_results.json</a:t>
            </a:r>
          </a:p>
          <a:p xmlns:a="http://schemas.openxmlformats.org/drawingml/2006/main">
            <a:r>
              <a:t>test: /Users/nafeekazi/Desktop/PhD/speech_pipeline_code/outputs/results/transcript_validation/chat_calibrated_results.json</a:t>
            </a:r>
          </a:p>
          <a:p xmlns:a="http://schemas.openxmlformats.org/drawingml/2006/main">
            <a:r>
              <a:t>cohorts: /Users/nafeekazi/Desktop/PhD/speech_pipeline_code/outputs/validation/cohorts_v1/manifest.json</a:t>
            </a:r>
          </a:p>
          <a:p xmlns:a="http://schemas.openxmlformats.org/drawingml/2006/main">
            <a:r>
              <a:t>model: /Users/nafeekazi/Desktop/PhD/speech_pipeline_code/speech_pipeline/segmentation.py</a:t>
            </a:r>
          </a:p>
          <a:p xmlns:a="http://schemas.openxmlformats.org/drawingml/2006/main">
            <a:r>
              <a:t/>
            </a:r>
          </a:p>
          <a:p xmlns:a="http://schemas.openxmlformats.org/drawingml/2006/main">
            <a:r>
              <a:t>The full retained report is outputs/results/transcript_validation/REPORT.md. Completed CV closeout, source profiles, model architecture and stopped-run status are versioned under cv_hyperparameter_v4.</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dfb87dbf7d45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93cbc2a5754d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df2868d14f42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c6d63fa8274c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daf90514934d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29f26e42d042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121B1F-DCD0-4661-AA85-3F8D17B083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2C0A33-5884-473C-B32B-CD5D7C4653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03E854-2D9F-4ABC-877B-1B6F87493B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B69705-30E4-499A-9F17-B2951D5AC2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B04E722-361C-4DD3-8D1F-EA35C8D35A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347E23-009E-49C2-B5DB-95A8C6778D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8D5688-2578-4E3A-BA06-C552696728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1E92A0-FF14-48CB-A838-A04A95AE0AB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157456-4260-4933-A778-8C8203E63B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A1D482-EDED-4220-9D03-4DB01E87B2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50a25fb15d458f" /><Relationship Type="http://schemas.openxmlformats.org/officeDocument/2006/relationships/slideLayout" Target="/ppt/slideLayouts/slideLayout1.xml" Id="Ref4dfe67350845a7" /><Relationship Type="http://schemas.openxmlformats.org/officeDocument/2006/relationships/slideLayout" Target="/ppt/slideLayouts/slideLayout2.xml" Id="Rff3dd19c9f9744f9" /><Relationship Type="http://schemas.openxmlformats.org/officeDocument/2006/relationships/slideLayout" Target="/ppt/slideLayouts/slideLayout3.xml" Id="R055b5b50ec8e484b" /><Relationship Type="http://schemas.openxmlformats.org/officeDocument/2006/relationships/slideLayout" Target="/ppt/slideLayouts/slideLayout4.xml" Id="R8eb54d8abcf348a5" /><Relationship Type="http://schemas.openxmlformats.org/officeDocument/2006/relationships/slideLayout" Target="/ppt/slideLayouts/slideLayout5.xml" Id="Rc04e8304bb0f47ad" /><Relationship Type="http://schemas.openxmlformats.org/officeDocument/2006/relationships/slideLayout" Target="/ppt/slideLayouts/slideLayout6.xml" Id="R765aaf7f656d46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4dfe67350845a7"/>
    <p:sldLayoutId xmlns:r="http://schemas.openxmlformats.org/officeDocument/2006/relationships" id="2147483650" r:id="Rff3dd19c9f9744f9"/>
    <p:sldLayoutId xmlns:r="http://schemas.openxmlformats.org/officeDocument/2006/relationships" id="2147483651" r:id="R055b5b50ec8e484b"/>
    <p:sldLayoutId xmlns:r="http://schemas.openxmlformats.org/officeDocument/2006/relationships" id="2147483652" r:id="R8eb54d8abcf348a5"/>
    <p:sldLayoutId xmlns:r="http://schemas.openxmlformats.org/officeDocument/2006/relationships" id="2147483653" r:id="Rc04e8304bb0f47ad"/>
    <p:sldLayoutId xmlns:r="http://schemas.openxmlformats.org/officeDocument/2006/relationships" id="2147483654" r:id="R765aaf7f656d46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3a385b467d40b7" /><Relationship Type="http://schemas.openxmlformats.org/officeDocument/2006/relationships/notesSlide" Target="/ppt/notesSlides/notesSlide1.xml" Id="R9fa427930ad147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f724467bfd04e11" /><Relationship Type="http://schemas.openxmlformats.org/officeDocument/2006/relationships/notesSlide" Target="/ppt/notesSlides/notesSlide2.xml" Id="R0e8a4515451c49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9f50e01c1cf4f15" /><Relationship Type="http://schemas.openxmlformats.org/officeDocument/2006/relationships/notesSlide" Target="/ppt/notesSlides/notesSlide3.xml" Id="R3fdc1101f07349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aeaa0dbffc4976" /><Relationship Type="http://schemas.openxmlformats.org/officeDocument/2006/relationships/notesSlide" Target="/ppt/notesSlides/notesSlide4.xml" Id="Rb2092c9500f749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b360e7aa964b8b" /><Relationship Type="http://schemas.openxmlformats.org/officeDocument/2006/relationships/notesSlide" Target="/ppt/notesSlides/notesSlide5.xml" Id="Reb1276d4db3946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920d97f36f94430" /><Relationship Type="http://schemas.openxmlformats.org/officeDocument/2006/relationships/notesSlide" Target="/ppt/notesSlides/notesSlide6.xml" Id="Rf709b5f6b6d449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516bf11b05442f9" /><Relationship Type="http://schemas.openxmlformats.org/officeDocument/2006/relationships/notesSlide" Target="/ppt/notesSlides/notesSlide7.xml" Id="R9f1d9264d6d54b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99ea3b2e7e4aa9" /><Relationship Type="http://schemas.openxmlformats.org/officeDocument/2006/relationships/notesSlide" Target="/ppt/notesSlides/notesSlide8.xml" Id="Rd52ca32bb0bc4f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e4bb7cec3c470d" /><Relationship Type="http://schemas.openxmlformats.org/officeDocument/2006/relationships/notesSlide" Target="/ppt/notesSlides/notesSlide9.xml" Id="R1ac5bd3f0a1447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0e9a01d3cbc4c0e" /><Relationship Type="http://schemas.openxmlformats.org/officeDocument/2006/relationships/notesSlide" Target="/ppt/notesSlides/notesSlide10.xml" Id="R1a8aabafda2f49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2e2ca9d173d4e20" /><Relationship Type="http://schemas.openxmlformats.org/officeDocument/2006/relationships/notesSlide" Target="/ppt/notesSlides/notesSlide11.xml" Id="Ra1c74f7a6a3545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28b0a410dc14c66" /><Relationship Type="http://schemas.openxmlformats.org/officeDocument/2006/relationships/chart" Target="/ppt/slides/charts/chart1.xml" Id="Rbd9766e5a99f4bc6" /><Relationship Type="http://schemas.openxmlformats.org/officeDocument/2006/relationships/notesSlide" Target="/ppt/notesSlides/notesSlide12.xml" Id="R9a4e240877aa43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540fbb185fd43a8" /><Relationship Type="http://schemas.openxmlformats.org/officeDocument/2006/relationships/notesSlide" Target="/ppt/notesSlides/notesSlide13.xml" Id="R7c90c4065f014a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738f9296dcc4b56" /><Relationship Type="http://schemas.openxmlformats.org/officeDocument/2006/relationships/notesSlide" Target="/ppt/notesSlides/notesSlide14.xml" Id="R8157fb8aee19462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3245046926b46a2" /><Relationship Type="http://schemas.openxmlformats.org/officeDocument/2006/relationships/notesSlide" Target="/ppt/notesSlides/notesSlide15.xml" Id="R77beabf0b8c241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5f6ea4326174ee6" /><Relationship Type="http://schemas.openxmlformats.org/officeDocument/2006/relationships/notesSlide" Target="/ppt/notesSlides/notesSlide16.xml" Id="Rcee67fe0100f42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0f4279f2e0d471a" /><Relationship Type="http://schemas.openxmlformats.org/officeDocument/2006/relationships/notesSlide" Target="/ppt/notesSlides/notesSlide17.xml" Id="Ra46a9810923a487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c8c494e121a4662" /><Relationship Type="http://schemas.openxmlformats.org/officeDocument/2006/relationships/hyperlink" Target="https://doi.org/10.3389/fpsyg.2021.661415" TargetMode="External" Id="R1cd16c838ef94d96" /><Relationship Type="http://schemas.openxmlformats.org/officeDocument/2006/relationships/hyperlink" Target="https://osf.io/dfhpu/" TargetMode="External" Id="Rcd2526aa620948d4" /><Relationship Type="http://schemas.openxmlformats.org/officeDocument/2006/relationships/hyperlink" Target="https://doi.org/10.1016/j.specom.2025.103206" TargetMode="External" Id="Re201754907184e89" /><Relationship Type="http://schemas.openxmlformats.org/officeDocument/2006/relationships/hyperlink" Target="https://talkbank.org/childes/access/Eng-NA/OCSC.html" TargetMode="External" Id="R52f614e918174ce7" /><Relationship Type="http://schemas.openxmlformats.org/officeDocument/2006/relationships/hyperlink" Target="https://talkbank.org/asd/access/English/NYU-Emerson.html" TargetMode="External" Id="R2ee1aff0874048cb" /><Relationship Type="http://schemas.openxmlformats.org/officeDocument/2006/relationships/hyperlink" Target="https://doi.org/10.21415/VT7P-YF83" TargetMode="External" Id="R6e13b2f72d254389" /><Relationship Type="http://schemas.openxmlformats.org/officeDocument/2006/relationships/hyperlink" Target="https://scikit-learn.org/stable/modules/grid_search.html" TargetMode="External" Id="Rc9a9bdf32f874853" /><Relationship Type="http://schemas.openxmlformats.org/officeDocument/2006/relationships/hyperlink" Target="https://scikit-learn.org/stable/modules/cross_validation.html#cross-validation-iterators-for-grouped-data" TargetMode="External" Id="R65895d604d654f9f" /><Relationship Type="http://schemas.openxmlformats.org/officeDocument/2006/relationships/notesSlide" Target="/ppt/notesSlides/notesSlide18.xml" Id="R07b45e3a0ce2454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Earlier baseline</c:v>
          </c:tx>
          <c:spPr>
            <a:solidFill xmlns:a="http://schemas.openxmlformats.org/drawingml/2006/main">
              <a:srgbClr val="AAB7C1"/>
            </a:solidFill>
          </c:spPr>
          <c:invertIfNegative val="0"/>
          <c:cat>
            <c:strRef>
              <c:f>'Chart Data'!$A$2:$A$4</c:f>
              <c:strCache>
                <c:ptCount val="3"/>
                <c:pt idx="0">
                  <c:v>Eligible count</c:v>
                </c:pt>
                <c:pt idx="1">
                  <c:v>MLU in words</c:v>
                </c:pt>
                <c:pt idx="2">
                  <c:v>Length SD</c:v>
                </c:pt>
              </c:strCache>
            </c:strRef>
          </c:cat>
          <c:val>
            <c:numRef>
              <c:f>'Chart Data'!$B$2:$B$4</c:f>
              <c:numCache>
                <c:formatCode>0</c:formatCode>
                <c:ptCount val="3"/>
                <c:pt idx="0">
                  <c:v>9.16</c:v>
                </c:pt>
                <c:pt idx="1">
                  <c:v>9.09</c:v>
                </c:pt>
                <c:pt idx="2">
                  <c:v>14.89</c:v>
                </c:pt>
              </c:numCache>
            </c:numRef>
          </c:val>
        </c:ser>
        <c:ser>
          <c:idx val="1"/>
          <c:order val="1"/>
          <c:tx>
            <c:v>Lower count loss</c:v>
          </c:tx>
          <c:spPr>
            <a:solidFill xmlns:a="http://schemas.openxmlformats.org/drawingml/2006/main">
              <a:srgbClr val="007F78"/>
            </a:solidFill>
          </c:spPr>
          <c:invertIfNegative val="0"/>
          <c:cat>
            <c:strRef>
              <c:f>'Chart Data'!$C$2:$C$4</c:f>
              <c:strCache>
                <c:ptCount val="3"/>
                <c:pt idx="0">
                  <c:v>Eligible count</c:v>
                </c:pt>
                <c:pt idx="1">
                  <c:v>MLU in words</c:v>
                </c:pt>
                <c:pt idx="2">
                  <c:v>Length SD</c:v>
                </c:pt>
              </c:strCache>
            </c:strRef>
          </c:cat>
          <c:val>
            <c:numRef>
              <c:f>'Chart Data'!$D$2:$D$4</c:f>
              <c:numCache>
                <c:formatCode>0</c:formatCode>
                <c:ptCount val="3"/>
                <c:pt idx="0">
                  <c:v>8.84</c:v>
                </c:pt>
                <c:pt idx="1">
                  <c:v>8.67</c:v>
                </c:pt>
                <c:pt idx="2">
                  <c:v>14.73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82E4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D9"/>
            </a:solidFill>
          </a:ln>
        </c:spPr>
        <c:txPr>
          <a:bodyPr xmlns:a="http://schemas.openxmlformats.org/drawingml/2006/main" anchorCtr="1"/>
          <a:lstStyle xmlns:a="http://schemas.openxmlformats.org/drawingml/2006/main"/>
          <a:p xmlns:a="http://schemas.openxmlformats.org/drawingml/2006/main">
            <a:pPr>
              <a:defRPr sz="1800">
                <a:solidFill>
                  <a:srgbClr val="182E4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7620">
              <a:solidFill>
                <a:srgbClr val="CBD5D9"/>
              </a:solidFill>
            </a:ln>
          </c:spPr>
        </c:majorGridlines>
        <c:title>
          <c:tx>
            <c:rich>
              <a:bodyPr xmlns:a="http://schemas.openxmlformats.org/drawingml/2006/main"/>
              <a:lstStyle xmlns:a="http://schemas.openxmlformats.org/drawingml/2006/main"/>
              <a:p xmlns:a="http://schemas.openxmlformats.org/drawingml/2006/main">
                <a:r>
                  <a:rPr sz="1575">
                    <a:solidFill>
                      <a:srgbClr val="586B78"/>
                    </a:solidFill>
                    <a:latin typeface="Arial"/>
                    <a:ea typeface="Arial"/>
                    <a:cs typeface="Arial"/>
                  </a:rPr>
                  <a:t>Mean participant APE (%)</a:t>
                </a:r>
              </a:p>
            </c:rich>
          </c:tx>
          <c:overlay val="0"/>
          <c:txPr>
            <a:bodyPr xmlns:a="http://schemas.openxmlformats.org/drawingml/2006/main" anchorCtr="1"/>
            <a:lstStyle xmlns:a="http://schemas.openxmlformats.org/drawingml/2006/main"/>
            <a:p xmlns:a="http://schemas.openxmlformats.org/drawingml/2006/main">
              <a:pPr>
                <a:defRPr sz="1575">
                  <a:solidFill>
                    <a:srgbClr val="586B78"/>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86B78"/>
                </a:solidFill>
                <a:latin typeface="Arial"/>
                <a:ea typeface="Arial"/>
                <a:cs typeface="Arial"/>
              </a:defRPr>
            </a:pPr>
          </a:p>
        </c:txPr>
        <c:crossAx val="48650112"/>
        <c:crossBetween val="between"/>
        <c:majorUnit val="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82E40"/>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E40"/>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F0F94FED-0007-4A27-B7A6-BE2A474770EC}"/>
              </a:ext>
            </a:extLst>
          </p:cNvPr>
          <p:cNvSpPr>
            <a:spLocks xmlns:a="http://schemas.openxmlformats.org/drawingml/2006/main" noGrp="1"/>
          </p:cNvSpPr>
          <p:nvPr/>
        </p:nvSpPr>
        <p:spPr>
          <a:xfrm xmlns:a="http://schemas.openxmlformats.org/drawingml/2006/main">
            <a:off x="685800" y="1257300"/>
            <a:ext cx="1071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Arial"/>
                <a:ea typeface="Arial"/>
                <a:cs typeface="Arial"/>
              </a:defRPr>
            </a:defPPr>
          </a:lstStyle>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Speech pipeline validation</a:t>
            </a:r>
          </a:p>
        </p:txBody>
      </p:sp>
      <p:sp>
        <p:nvSpPr>
          <p:cNvPr id="2" name="text-1">
            <a:extLst xmlns:a="http://schemas.openxmlformats.org/drawingml/2006/main">
              <a:ext uri="{FF2B5EF4-FFF2-40B4-BE49-F238E27FC236}">
                <a16:creationId xmlns:a16="http://schemas.microsoft.com/office/drawing/2014/main" id="{69634B2D-A12B-493B-82CA-3499702740ED}"/>
              </a:ext>
            </a:extLst>
          </p:cNvPr>
          <p:cNvSpPr>
            <a:spLocks xmlns:a="http://schemas.openxmlformats.org/drawingml/2006/main" noGrp="1"/>
          </p:cNvSpPr>
          <p:nvPr/>
        </p:nvSpPr>
        <p:spPr>
          <a:xfrm xmlns:a="http://schemas.openxmlformats.org/drawingml/2006/main">
            <a:off x="704850" y="2381250"/>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FFFFF"/>
                </a:solidFill>
                <a:latin typeface="Arial"/>
                <a:ea typeface="Arial"/>
                <a:cs typeface="Arial"/>
              </a:defRPr>
            </a:defPPr>
          </a:lstStyle>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Datasets, model development and results</a:t>
            </a:r>
          </a:p>
        </p:txBody>
      </p:sp>
      <p:sp>
        <p:nvSpPr>
          <p:cNvPr id="3" name="text-2">
            <a:extLst xmlns:a="http://schemas.openxmlformats.org/drawingml/2006/main">
              <a:ext uri="{FF2B5EF4-FFF2-40B4-BE49-F238E27FC236}">
                <a16:creationId xmlns:a16="http://schemas.microsoft.com/office/drawing/2014/main" id="{8AB3C497-899C-4BE4-9FDC-9C499FF742F3}"/>
              </a:ext>
            </a:extLst>
          </p:cNvPr>
          <p:cNvSpPr>
            <a:spLocks xmlns:a="http://schemas.openxmlformats.org/drawingml/2006/main" noGrp="1"/>
          </p:cNvSpPr>
          <p:nvPr/>
        </p:nvSpPr>
        <p:spPr>
          <a:xfrm xmlns:a="http://schemas.openxmlformats.org/drawingml/2006/main">
            <a:off x="704850" y="37147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9FD7D0"/>
                </a:solidFill>
                <a:latin typeface="Arial"/>
                <a:ea typeface="Arial"/>
                <a:cs typeface="Arial"/>
              </a:defRPr>
            </a:defPPr>
          </a:lstStyle>
          <a:p xmlns:a="http://schemas.openxmlformats.org/drawingml/2006/main">
            <a:pPr algn="l">
              <a:defRPr sz="2250" b="0">
                <a:solidFill>
                  <a:srgbClr val="9FD7D0"/>
                </a:solidFill>
                <a:latin typeface="Arial"/>
                <a:ea typeface="Arial"/>
                <a:cs typeface="Arial"/>
              </a:defRPr>
            </a:pPr>
            <a:r>
              <a:rPr sz="2250" b="0">
                <a:solidFill>
                  <a:srgbClr val="9FD7D0"/>
                </a:solidFill>
                <a:latin typeface="Arial"/>
                <a:ea typeface="Arial"/>
                <a:cs typeface="Arial"/>
              </a:rPr>
              <a:t>LUCID, OCSC and NYU–Emerson</a:t>
            </a:r>
          </a:p>
        </p:txBody>
      </p:sp>
      <p:sp>
        <p:nvSpPr>
          <p:cNvPr id="4" name="text-3">
            <a:extLst xmlns:a="http://schemas.openxmlformats.org/drawingml/2006/main">
              <a:ext uri="{FF2B5EF4-FFF2-40B4-BE49-F238E27FC236}">
                <a16:creationId xmlns:a16="http://schemas.microsoft.com/office/drawing/2014/main" id="{2F9B281F-CFA7-44F7-B83F-882A52256698}"/>
              </a:ext>
            </a:extLst>
          </p:cNvPr>
          <p:cNvSpPr>
            <a:spLocks xmlns:a="http://schemas.openxmlformats.org/drawingml/2006/main" noGrp="1"/>
          </p:cNvSpPr>
          <p:nvPr/>
        </p:nvSpPr>
        <p:spPr>
          <a:xfrm xmlns:a="http://schemas.openxmlformats.org/drawingml/2006/main">
            <a:off x="723900" y="539115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2DDE3"/>
                </a:solidFill>
                <a:latin typeface="Arial"/>
                <a:ea typeface="Arial"/>
                <a:cs typeface="Arial"/>
              </a:defRPr>
            </a:defPPr>
          </a:lstStyle>
          <a:p xmlns:a="http://schemas.openxmlformats.org/drawingml/2006/main">
            <a:pPr algn="l">
              <a:defRPr sz="1725" b="0">
                <a:solidFill>
                  <a:srgbClr val="D2DDE3"/>
                </a:solidFill>
                <a:latin typeface="Arial"/>
                <a:ea typeface="Arial"/>
                <a:cs typeface="Arial"/>
              </a:defRPr>
            </a:pPr>
            <a:r>
              <a:rPr sz="1725" b="0">
                <a:solidFill>
                  <a:srgbClr val="D2DDE3"/>
                </a:solidFill>
                <a:latin typeface="Arial"/>
                <a:ea typeface="Arial"/>
                <a:cs typeface="Arial"/>
              </a:rPr>
              <a:t>Research update</a:t>
            </a:r>
          </a:p>
          <a:p xmlns:a="http://schemas.openxmlformats.org/drawingml/2006/main">
            <a:pPr algn="l">
              <a:defRPr sz="1725" b="0">
                <a:solidFill>
                  <a:srgbClr val="D2DDE3"/>
                </a:solidFill>
                <a:latin typeface="Arial"/>
                <a:ea typeface="Arial"/>
                <a:cs typeface="Arial"/>
              </a:defRPr>
            </a:pPr>
            <a:r>
              <a:rPr sz="1725" b="0">
                <a:solidFill>
                  <a:srgbClr val="D2DDE3"/>
                </a:solidFill>
                <a:latin typeface="Arial"/>
                <a:ea typeface="Arial"/>
                <a:cs typeface="Arial"/>
              </a:rPr>
              <a:t>16 October 2026</a:t>
            </a:r>
          </a:p>
        </p:txBody>
      </p:sp>
    </p:spTree>
    <p:extLst>
      <p:ext uri="{BB962C8B-B14F-4D97-AF65-F5344CB8AC3E}">
        <p14:creationId xmlns:p14="http://schemas.microsoft.com/office/powerpoint/2010/main" val="1973525609"/>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C23E55E8-1F5B-45BE-9E1B-FB403AED0086}"/>
              </a:ext>
            </a:extLst>
          </p:cNvPr>
          <p:cNvCxnSpPr>
            <a:stCxn xmlns:a="http://schemas.openxmlformats.org/drawingml/2006/main" id="7" idx="3"/>
            <a:endCxn xmlns:a="http://schemas.openxmlformats.org/drawingml/2006/main" id="8" idx="1"/>
          </p:cNvCxnSpPr>
          <p:nvPr/>
        </p:nvCxnSpPr>
        <p:spPr>
          <a:xfrm xmlns:a="http://schemas.openxmlformats.org/drawingml/2006/main">
            <a:off x="7639050" y="4505325"/>
            <a:ext cx="83820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9" name="">
            <a:extLst xmlns:a="http://schemas.openxmlformats.org/drawingml/2006/main">
              <a:ext uri="{FF2B5EF4-FFF2-40B4-BE49-F238E27FC236}">
                <a16:creationId xmlns:a16="http://schemas.microsoft.com/office/drawing/2014/main" id="{1DF0A492-EA46-42F1-8A55-9FEE6FF3A1DF}"/>
              </a:ext>
            </a:extLst>
          </p:cNvPr>
          <p:cNvCxnSpPr>
            <a:stCxn xmlns:a="http://schemas.openxmlformats.org/drawingml/2006/main" id="6" idx="3"/>
            <a:endCxn xmlns:a="http://schemas.openxmlformats.org/drawingml/2006/main" id="7" idx="1"/>
          </p:cNvCxnSpPr>
          <p:nvPr/>
        </p:nvCxnSpPr>
        <p:spPr>
          <a:xfrm xmlns:a="http://schemas.openxmlformats.org/drawingml/2006/main">
            <a:off x="3714750" y="4505325"/>
            <a:ext cx="838200" cy="0"/>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12" name="text-0">
            <a:extLst xmlns:a="http://schemas.openxmlformats.org/drawingml/2006/main">
              <a:ext uri="{FF2B5EF4-FFF2-40B4-BE49-F238E27FC236}">
                <a16:creationId xmlns:a16="http://schemas.microsoft.com/office/drawing/2014/main" id="{B0AFCD41-6070-4D40-9F6C-05A2545BFD1F}"/>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Research objective</a:t>
            </a:r>
          </a:p>
        </p:txBody>
      </p:sp>
      <p:sp>
        <p:nvSpPr>
          <p:cNvPr id="2" name="text-1">
            <a:extLst xmlns:a="http://schemas.openxmlformats.org/drawingml/2006/main">
              <a:ext uri="{FF2B5EF4-FFF2-40B4-BE49-F238E27FC236}">
                <a16:creationId xmlns:a16="http://schemas.microsoft.com/office/drawing/2014/main" id="{F67842E5-F3B7-4B4E-9EB3-47FF130AE2D1}"/>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Measure language accurately while keeping each error source visible</a:t>
            </a:r>
          </a:p>
        </p:txBody>
      </p:sp>
      <p:sp>
        <p:nvSpPr>
          <p:cNvPr id="3" name="text-2">
            <a:extLst xmlns:a="http://schemas.openxmlformats.org/drawingml/2006/main">
              <a:ext uri="{FF2B5EF4-FFF2-40B4-BE49-F238E27FC236}">
                <a16:creationId xmlns:a16="http://schemas.microsoft.com/office/drawing/2014/main" id="{5DF86240-F678-4EB3-AF0E-9C8C22116398}"/>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E12BA195-C484-4C2B-A057-F13472CD4FF4}"/>
              </a:ext>
            </a:extLst>
          </p:cNvPr>
          <p:cNvSpPr>
            <a:spLocks xmlns:a="http://schemas.openxmlformats.org/drawingml/2006/main" noGrp="1"/>
          </p:cNvSpPr>
          <p:nvPr/>
        </p:nvSpPr>
        <p:spPr>
          <a:xfrm xmlns:a="http://schemas.openxmlformats.org/drawingml/2006/main">
            <a:off x="628650" y="19240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07F78"/>
                </a:solidFill>
                <a:latin typeface="Arial"/>
                <a:ea typeface="Arial"/>
                <a:cs typeface="Arial"/>
              </a:defRPr>
            </a:defPPr>
          </a:lstStyle>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11 project measures</a:t>
            </a:r>
          </a:p>
        </p:txBody>
      </p:sp>
      <p:sp>
        <p:nvSpPr>
          <p:cNvPr id="5" name="text-4">
            <a:extLst xmlns:a="http://schemas.openxmlformats.org/drawingml/2006/main">
              <a:ext uri="{FF2B5EF4-FFF2-40B4-BE49-F238E27FC236}">
                <a16:creationId xmlns:a16="http://schemas.microsoft.com/office/drawing/2014/main" id="{F4E10E85-4886-4519-8C7E-B5A40CC16D95}"/>
              </a:ext>
            </a:extLst>
          </p:cNvPr>
          <p:cNvSpPr>
            <a:spLocks xmlns:a="http://schemas.openxmlformats.org/drawingml/2006/main" noGrp="1"/>
          </p:cNvSpPr>
          <p:nvPr/>
        </p:nvSpPr>
        <p:spPr>
          <a:xfrm xmlns:a="http://schemas.openxmlformats.org/drawingml/2006/main">
            <a:off x="628650" y="2505075"/>
            <a:ext cx="1038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E40"/>
                </a:solidFill>
                <a:latin typeface="Arial"/>
                <a:ea typeface="Arial"/>
                <a:cs typeface="Arial"/>
              </a:defRPr>
            </a:defPPr>
          </a:lstStyle>
          <a:p xmlns:a="http://schemas.openxmlformats.org/drawingml/2006/main">
            <a:pPr algn="l">
              <a:defRPr sz="2175" b="0">
                <a:solidFill>
                  <a:srgbClr val="182E40"/>
                </a:solidFill>
                <a:latin typeface="Arial"/>
                <a:ea typeface="Arial"/>
                <a:cs typeface="Arial"/>
              </a:defRPr>
            </a:pPr>
            <a:r>
              <a:rPr sz="2175" b="0">
                <a:solidFill>
                  <a:srgbClr val="182E40"/>
                </a:solidFill>
                <a:latin typeface="Arial"/>
                <a:ea typeface="Arial"/>
                <a:cs typeface="Arial"/>
              </a:rPr>
              <a:t>Six vocabulary counts, TTR, MATTR-50, utterance count,</a:t>
            </a:r>
          </a:p>
          <a:p xmlns:a="http://schemas.openxmlformats.org/drawingml/2006/main">
            <a:pPr algn="l">
              <a:defRPr sz="2175" b="0">
                <a:solidFill>
                  <a:srgbClr val="182E40"/>
                </a:solidFill>
                <a:latin typeface="Arial"/>
                <a:ea typeface="Arial"/>
                <a:cs typeface="Arial"/>
              </a:defRPr>
            </a:pPr>
            <a:r>
              <a:rPr sz="2175" b="0">
                <a:solidFill>
                  <a:srgbClr val="182E40"/>
                </a:solidFill>
                <a:latin typeface="Arial"/>
                <a:ea typeface="Arial"/>
                <a:cs typeface="Arial"/>
              </a:rPr>
              <a:t>mean utterance length in words and utterance-length SD</a:t>
            </a:r>
          </a:p>
        </p:txBody>
      </p:sp>
      <p:sp>
        <p:nvSpPr>
          <p:cNvPr id="6" name="diagram-5">
            <a:extLst xmlns:a="http://schemas.openxmlformats.org/drawingml/2006/main">
              <a:ext uri="{FF2B5EF4-FFF2-40B4-BE49-F238E27FC236}">
                <a16:creationId xmlns:a16="http://schemas.microsoft.com/office/drawing/2014/main" id="{607F9921-075F-4877-AE53-BFCB17488869}"/>
              </a:ext>
            </a:extLst>
          </p:cNvPr>
          <p:cNvSpPr>
            <a:spLocks xmlns:a="http://schemas.openxmlformats.org/drawingml/2006/main" noGrp="1"/>
          </p:cNvSpPr>
          <p:nvPr/>
        </p:nvSpPr>
        <p:spPr>
          <a:xfrm xmlns:a="http://schemas.openxmlformats.org/drawingml/2006/main">
            <a:off x="628650" y="3943350"/>
            <a:ext cx="3086100" cy="11239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Current phase</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Human transcripts</a:t>
            </a:r>
          </a:p>
        </p:txBody>
      </p:sp>
      <p:sp>
        <p:nvSpPr>
          <p:cNvPr id="7" name="diagram-6">
            <a:extLst xmlns:a="http://schemas.openxmlformats.org/drawingml/2006/main">
              <a:ext uri="{FF2B5EF4-FFF2-40B4-BE49-F238E27FC236}">
                <a16:creationId xmlns:a16="http://schemas.microsoft.com/office/drawing/2014/main" id="{15597DB3-611D-41C1-B7F3-641C7CD9A0F2}"/>
              </a:ext>
            </a:extLst>
          </p:cNvPr>
          <p:cNvSpPr>
            <a:spLocks xmlns:a="http://schemas.openxmlformats.org/drawingml/2006/main" noGrp="1"/>
          </p:cNvSpPr>
          <p:nvPr/>
        </p:nvSpPr>
        <p:spPr>
          <a:xfrm xmlns:a="http://schemas.openxmlformats.org/drawingml/2006/main">
            <a:off x="4552950" y="3943350"/>
            <a:ext cx="3086100" cy="11239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Our boundary model</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and scoring pipeline</a:t>
            </a:r>
          </a:p>
        </p:txBody>
      </p:sp>
      <p:sp>
        <p:nvSpPr>
          <p:cNvPr id="8" name="diagram-7">
            <a:extLst xmlns:a="http://schemas.openxmlformats.org/drawingml/2006/main">
              <a:ext uri="{FF2B5EF4-FFF2-40B4-BE49-F238E27FC236}">
                <a16:creationId xmlns:a16="http://schemas.microsoft.com/office/drawing/2014/main" id="{95F210E9-6EF7-4AFD-B152-1430AAF9F873}"/>
              </a:ext>
            </a:extLst>
          </p:cNvPr>
          <p:cNvSpPr>
            <a:spLocks xmlns:a="http://schemas.openxmlformats.org/drawingml/2006/main" noGrp="1"/>
          </p:cNvSpPr>
          <p:nvPr/>
        </p:nvSpPr>
        <p:spPr>
          <a:xfrm xmlns:a="http://schemas.openxmlformats.org/drawingml/2006/main">
            <a:off x="8477250" y="3943350"/>
            <a:ext cx="3086100" cy="11239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Reference comparisons</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and error analysis</a:t>
            </a:r>
          </a:p>
        </p:txBody>
      </p:sp>
      <p:sp>
        <p:nvSpPr>
          <p:cNvPr id="11" name="text-10">
            <a:extLst xmlns:a="http://schemas.openxmlformats.org/drawingml/2006/main">
              <a:ext uri="{FF2B5EF4-FFF2-40B4-BE49-F238E27FC236}">
                <a16:creationId xmlns:a16="http://schemas.microsoft.com/office/drawing/2014/main" id="{A0CCC0F9-DFB0-436A-8B24-BC70426A4D49}"/>
              </a:ext>
            </a:extLst>
          </p:cNvPr>
          <p:cNvSpPr>
            <a:spLocks xmlns:a="http://schemas.openxmlformats.org/drawingml/2006/main" noGrp="1"/>
          </p:cNvSpPr>
          <p:nvPr/>
        </p:nvSpPr>
        <p:spPr>
          <a:xfrm xmlns:a="http://schemas.openxmlformats.org/drawingml/2006/main">
            <a:off x="628650" y="55340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Next phase adds audio transcription and speaker selection on the original study.</a:t>
            </a:r>
          </a:p>
        </p:txBody>
      </p:sp>
    </p:spTree>
    <p:extLst>
      <p:ext uri="{BB962C8B-B14F-4D97-AF65-F5344CB8AC3E}">
        <p14:creationId xmlns:p14="http://schemas.microsoft.com/office/powerpoint/2010/main" val="1881826140"/>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A6E2800-7EDD-4363-A296-351F61086BE6}"/>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Dataset sources and selection</a:t>
            </a:r>
          </a:p>
        </p:txBody>
      </p:sp>
      <p:sp>
        <p:nvSpPr>
          <p:cNvPr id="2" name="text-1">
            <a:extLst xmlns:a="http://schemas.openxmlformats.org/drawingml/2006/main">
              <a:ext uri="{FF2B5EF4-FFF2-40B4-BE49-F238E27FC236}">
                <a16:creationId xmlns:a16="http://schemas.microsoft.com/office/drawing/2014/main" id="{A2D5C0FD-C1CA-4398-8080-C08AD91A527C}"/>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Each source tests a different part of the system</a:t>
            </a:r>
          </a:p>
        </p:txBody>
      </p:sp>
      <p:sp>
        <p:nvSpPr>
          <p:cNvPr id="3" name="text-2">
            <a:extLst xmlns:a="http://schemas.openxmlformats.org/drawingml/2006/main">
              <a:ext uri="{FF2B5EF4-FFF2-40B4-BE49-F238E27FC236}">
                <a16:creationId xmlns:a16="http://schemas.microsoft.com/office/drawing/2014/main" id="{AB835B1D-DE1F-45F3-9CAD-B31271348A29}"/>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37B2E8FC-0492-417F-A04F-B3737E2F0213}"/>
              </a:ext>
            </a:extLst>
          </p:cNvPr>
          <p:cNvGraphicFramePr/>
          <p:nvPr/>
        </p:nvGraphicFramePr>
        <p:xfrm>
          <a:off xmlns:a="http://schemas.openxmlformats.org/drawingml/2006/main" x="609600" y="1847850"/>
          <a:ext xmlns:a="http://schemas.openxmlformats.org/drawingml/2006/main" cx="10972800" cy="3333750"/>
        </p:xfrm>
        <a:graphic xmlns:a="http://schemas.openxmlformats.org/drawingml/2006/main">
          <a:graphicData uri="http://schemas.openxmlformats.org/drawingml/2006/table">
            <a:tbl>
              <a:tblPr firstRow="1" bandRow="0"/>
              <a:tblGrid>
                <a:gridCol w="3333750"/>
                <a:gridCol w="3714750"/>
                <a:gridCol w="3924300"/>
              </a:tblGrid>
              <a:tr h="833438">
                <a:tc>
                  <a:txBody>
                    <a:bodyPr lIns="114300" tIns="114300" rIns="114300" bIns="114300"/>
                    <a:lstStyle/>
                    <a:p>
                      <a:pPr algn="l"/>
                      <a:r>
                        <a:rPr sz="1800" b="1">
                          <a:solidFill>
                            <a:srgbClr val="FFFFFF"/>
                          </a:solidFill>
                          <a:latin typeface="Arial"/>
                          <a:ea typeface="Arial"/>
                          <a:cs typeface="Arial"/>
                        </a:rPr>
                        <a:t>Dataset and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What we use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Why we chose it</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833438">
                <a:tc>
                  <a:txBody>
                    <a:bodyPr lIns="114300" tIns="114300" rIns="114300" bIns="114300"/>
                    <a:lstStyle/>
                    <a:p>
                      <a:pPr algn="l"/>
                      <a:r>
                        <a:rPr sz="1875" b="0">
                          <a:solidFill>
                            <a:srgbClr val="182E40"/>
                          </a:solidFill>
                          <a:latin typeface="Arial"/>
                          <a:ea typeface="Arial"/>
                          <a:cs typeface="Arial"/>
                        </a:rPr>
                        <a:t>LUCID</a:t>
                      </a:r>
                    </a:p>
                    <a:p>
                      <a:pPr algn="l"/>
                      <a:r>
                        <a:rPr sz="1875" b="0">
                          <a:solidFill>
                            <a:srgbClr val="182E40"/>
                          </a:solidFill>
                          <a:latin typeface="Arial"/>
                          <a:ea typeface="Arial"/>
                          <a:cs typeface="Arial"/>
                        </a:rPr>
                        <a:t>Public TextGrids and OSF</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Adult dialogue</a:t>
                      </a:r>
                    </a:p>
                    <a:p>
                      <a:pPr algn="l"/>
                      <a:r>
                        <a:rPr sz="1875" b="0">
                          <a:solidFill>
                            <a:srgbClr val="182E40"/>
                          </a:solidFill>
                          <a:latin typeface="Arial"/>
                          <a:ea typeface="Arial"/>
                          <a:cs typeface="Arial"/>
                        </a:rPr>
                        <a:t>Published lexical values</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Numeric reference for</a:t>
                      </a:r>
                    </a:p>
                    <a:p>
                      <a:pPr algn="l"/>
                      <a:r>
                        <a:rPr sz="1875" b="0">
                          <a:solidFill>
                            <a:srgbClr val="182E40"/>
                          </a:solidFill>
                          <a:latin typeface="Arial"/>
                          <a:ea typeface="Arial"/>
                          <a:cs typeface="Arial"/>
                        </a:rPr>
                        <a:t>lexical calculations</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833438">
                <a:tc>
                  <a:txBody>
                    <a:bodyPr lIns="114300" tIns="114300" rIns="114300" bIns="114300"/>
                    <a:lstStyle/>
                    <a:p>
                      <a:pPr algn="l"/>
                      <a:r>
                        <a:rPr sz="1875" b="0">
                          <a:solidFill>
                            <a:srgbClr val="182E40"/>
                          </a:solidFill>
                          <a:latin typeface="Arial"/>
                          <a:ea typeface="Arial"/>
                          <a:cs typeface="Arial"/>
                        </a:rPr>
                        <a:t>Ohio Child Speech Corpus</a:t>
                      </a:r>
                    </a:p>
                    <a:p>
                      <a:pPr algn="l"/>
                      <a:r>
                        <a:rPr sz="1875" b="0">
                          <a:solidFill>
                            <a:srgbClr val="182E40"/>
                          </a:solidFill>
                          <a:latin typeface="Arial"/>
                          <a:ea typeface="Arial"/>
                          <a:cs typeface="Arial"/>
                        </a:rPr>
                        <a:t>TalkBank CHILDES (OCSC)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Child speech tasks</a:t>
                      </a:r>
                    </a:p>
                    <a:p>
                      <a:pPr algn="l"/>
                      <a:r>
                        <a:rPr sz="1875" b="0">
                          <a:solidFill>
                            <a:srgbClr val="182E40"/>
                          </a:solidFill>
                          <a:latin typeface="Arial"/>
                          <a:ea typeface="Arial"/>
                          <a:cs typeface="Arial"/>
                        </a:rPr>
                        <a:t>Human CHAT transcripts</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Larger child sample</a:t>
                      </a:r>
                    </a:p>
                    <a:p>
                      <a:pPr algn="l"/>
                      <a:r>
                        <a:rPr sz="1875" b="0">
                          <a:solidFill>
                            <a:srgbClr val="182E40"/>
                          </a:solidFill>
                          <a:latin typeface="Arial"/>
                          <a:ea typeface="Arial"/>
                          <a:cs typeface="Arial"/>
                        </a:rPr>
                        <a:t>Human utterance coding</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833438">
                <a:tc>
                  <a:txBody>
                    <a:bodyPr lIns="114300" tIns="114300" rIns="114300" bIns="114300"/>
                    <a:lstStyle/>
                    <a:p>
                      <a:pPr algn="l"/>
                      <a:r>
                        <a:rPr sz="1875" b="0">
                          <a:solidFill>
                            <a:srgbClr val="182E40"/>
                          </a:solidFill>
                          <a:latin typeface="Arial"/>
                          <a:ea typeface="Arial"/>
                          <a:cs typeface="Arial"/>
                        </a:rPr>
                        <a:t>NYU–Emerson</a:t>
                      </a:r>
                    </a:p>
                    <a:p>
                      <a:pPr algn="l"/>
                      <a:r>
                        <a:rPr sz="1875" b="0">
                          <a:solidFill>
                            <a:srgbClr val="182E40"/>
                          </a:solidFill>
                          <a:latin typeface="Arial"/>
                          <a:ea typeface="Arial"/>
                          <a:cs typeface="Arial"/>
                        </a:rPr>
                        <a:t>TalkBank ASDBank</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Parent–child CHAT</a:t>
                      </a:r>
                    </a:p>
                    <a:p>
                      <a:pPr algn="l"/>
                      <a:r>
                        <a:rPr sz="1875" b="0">
                          <a:solidFill>
                            <a:srgbClr val="182E40"/>
                          </a:solidFill>
                          <a:latin typeface="Arial"/>
                          <a:ea typeface="Arial"/>
                          <a:cs typeface="Arial"/>
                        </a:rPr>
                        <a:t>Young autistic children</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Autism context</a:t>
                      </a:r>
                    </a:p>
                    <a:p>
                      <a:pPr algn="l"/>
                      <a:r>
                        <a:rPr sz="1875" b="0">
                          <a:solidFill>
                            <a:srgbClr val="182E40"/>
                          </a:solidFill>
                          <a:latin typeface="Arial"/>
                          <a:ea typeface="Arial"/>
                          <a:cs typeface="Arial"/>
                        </a:rPr>
                        <a:t>Test of transfer</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A488D079-17B2-4031-8073-CBCE4A90E31A}"/>
              </a:ext>
            </a:extLst>
          </p:cNvPr>
          <p:cNvSpPr>
            <a:spLocks xmlns:a="http://schemas.openxmlformats.org/drawingml/2006/main" noGrp="1"/>
          </p:cNvSpPr>
          <p:nvPr/>
        </p:nvSpPr>
        <p:spPr>
          <a:xfrm xmlns:a="http://schemas.openxmlformats.org/drawingml/2006/main">
            <a:off x="628650" y="5581650"/>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B78"/>
                </a:solidFill>
                <a:latin typeface="Arial"/>
                <a:ea typeface="Arial"/>
                <a:cs typeface="Arial"/>
              </a:defRPr>
            </a:defPPr>
          </a:lstStyle>
          <a:p xmlns:a="http://schemas.openxmlformats.org/drawingml/2006/main">
            <a:pPr algn="l">
              <a:defRPr sz="1575" b="0">
                <a:solidFill>
                  <a:srgbClr val="586B78"/>
                </a:solidFill>
                <a:latin typeface="Arial"/>
                <a:ea typeface="Arial"/>
                <a:cs typeface="Arial"/>
              </a:defRPr>
            </a:pPr>
            <a:r>
              <a:rPr sz="1575" b="0">
                <a:solidFill>
                  <a:srgbClr val="586B78"/>
                </a:solidFill>
                <a:latin typeface="Arial"/>
                <a:ea typeface="Arial"/>
                <a:cs typeface="Arial"/>
              </a:rPr>
              <a:t>Corpus references: Baese-Berk et al. (2021), Wagner et al. (2025), Steen et al. (2026)</a:t>
            </a:r>
          </a:p>
        </p:txBody>
      </p:sp>
    </p:spTree>
    <p:extLst>
      <p:ext uri="{BB962C8B-B14F-4D97-AF65-F5344CB8AC3E}">
        <p14:creationId xmlns:p14="http://schemas.microsoft.com/office/powerpoint/2010/main" val="360859679"/>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DD2F2C2-0CCD-4498-8270-90EA3722FDF2}"/>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Participant-independent cohorts</a:t>
            </a:r>
          </a:p>
        </p:txBody>
      </p:sp>
      <p:sp>
        <p:nvSpPr>
          <p:cNvPr id="2" name="text-1">
            <a:extLst xmlns:a="http://schemas.openxmlformats.org/drawingml/2006/main">
              <a:ext uri="{FF2B5EF4-FFF2-40B4-BE49-F238E27FC236}">
                <a16:creationId xmlns:a16="http://schemas.microsoft.com/office/drawing/2014/main" id="{8881EE35-B23D-4C8C-9556-F94FD0349CDD}"/>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All sections and training crops from a child keep that child’s role</a:t>
            </a:r>
          </a:p>
        </p:txBody>
      </p:sp>
      <p:sp>
        <p:nvSpPr>
          <p:cNvPr id="3" name="text-2">
            <a:extLst xmlns:a="http://schemas.openxmlformats.org/drawingml/2006/main">
              <a:ext uri="{FF2B5EF4-FFF2-40B4-BE49-F238E27FC236}">
                <a16:creationId xmlns:a16="http://schemas.microsoft.com/office/drawing/2014/main" id="{2EE8ECF1-9062-41D2-98C8-2210C8F3FA5B}"/>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AB852A13-C6F3-4F4F-A6DF-98751F139880}"/>
              </a:ext>
            </a:extLst>
          </p:cNvPr>
          <p:cNvGraphicFramePr/>
          <p:nvPr/>
        </p:nvGraphicFramePr>
        <p:xfrm>
          <a:off xmlns:a="http://schemas.openxmlformats.org/drawingml/2006/main" x="609600" y="1809750"/>
          <a:ext xmlns:a="http://schemas.openxmlformats.org/drawingml/2006/main" cx="10972800" cy="2667000"/>
        </p:xfrm>
        <a:graphic xmlns:a="http://schemas.openxmlformats.org/drawingml/2006/main">
          <a:graphicData uri="http://schemas.openxmlformats.org/drawingml/2006/table">
            <a:tbl>
              <a:tblPr firstRow="1" bandRow="0"/>
              <a:tblGrid>
                <a:gridCol w="2762250"/>
                <a:gridCol w="2705100"/>
                <a:gridCol w="2705100"/>
                <a:gridCol w="2800350"/>
              </a:tblGrid>
              <a:tr h="666750">
                <a:tc>
                  <a:txBody>
                    <a:bodyPr lIns="114300" tIns="114300" rIns="114300" bIns="114300"/>
                    <a:lstStyle/>
                    <a:p>
                      <a:pPr algn="l"/>
                      <a:r>
                        <a:rPr sz="1875" b="1">
                          <a:solidFill>
                            <a:srgbClr val="FFFFFF"/>
                          </a:solidFill>
                          <a:latin typeface="Arial"/>
                          <a:ea typeface="Arial"/>
                          <a:cs typeface="Arial"/>
                        </a:rPr>
                        <a:t>Usable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Train</a:t>
                      </a:r>
                    </a:p>
                    <a:p>
                      <a:pPr algn="l"/>
                      <a:r>
                        <a:rPr sz="1875"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Eval</a:t>
                      </a:r>
                    </a:p>
                    <a:p>
                      <a:pPr algn="l"/>
                      <a:r>
                        <a:rPr sz="1875"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Test</a:t>
                      </a:r>
                    </a:p>
                    <a:p>
                      <a:pPr algn="l"/>
                      <a:r>
                        <a:rPr sz="1875"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666750">
                <a:tc>
                  <a:txBody>
                    <a:bodyPr lIns="114300" tIns="114300" rIns="114300" bIns="114300"/>
                    <a:lstStyle/>
                    <a:p>
                      <a:pPr algn="l"/>
                      <a:r>
                        <a:rPr sz="1950" b="0">
                          <a:solidFill>
                            <a:srgbClr val="182E40"/>
                          </a:solidFill>
                          <a:latin typeface="Arial"/>
                          <a:ea typeface="Arial"/>
                          <a:cs typeface="Arial"/>
                        </a:rPr>
                        <a:t>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211 / 567</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45 / 125</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45 / 111</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66750">
                <a:tc>
                  <a:txBody>
                    <a:bodyPr lIns="114300" tIns="114300" rIns="114300" bIns="114300"/>
                    <a:lstStyle/>
                    <a:p>
                      <a:pPr algn="l"/>
                      <a:r>
                        <a:rPr sz="1950" b="0">
                          <a:solidFill>
                            <a:srgbClr val="182E40"/>
                          </a:solidFill>
                          <a:latin typeface="Arial"/>
                          <a:ea typeface="Arial"/>
                          <a:cs typeface="Arial"/>
                        </a:rPr>
                        <a:t>NYU–Emerson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20 / 63</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4 / 14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4 / 15</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666750">
                <a:tc>
                  <a:txBody>
                    <a:bodyPr lIns="114300" tIns="114300" rIns="114300" bIns="114300"/>
                    <a:lstStyle/>
                    <a:p>
                      <a:pPr algn="l"/>
                      <a:r>
                        <a:rPr sz="1950" b="0">
                          <a:solidFill>
                            <a:srgbClr val="182E40"/>
                          </a:solidFill>
                          <a:latin typeface="Arial"/>
                          <a:ea typeface="Arial"/>
                          <a:cs typeface="Arial"/>
                        </a:rPr>
                        <a:t>Total</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231 / 630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49 / 139</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49 / 126</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76A2CDD5-C4F7-4AF8-A24D-CFDFB670F5FB}"/>
              </a:ext>
            </a:extLst>
          </p:cNvPr>
          <p:cNvSpPr>
            <a:spLocks xmlns:a="http://schemas.openxmlformats.org/drawingml/2006/main" noGrp="1"/>
          </p:cNvSpPr>
          <p:nvPr/>
        </p:nvSpPr>
        <p:spPr>
          <a:xfrm xmlns:a="http://schemas.openxmlformats.org/drawingml/2006/main">
            <a:off x="628650" y="48863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Zero participant, recording or exact full-section overlap across roles</a:t>
            </a:r>
          </a:p>
        </p:txBody>
      </p:sp>
      <p:sp>
        <p:nvSpPr>
          <p:cNvPr id="6" name="text-4">
            <a:extLst xmlns:a="http://schemas.openxmlformats.org/drawingml/2006/main">
              <a:ext uri="{FF2B5EF4-FFF2-40B4-BE49-F238E27FC236}">
                <a16:creationId xmlns:a16="http://schemas.microsoft.com/office/drawing/2014/main" id="{148A53B7-25F9-45B7-8FFC-F02759CE6132}"/>
              </a:ext>
            </a:extLst>
          </p:cNvPr>
          <p:cNvSpPr>
            <a:spLocks xmlns:a="http://schemas.openxmlformats.org/drawingml/2006/main" noGrp="1"/>
          </p:cNvSpPr>
          <p:nvPr/>
        </p:nvSpPr>
        <p:spPr>
          <a:xfrm xmlns:a="http://schemas.openxmlformats.org/drawingml/2006/main">
            <a:off x="628650" y="55340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LUCID stays outside boundary-model training. Four source files lack eligible discourse samples.</a:t>
            </a:r>
          </a:p>
        </p:txBody>
      </p:sp>
    </p:spTree>
    <p:extLst>
      <p:ext uri="{BB962C8B-B14F-4D97-AF65-F5344CB8AC3E}">
        <p14:creationId xmlns:p14="http://schemas.microsoft.com/office/powerpoint/2010/main" val="1322097494"/>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378B53D4-EFBC-47DD-9114-DD1456C1D675}"/>
              </a:ext>
            </a:extLst>
          </p:cNvPr>
          <p:cNvCxnSpPr>
            <a:stCxn xmlns:a="http://schemas.openxmlformats.org/drawingml/2006/main" id="11" idx="1"/>
            <a:endCxn xmlns:a="http://schemas.openxmlformats.org/drawingml/2006/main" id="13" idx="3"/>
          </p:cNvCxnSpPr>
          <p:nvPr/>
        </p:nvCxnSpPr>
        <p:spPr>
          <a:xfrm xmlns:a="http://schemas.openxmlformats.org/drawingml/2006/main" flipH="1">
            <a:off x="2914650" y="422433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2" name="">
            <a:extLst xmlns:a="http://schemas.openxmlformats.org/drawingml/2006/main">
              <a:ext uri="{FF2B5EF4-FFF2-40B4-BE49-F238E27FC236}">
                <a16:creationId xmlns:a16="http://schemas.microsoft.com/office/drawing/2014/main" id="{87F963C0-1443-4C8F-84DB-10108ED73EF3}"/>
              </a:ext>
            </a:extLst>
          </p:cNvPr>
          <p:cNvCxnSpPr>
            <a:stCxn xmlns:a="http://schemas.openxmlformats.org/drawingml/2006/main" id="9" idx="1"/>
            <a:endCxn xmlns:a="http://schemas.openxmlformats.org/drawingml/2006/main" id="11" idx="3"/>
          </p:cNvCxnSpPr>
          <p:nvPr/>
        </p:nvCxnSpPr>
        <p:spPr>
          <a:xfrm xmlns:a="http://schemas.openxmlformats.org/drawingml/2006/main" flipH="1">
            <a:off x="6457950" y="422433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0" name="">
            <a:extLst xmlns:a="http://schemas.openxmlformats.org/drawingml/2006/main">
              <a:ext uri="{FF2B5EF4-FFF2-40B4-BE49-F238E27FC236}">
                <a16:creationId xmlns:a16="http://schemas.microsoft.com/office/drawing/2014/main" id="{FDF391C5-7C38-4984-AD71-542FA112D2D7}"/>
              </a:ext>
            </a:extLst>
          </p:cNvPr>
          <p:cNvCxnSpPr>
            <a:stCxn xmlns:a="http://schemas.openxmlformats.org/drawingml/2006/main" id="6" idx="2"/>
            <a:endCxn xmlns:a="http://schemas.openxmlformats.org/drawingml/2006/main" id="9" idx="0"/>
          </p:cNvCxnSpPr>
          <p:nvPr/>
        </p:nvCxnSpPr>
        <p:spPr>
          <a:xfrm xmlns:a="http://schemas.openxmlformats.org/drawingml/2006/main">
            <a:off x="8477250" y="2914650"/>
            <a:ext cx="0" cy="809625"/>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8" name="">
            <a:extLst xmlns:a="http://schemas.openxmlformats.org/drawingml/2006/main">
              <a:ext uri="{FF2B5EF4-FFF2-40B4-BE49-F238E27FC236}">
                <a16:creationId xmlns:a16="http://schemas.microsoft.com/office/drawing/2014/main" id="{870235B3-1417-4D1C-B28F-05A527F41B4C}"/>
              </a:ext>
            </a:extLst>
          </p:cNvPr>
          <p:cNvCxnSpPr>
            <a:stCxn xmlns:a="http://schemas.openxmlformats.org/drawingml/2006/main" id="5" idx="3"/>
            <a:endCxn xmlns:a="http://schemas.openxmlformats.org/drawingml/2006/main" id="6" idx="1"/>
          </p:cNvCxnSpPr>
          <p:nvPr/>
        </p:nvCxnSpPr>
        <p:spPr>
          <a:xfrm xmlns:a="http://schemas.openxmlformats.org/drawingml/2006/main">
            <a:off x="6457950" y="241458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7" name="">
            <a:extLst xmlns:a="http://schemas.openxmlformats.org/drawingml/2006/main">
              <a:ext uri="{FF2B5EF4-FFF2-40B4-BE49-F238E27FC236}">
                <a16:creationId xmlns:a16="http://schemas.microsoft.com/office/drawing/2014/main" id="{C3BFD739-1360-40FC-957A-D2B61999293D}"/>
              </a:ext>
            </a:extLst>
          </p:cNvPr>
          <p:cNvCxnSpPr>
            <a:stCxn xmlns:a="http://schemas.openxmlformats.org/drawingml/2006/main" id="4" idx="3"/>
            <a:endCxn xmlns:a="http://schemas.openxmlformats.org/drawingml/2006/main" id="5" idx="1"/>
          </p:cNvCxnSpPr>
          <p:nvPr/>
        </p:nvCxnSpPr>
        <p:spPr>
          <a:xfrm xmlns:a="http://schemas.openxmlformats.org/drawingml/2006/main">
            <a:off x="2914650" y="2414588"/>
            <a:ext cx="590550" cy="0"/>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17" name="text-0">
            <a:extLst xmlns:a="http://schemas.openxmlformats.org/drawingml/2006/main">
              <a:ext uri="{FF2B5EF4-FFF2-40B4-BE49-F238E27FC236}">
                <a16:creationId xmlns:a16="http://schemas.microsoft.com/office/drawing/2014/main" id="{E7769AEF-62A6-4ED7-B927-66F58FE47547}"/>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Current transcript pipeline</a:t>
            </a:r>
          </a:p>
        </p:txBody>
      </p:sp>
      <p:sp>
        <p:nvSpPr>
          <p:cNvPr id="2" name="text-1">
            <a:extLst xmlns:a="http://schemas.openxmlformats.org/drawingml/2006/main">
              <a:ext uri="{FF2B5EF4-FFF2-40B4-BE49-F238E27FC236}">
                <a16:creationId xmlns:a16="http://schemas.microsoft.com/office/drawing/2014/main" id="{B34AABBB-C1A1-49C1-B8E6-45816D083C8D}"/>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Observed speaker changes supply context. The model predicts utterance boundaries</a:t>
            </a:r>
          </a:p>
        </p:txBody>
      </p:sp>
      <p:sp>
        <p:nvSpPr>
          <p:cNvPr id="3" name="text-2">
            <a:extLst xmlns:a="http://schemas.openxmlformats.org/drawingml/2006/main">
              <a:ext uri="{FF2B5EF4-FFF2-40B4-BE49-F238E27FC236}">
                <a16:creationId xmlns:a16="http://schemas.microsoft.com/office/drawing/2014/main" id="{DA665716-4307-4C48-93DA-D8ABC0DDE683}"/>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05</a:t>
            </a:r>
          </a:p>
        </p:txBody>
      </p:sp>
      <p:sp>
        <p:nvSpPr>
          <p:cNvPr id="4" name="diagram-3">
            <a:extLst xmlns:a="http://schemas.openxmlformats.org/drawingml/2006/main">
              <a:ext uri="{FF2B5EF4-FFF2-40B4-BE49-F238E27FC236}">
                <a16:creationId xmlns:a16="http://schemas.microsoft.com/office/drawing/2014/main" id="{73E89C21-BFAB-4FF4-97D7-2501E64D3259}"/>
              </a:ext>
            </a:extLst>
          </p:cNvPr>
          <p:cNvSpPr>
            <a:spLocks xmlns:a="http://schemas.openxmlformats.org/drawingml/2006/main" noGrp="1"/>
          </p:cNvSpPr>
          <p:nvPr/>
        </p:nvSpPr>
        <p:spPr>
          <a:xfrm xmlns:a="http://schemas.openxmlformats.org/drawingml/2006/main">
            <a:off x="628650" y="1914525"/>
            <a:ext cx="22860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Target-speaker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transcript</a:t>
            </a:r>
          </a:p>
        </p:txBody>
      </p:sp>
      <p:sp>
        <p:nvSpPr>
          <p:cNvPr id="5" name="diagram-4">
            <a:extLst xmlns:a="http://schemas.openxmlformats.org/drawingml/2006/main">
              <a:ext uri="{FF2B5EF4-FFF2-40B4-BE49-F238E27FC236}">
                <a16:creationId xmlns:a16="http://schemas.microsoft.com/office/drawing/2014/main" id="{9CD56188-730F-4B42-9B86-89C907722964}"/>
              </a:ext>
            </a:extLst>
          </p:cNvPr>
          <p:cNvSpPr>
            <a:spLocks xmlns:a="http://schemas.openxmlformats.org/drawingml/2006/main" noGrp="1"/>
          </p:cNvSpPr>
          <p:nvPr/>
        </p:nvSpPr>
        <p:spPr>
          <a:xfrm xmlns:a="http://schemas.openxmlformats.org/drawingml/2006/main">
            <a:off x="3505200" y="1914525"/>
            <a:ext cx="295275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Observed turns</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and word preparation</a:t>
            </a:r>
          </a:p>
        </p:txBody>
      </p:sp>
      <p:sp>
        <p:nvSpPr>
          <p:cNvPr id="6" name="diagram-5">
            <a:extLst xmlns:a="http://schemas.openxmlformats.org/drawingml/2006/main">
              <a:ext uri="{FF2B5EF4-FFF2-40B4-BE49-F238E27FC236}">
                <a16:creationId xmlns:a16="http://schemas.microsoft.com/office/drawing/2014/main" id="{F7BDECDD-09E7-4B57-BBFE-84C8066F3852}"/>
              </a:ext>
            </a:extLst>
          </p:cNvPr>
          <p:cNvSpPr>
            <a:spLocks xmlns:a="http://schemas.openxmlformats.org/drawingml/2006/main" noGrp="1"/>
          </p:cNvSpPr>
          <p:nvPr/>
        </p:nvSpPr>
        <p:spPr>
          <a:xfrm xmlns:a="http://schemas.openxmlformats.org/drawingml/2006/main">
            <a:off x="7048500" y="1914525"/>
            <a:ext cx="28575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Fixed spaCy</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grammatical cues</a:t>
            </a:r>
          </a:p>
        </p:txBody>
      </p:sp>
      <p:sp>
        <p:nvSpPr>
          <p:cNvPr id="9" name="diagram-8">
            <a:extLst xmlns:a="http://schemas.openxmlformats.org/drawingml/2006/main">
              <a:ext uri="{FF2B5EF4-FFF2-40B4-BE49-F238E27FC236}">
                <a16:creationId xmlns:a16="http://schemas.microsoft.com/office/drawing/2014/main" id="{57B78841-2C43-4CDA-A192-8963FC2C8719}"/>
              </a:ext>
            </a:extLst>
          </p:cNvPr>
          <p:cNvSpPr>
            <a:spLocks xmlns:a="http://schemas.openxmlformats.org/drawingml/2006/main" noGrp="1"/>
          </p:cNvSpPr>
          <p:nvPr/>
        </p:nvSpPr>
        <p:spPr>
          <a:xfrm xmlns:a="http://schemas.openxmlformats.org/drawingml/2006/main">
            <a:off x="7048500" y="3724275"/>
            <a:ext cx="28575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Custom MiniLM</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boundary model</a:t>
            </a:r>
          </a:p>
        </p:txBody>
      </p:sp>
      <p:sp>
        <p:nvSpPr>
          <p:cNvPr id="11" name="diagram-10">
            <a:extLst xmlns:a="http://schemas.openxmlformats.org/drawingml/2006/main">
              <a:ext uri="{FF2B5EF4-FFF2-40B4-BE49-F238E27FC236}">
                <a16:creationId xmlns:a16="http://schemas.microsoft.com/office/drawing/2014/main" id="{7D3B6BD8-0446-416D-A925-706DEDFF25A8}"/>
              </a:ext>
            </a:extLst>
          </p:cNvPr>
          <p:cNvSpPr>
            <a:spLocks xmlns:a="http://schemas.openxmlformats.org/drawingml/2006/main" noGrp="1"/>
          </p:cNvSpPr>
          <p:nvPr/>
        </p:nvSpPr>
        <p:spPr>
          <a:xfrm xmlns:a="http://schemas.openxmlformats.org/drawingml/2006/main">
            <a:off x="3505200" y="3724275"/>
            <a:ext cx="295275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Predicted utterances</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margin 0.25</a:t>
            </a:r>
          </a:p>
        </p:txBody>
      </p:sp>
      <p:sp>
        <p:nvSpPr>
          <p:cNvPr id="13" name="diagram-12">
            <a:extLst xmlns:a="http://schemas.openxmlformats.org/drawingml/2006/main">
              <a:ext uri="{FF2B5EF4-FFF2-40B4-BE49-F238E27FC236}">
                <a16:creationId xmlns:a16="http://schemas.microsoft.com/office/drawing/2014/main" id="{8206E606-E00F-4856-9104-EFAD6F2E7082}"/>
              </a:ext>
            </a:extLst>
          </p:cNvPr>
          <p:cNvSpPr>
            <a:spLocks xmlns:a="http://schemas.openxmlformats.org/drawingml/2006/main" noGrp="1"/>
          </p:cNvSpPr>
          <p:nvPr/>
        </p:nvSpPr>
        <p:spPr>
          <a:xfrm xmlns:a="http://schemas.openxmlformats.org/drawingml/2006/main">
            <a:off x="628650" y="3724275"/>
            <a:ext cx="2286000" cy="1000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725" b="0">
                <a:solidFill>
                  <a:srgbClr val="182E40"/>
                </a:solidFill>
                <a:latin typeface="Arial"/>
                <a:ea typeface="Arial"/>
                <a:cs typeface="Arial"/>
              </a:defRPr>
            </a:defPPr>
          </a:lstStyle>
          <a:p xmlns:a="http://schemas.openxmlformats.org/drawingml/2006/main">
            <a:pPr algn="ctr">
              <a:defRPr sz="1725" b="0">
                <a:solidFill>
                  <a:srgbClr val="182E40"/>
                </a:solidFill>
                <a:latin typeface="Arial"/>
                <a:ea typeface="Arial"/>
                <a:cs typeface="Arial"/>
              </a:defRPr>
            </a:pPr>
            <a:r>
              <a:rPr sz="1725" b="0">
                <a:solidFill>
                  <a:srgbClr val="182E40"/>
                </a:solidFill>
                <a:latin typeface="Arial"/>
                <a:ea typeface="Arial"/>
                <a:cs typeface="Arial"/>
              </a:rPr>
              <a:t>Faithful CHAT</a:t>
            </a:r>
          </a:p>
          <a:p xmlns:a="http://schemas.openxmlformats.org/drawingml/2006/main">
            <a:pPr algn="ctr">
              <a:defRPr sz="1725" b="0">
                <a:solidFill>
                  <a:srgbClr val="182E40"/>
                </a:solidFill>
                <a:latin typeface="Arial"/>
                <a:ea typeface="Arial"/>
                <a:cs typeface="Arial"/>
              </a:defRPr>
            </a:pPr>
            <a:r>
              <a:rPr sz="1725" b="0">
                <a:solidFill>
                  <a:srgbClr val="182E40"/>
                </a:solidFill>
                <a:latin typeface="Arial"/>
                <a:ea typeface="Arial"/>
                <a:cs typeface="Arial"/>
              </a:rPr>
              <a:t>Native CLAN MLU / FREQ</a:t>
            </a:r>
          </a:p>
        </p:txBody>
      </p:sp>
      <p:sp>
        <p:nvSpPr>
          <p:cNvPr id="15" name="text-14">
            <a:extLst xmlns:a="http://schemas.openxmlformats.org/drawingml/2006/main">
              <a:ext uri="{FF2B5EF4-FFF2-40B4-BE49-F238E27FC236}">
                <a16:creationId xmlns:a16="http://schemas.microsoft.com/office/drawing/2014/main" id="{09164583-A3A2-4D1D-9119-1D35E656E4F2}"/>
              </a:ext>
            </a:extLst>
          </p:cNvPr>
          <p:cNvSpPr>
            <a:spLocks xmlns:a="http://schemas.openxmlformats.org/drawingml/2006/main" noGrp="1"/>
          </p:cNvSpPr>
          <p:nvPr/>
        </p:nvSpPr>
        <p:spPr>
          <a:xfrm xmlns:a="http://schemas.openxmlformats.org/drawingml/2006/main">
            <a:off x="628650" y="52863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Lexical branch</a:t>
            </a:r>
          </a:p>
        </p:txBody>
      </p:sp>
      <p:sp>
        <p:nvSpPr>
          <p:cNvPr id="16" name="text-15">
            <a:extLst xmlns:a="http://schemas.openxmlformats.org/drawingml/2006/main">
              <a:ext uri="{FF2B5EF4-FFF2-40B4-BE49-F238E27FC236}">
                <a16:creationId xmlns:a16="http://schemas.microsoft.com/office/drawing/2014/main" id="{3ED53717-5F9A-47FF-9A10-615D64684183}"/>
              </a:ext>
            </a:extLst>
          </p:cNvPr>
          <p:cNvSpPr>
            <a:spLocks xmlns:a="http://schemas.openxmlformats.org/drawingml/2006/main" noGrp="1"/>
          </p:cNvSpPr>
          <p:nvPr/>
        </p:nvSpPr>
        <p:spPr>
          <a:xfrm xmlns:a="http://schemas.openxmlformats.org/drawingml/2006/main">
            <a:off x="3505200" y="5286375"/>
            <a:ext cx="7810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rPr>
              <a:t>The same retained words feed historical TAALED compatibility rules</a:t>
            </a:r>
          </a:p>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rPr>
              <a:t>for lexical counts, density and diversity.</a:t>
            </a:r>
          </a:p>
        </p:txBody>
      </p:sp>
    </p:spTree>
    <p:extLst>
      <p:ext uri="{BB962C8B-B14F-4D97-AF65-F5344CB8AC3E}">
        <p14:creationId xmlns:p14="http://schemas.microsoft.com/office/powerpoint/2010/main" val="1206659640"/>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8253938-A5D2-47BB-A484-A2C45F7635CF}"/>
              </a:ext>
            </a:extLst>
          </p:cNvPr>
          <p:cNvCxnSpPr>
            <a:stCxn xmlns:a="http://schemas.openxmlformats.org/drawingml/2006/main" id="6" idx="3"/>
            <a:endCxn xmlns:a="http://schemas.openxmlformats.org/drawingml/2006/main" id="7" idx="1"/>
          </p:cNvCxnSpPr>
          <p:nvPr/>
        </p:nvCxnSpPr>
        <p:spPr>
          <a:xfrm xmlns:a="http://schemas.openxmlformats.org/drawingml/2006/main">
            <a:off x="8058150" y="3395663"/>
            <a:ext cx="790575"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9" name="">
            <a:extLst xmlns:a="http://schemas.openxmlformats.org/drawingml/2006/main">
              <a:ext uri="{FF2B5EF4-FFF2-40B4-BE49-F238E27FC236}">
                <a16:creationId xmlns:a16="http://schemas.microsoft.com/office/drawing/2014/main" id="{BF831AA4-DE7C-46E2-B342-E73ECA8AEDA1}"/>
              </a:ext>
            </a:extLst>
          </p:cNvPr>
          <p:cNvCxnSpPr>
            <a:stCxn xmlns:a="http://schemas.openxmlformats.org/drawingml/2006/main" id="5" idx="3"/>
            <a:endCxn xmlns:a="http://schemas.openxmlformats.org/drawingml/2006/main" id="6" idx="1"/>
          </p:cNvCxnSpPr>
          <p:nvPr/>
        </p:nvCxnSpPr>
        <p:spPr>
          <a:xfrm xmlns:a="http://schemas.openxmlformats.org/drawingml/2006/main" flipV="1">
            <a:off x="4057650" y="3395663"/>
            <a:ext cx="790575" cy="857250"/>
          </a:xfrm>
          <a:prstGeom xmlns:a="http://schemas.openxmlformats.org/drawingml/2006/main" prst="bentConnector3">
            <a:avLst>
              <a:gd name="adj1" fmla="val 50000"/>
            </a:avLst>
          </a:prstGeom>
          <a:ln xmlns:a="http://schemas.openxmlformats.org/drawingml/2006/main" w="19050">
            <a:solidFill>
              <a:srgbClr val="007F78"/>
            </a:solidFill>
            <a:tailEnd type="triangle" w="med" len="med"/>
          </a:ln>
        </p:spPr>
      </p:cxnSp>
      <p:cxnSp>
        <p:nvCxnSpPr>
          <p:cNvPr id="8" name="">
            <a:extLst xmlns:a="http://schemas.openxmlformats.org/drawingml/2006/main">
              <a:ext uri="{FF2B5EF4-FFF2-40B4-BE49-F238E27FC236}">
                <a16:creationId xmlns:a16="http://schemas.microsoft.com/office/drawing/2014/main" id="{866E92D5-6AF7-45D4-8406-CE31904C3F00}"/>
              </a:ext>
            </a:extLst>
          </p:cNvPr>
          <p:cNvCxnSpPr>
            <a:stCxn xmlns:a="http://schemas.openxmlformats.org/drawingml/2006/main" id="4" idx="3"/>
            <a:endCxn xmlns:a="http://schemas.openxmlformats.org/drawingml/2006/main" id="6" idx="1"/>
          </p:cNvCxnSpPr>
          <p:nvPr/>
        </p:nvCxnSpPr>
        <p:spPr>
          <a:xfrm xmlns:a="http://schemas.openxmlformats.org/drawingml/2006/main">
            <a:off x="4057650" y="2509838"/>
            <a:ext cx="790575" cy="885825"/>
          </a:xfrm>
          <a:prstGeom xmlns:a="http://schemas.openxmlformats.org/drawingml/2006/main" prst="bentConnector3">
            <a:avLst>
              <a:gd name="adj1" fmla="val 50000"/>
            </a:avLst>
          </a:prstGeom>
          <a:ln xmlns:a="http://schemas.openxmlformats.org/drawingml/2006/main" w="19050">
            <a:solidFill>
              <a:srgbClr val="007F78"/>
            </a:solidFill>
            <a:tailEnd type="triangle" w="med" len="med"/>
          </a:ln>
        </p:spPr>
      </p:cxnSp>
      <p:sp>
        <p:nvSpPr>
          <p:cNvPr id="13" name="text-0">
            <a:extLst xmlns:a="http://schemas.openxmlformats.org/drawingml/2006/main">
              <a:ext uri="{FF2B5EF4-FFF2-40B4-BE49-F238E27FC236}">
                <a16:creationId xmlns:a16="http://schemas.microsoft.com/office/drawing/2014/main" id="{3D4D0446-4960-4DEB-8FC3-C01F3793490D}"/>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Our custom boundary model</a:t>
            </a:r>
          </a:p>
        </p:txBody>
      </p:sp>
      <p:sp>
        <p:nvSpPr>
          <p:cNvPr id="2" name="text-1">
            <a:extLst xmlns:a="http://schemas.openxmlformats.org/drawingml/2006/main">
              <a:ext uri="{FF2B5EF4-FFF2-40B4-BE49-F238E27FC236}">
                <a16:creationId xmlns:a16="http://schemas.microsoft.com/office/drawing/2014/main" id="{F99939D6-2E66-4BD7-8D08-DAB93E581ACC}"/>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Pretrained language representations support a learned split-or-continue decision</a:t>
            </a:r>
          </a:p>
        </p:txBody>
      </p:sp>
      <p:sp>
        <p:nvSpPr>
          <p:cNvPr id="3" name="text-2">
            <a:extLst xmlns:a="http://schemas.openxmlformats.org/drawingml/2006/main">
              <a:ext uri="{FF2B5EF4-FFF2-40B4-BE49-F238E27FC236}">
                <a16:creationId xmlns:a16="http://schemas.microsoft.com/office/drawing/2014/main" id="{78B06B6E-2000-4BB2-9173-4D34FD7031A9}"/>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06</a:t>
            </a:r>
          </a:p>
        </p:txBody>
      </p:sp>
      <p:sp>
        <p:nvSpPr>
          <p:cNvPr id="4" name="diagram-3">
            <a:extLst xmlns:a="http://schemas.openxmlformats.org/drawingml/2006/main">
              <a:ext uri="{FF2B5EF4-FFF2-40B4-BE49-F238E27FC236}">
                <a16:creationId xmlns:a16="http://schemas.microsoft.com/office/drawing/2014/main" id="{48626BBC-D0DE-4AC2-8C78-0AD62B6ACC2D}"/>
              </a:ext>
            </a:extLst>
          </p:cNvPr>
          <p:cNvSpPr>
            <a:spLocks xmlns:a="http://schemas.openxmlformats.org/drawingml/2006/main" noGrp="1"/>
          </p:cNvSpPr>
          <p:nvPr/>
        </p:nvSpPr>
        <p:spPr>
          <a:xfrm xmlns:a="http://schemas.openxmlformats.org/drawingml/2006/main">
            <a:off x="628650" y="1962150"/>
            <a:ext cx="3429000" cy="109537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MiniLM-L12-H384 encoder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Left and right word context</a:t>
            </a:r>
          </a:p>
        </p:txBody>
      </p:sp>
      <p:sp>
        <p:nvSpPr>
          <p:cNvPr id="5" name="diagram-4">
            <a:extLst xmlns:a="http://schemas.openxmlformats.org/drawingml/2006/main">
              <a:ext uri="{FF2B5EF4-FFF2-40B4-BE49-F238E27FC236}">
                <a16:creationId xmlns:a16="http://schemas.microsoft.com/office/drawing/2014/main" id="{3EE7817D-A464-432E-9B19-3E901ED19F29}"/>
              </a:ext>
            </a:extLst>
          </p:cNvPr>
          <p:cNvSpPr>
            <a:spLocks xmlns:a="http://schemas.openxmlformats.org/drawingml/2006/main" noGrp="1"/>
          </p:cNvSpPr>
          <p:nvPr/>
        </p:nvSpPr>
        <p:spPr>
          <a:xfrm xmlns:a="http://schemas.openxmlformats.org/drawingml/2006/main">
            <a:off x="628650" y="3705225"/>
            <a:ext cx="3429000" cy="109537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Custom rule embedding</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16 dimensions</a:t>
            </a:r>
          </a:p>
        </p:txBody>
      </p:sp>
      <p:sp>
        <p:nvSpPr>
          <p:cNvPr id="6" name="diagram-5">
            <a:extLst xmlns:a="http://schemas.openxmlformats.org/drawingml/2006/main">
              <a:ext uri="{FF2B5EF4-FFF2-40B4-BE49-F238E27FC236}">
                <a16:creationId xmlns:a16="http://schemas.microsoft.com/office/drawing/2014/main" id="{95F4E29E-D3E4-4EED-BDF0-4F0A47E4D661}"/>
              </a:ext>
            </a:extLst>
          </p:cNvPr>
          <p:cNvSpPr>
            <a:spLocks xmlns:a="http://schemas.openxmlformats.org/drawingml/2006/main" noGrp="1"/>
          </p:cNvSpPr>
          <p:nvPr/>
        </p:nvSpPr>
        <p:spPr>
          <a:xfrm xmlns:a="http://schemas.openxmlformats.org/drawingml/2006/main">
            <a:off x="4848225" y="2705100"/>
            <a:ext cx="3209925" cy="1381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Custom classifier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128-unit GELU layer</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Dropout 0.15</a:t>
            </a:r>
          </a:p>
        </p:txBody>
      </p:sp>
      <p:sp>
        <p:nvSpPr>
          <p:cNvPr id="7" name="diagram-6">
            <a:extLst xmlns:a="http://schemas.openxmlformats.org/drawingml/2006/main">
              <a:ext uri="{FF2B5EF4-FFF2-40B4-BE49-F238E27FC236}">
                <a16:creationId xmlns:a16="http://schemas.microsoft.com/office/drawing/2014/main" id="{B94CCE06-0634-4E33-A5A5-649D7A2F4E6D}"/>
              </a:ext>
            </a:extLst>
          </p:cNvPr>
          <p:cNvSpPr>
            <a:spLocks xmlns:a="http://schemas.openxmlformats.org/drawingml/2006/main" noGrp="1"/>
          </p:cNvSpPr>
          <p:nvPr/>
        </p:nvSpPr>
        <p:spPr>
          <a:xfrm xmlns:a="http://schemas.openxmlformats.org/drawingml/2006/main">
            <a:off x="8848725" y="2705100"/>
            <a:ext cx="2714625" cy="1381125"/>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Continue</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or split</a:t>
            </a:r>
          </a:p>
        </p:txBody>
      </p:sp>
      <p:sp>
        <p:nvSpPr>
          <p:cNvPr id="11" name="text-10">
            <a:extLst xmlns:a="http://schemas.openxmlformats.org/drawingml/2006/main">
              <a:ext uri="{FF2B5EF4-FFF2-40B4-BE49-F238E27FC236}">
                <a16:creationId xmlns:a16="http://schemas.microsoft.com/office/drawing/2014/main" id="{7F1B0DE5-6376-4972-8381-CAD65E964C96}"/>
              </a:ext>
            </a:extLst>
          </p:cNvPr>
          <p:cNvSpPr>
            <a:spLocks xmlns:a="http://schemas.openxmlformats.org/drawingml/2006/main" noGrp="1"/>
          </p:cNvSpPr>
          <p:nvPr/>
        </p:nvSpPr>
        <p:spPr>
          <a:xfrm xmlns:a="http://schemas.openxmlformats.org/drawingml/2006/main">
            <a:off x="628650" y="53816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Task training updates the encoder, rule embedding and classifier together.</a:t>
            </a:r>
          </a:p>
        </p:txBody>
      </p:sp>
      <p:sp>
        <p:nvSpPr>
          <p:cNvPr id="12" name="text-11">
            <a:extLst xmlns:a="http://schemas.openxmlformats.org/drawingml/2006/main">
              <a:ext uri="{FF2B5EF4-FFF2-40B4-BE49-F238E27FC236}">
                <a16:creationId xmlns:a16="http://schemas.microsoft.com/office/drawing/2014/main" id="{91826D60-E100-47E1-B230-9CEF74DABB2E}"/>
              </a:ext>
            </a:extLst>
          </p:cNvPr>
          <p:cNvSpPr>
            <a:spLocks xmlns:a="http://schemas.openxmlformats.org/drawingml/2006/main" noGrp="1"/>
          </p:cNvSpPr>
          <p:nvPr/>
        </p:nvSpPr>
        <p:spPr>
          <a:xfrm xmlns:a="http://schemas.openxmlformats.org/drawingml/2006/main">
            <a:off x="628650" y="59055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Arial"/>
                <a:ea typeface="Arial"/>
                <a:cs typeface="Arial"/>
              </a:defRPr>
            </a:defPPr>
          </a:lstStyle>
          <a:p xmlns:a="http://schemas.openxmlformats.org/drawingml/2006/main">
            <a:pPr algn="l">
              <a:defRPr sz="1725" b="0">
                <a:solidFill>
                  <a:srgbClr val="586B78"/>
                </a:solidFill>
                <a:latin typeface="Arial"/>
                <a:ea typeface="Arial"/>
                <a:cs typeface="Arial"/>
              </a:defRPr>
            </a:pPr>
            <a:r>
              <a:rPr sz="1725" b="0">
                <a:solidFill>
                  <a:srgbClr val="586B78"/>
                </a:solidFill>
                <a:latin typeface="Arial"/>
                <a:ea typeface="Arial"/>
                <a:cs typeface="Arial"/>
              </a:rPr>
              <a:t>SpaCy preprocessing and official CLAN scoring remain fixed external components.</a:t>
            </a:r>
          </a:p>
        </p:txBody>
      </p:sp>
    </p:spTree>
    <p:extLst>
      <p:ext uri="{BB962C8B-B14F-4D97-AF65-F5344CB8AC3E}">
        <p14:creationId xmlns:p14="http://schemas.microsoft.com/office/powerpoint/2010/main" val="144366851"/>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8F3918F-4E74-4598-B913-88934C5001C2}"/>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References and error calculation</a:t>
            </a:r>
          </a:p>
        </p:txBody>
      </p:sp>
      <p:sp>
        <p:nvSpPr>
          <p:cNvPr id="2" name="text-1">
            <a:extLst xmlns:a="http://schemas.openxmlformats.org/drawingml/2006/main">
              <a:ext uri="{FF2B5EF4-FFF2-40B4-BE49-F238E27FC236}">
                <a16:creationId xmlns:a16="http://schemas.microsoft.com/office/drawing/2014/main" id="{F9FF4DF4-EC40-4484-9552-3462840144BB}"/>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Lexical agreement, native CHAT scoring and boundary accuracy have separate references</a:t>
            </a:r>
          </a:p>
        </p:txBody>
      </p:sp>
      <p:sp>
        <p:nvSpPr>
          <p:cNvPr id="3" name="text-2">
            <a:extLst xmlns:a="http://schemas.openxmlformats.org/drawingml/2006/main">
              <a:ext uri="{FF2B5EF4-FFF2-40B4-BE49-F238E27FC236}">
                <a16:creationId xmlns:a16="http://schemas.microsoft.com/office/drawing/2014/main" id="{B6BEB3EB-44EF-4A00-8932-ACB401289EE6}"/>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A7E77361-5C6D-4600-8B79-266FF74170C9}"/>
              </a:ext>
            </a:extLst>
          </p:cNvPr>
          <p:cNvGraphicFramePr/>
          <p:nvPr/>
        </p:nvGraphicFramePr>
        <p:xfrm>
          <a:off xmlns:a="http://schemas.openxmlformats.org/drawingml/2006/main" x="609600" y="1809750"/>
          <a:ext xmlns:a="http://schemas.openxmlformats.org/drawingml/2006/main" cx="10972800" cy="2962275"/>
        </p:xfrm>
        <a:graphic xmlns:a="http://schemas.openxmlformats.org/drawingml/2006/main">
          <a:graphicData uri="http://schemas.openxmlformats.org/drawingml/2006/table">
            <a:tbl>
              <a:tblPr firstRow="1" bandRow="0"/>
              <a:tblGrid>
                <a:gridCol w="2714625"/>
                <a:gridCol w="4038600"/>
                <a:gridCol w="4219575"/>
              </a:tblGrid>
              <a:tr h="740569">
                <a:tc>
                  <a:txBody>
                    <a:bodyPr lIns="114300" tIns="114300" rIns="114300" bIns="114300"/>
                    <a:lstStyle/>
                    <a:p>
                      <a:pPr algn="l"/>
                      <a:r>
                        <a:rPr sz="1800" b="1">
                          <a:solidFill>
                            <a:srgbClr val="FFFFFF"/>
                          </a:solidFill>
                          <a:latin typeface="Arial"/>
                          <a:ea typeface="Arial"/>
                          <a:cs typeface="Arial"/>
                        </a:rPr>
                        <a:t>Comparison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Reference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Reported evidence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740569">
                <a:tc>
                  <a:txBody>
                    <a:bodyPr lIns="114300" tIns="114300" rIns="114300" bIns="114300"/>
                    <a:lstStyle/>
                    <a:p>
                      <a:pPr algn="l"/>
                      <a:r>
                        <a:rPr sz="1875" b="0">
                          <a:solidFill>
                            <a:srgbClr val="182E40"/>
                          </a:solidFill>
                          <a:latin typeface="Arial"/>
                          <a:ea typeface="Arial"/>
                          <a:cs typeface="Arial"/>
                        </a:rPr>
                        <a:t>LUCID lexical results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Authors’ actual TAALED table</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Mean participant error</a:t>
                      </a:r>
                    </a:p>
                    <a:p>
                      <a:pPr algn="l"/>
                      <a:r>
                        <a:rPr sz="1875" b="0">
                          <a:solidFill>
                            <a:srgbClr val="182E40"/>
                          </a:solidFill>
                          <a:latin typeface="Arial"/>
                          <a:ea typeface="Arial"/>
                          <a:cs typeface="Arial"/>
                        </a:rPr>
                        <a:t>and coverage by condition</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740569">
                <a:tc>
                  <a:txBody>
                    <a:bodyPr lIns="114300" tIns="114300" rIns="114300" bIns="114300"/>
                    <a:lstStyle/>
                    <a:p>
                      <a:pPr algn="l"/>
                      <a:r>
                        <a:rPr sz="1875" b="0">
                          <a:solidFill>
                            <a:srgbClr val="182E40"/>
                          </a:solidFill>
                          <a:latin typeface="Arial"/>
                          <a:ea typeface="Arial"/>
                          <a:cs typeface="Arial"/>
                        </a:rPr>
                        <a:t>OCSC / NYU measures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Human CHAT scored by</a:t>
                      </a:r>
                    </a:p>
                    <a:p>
                      <a:pPr algn="l"/>
                      <a:r>
                        <a:rPr sz="1875" b="0">
                          <a:solidFill>
                            <a:srgbClr val="182E40"/>
                          </a:solidFill>
                          <a:latin typeface="Arial"/>
                          <a:ea typeface="Arial"/>
                          <a:cs typeface="Arial"/>
                        </a:rPr>
                        <a:t>the same native CLAN commands</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Eligible count, MLUw, length SD</a:t>
                      </a:r>
                    </a:p>
                    <a:p>
                      <a:pPr algn="l"/>
                      <a:r>
                        <a:rPr sz="1875" b="0">
                          <a:solidFill>
                            <a:srgbClr val="182E40"/>
                          </a:solidFill>
                          <a:latin typeface="Arial"/>
                          <a:ea typeface="Arial"/>
                          <a:cs typeface="Arial"/>
                        </a:rPr>
                        <a:t>and vocabulary errors</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740569">
                <a:tc>
                  <a:txBody>
                    <a:bodyPr lIns="114300" tIns="114300" rIns="114300" bIns="114300"/>
                    <a:lstStyle/>
                    <a:p>
                      <a:pPr algn="l"/>
                      <a:r>
                        <a:rPr sz="1875" b="0">
                          <a:solidFill>
                            <a:srgbClr val="182E40"/>
                          </a:solidFill>
                          <a:latin typeface="Arial"/>
                          <a:ea typeface="Arial"/>
                          <a:cs typeface="Arial"/>
                        </a:rPr>
                        <a:t>Utterance boundaries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Human utterance labels</a:t>
                      </a:r>
                    </a:p>
                    <a:p>
                      <a:pPr algn="l"/>
                      <a:r>
                        <a:rPr sz="1875" b="0">
                          <a:solidFill>
                            <a:srgbClr val="182E40"/>
                          </a:solidFill>
                          <a:latin typeface="Arial"/>
                          <a:ea typeface="Arial"/>
                          <a:cs typeface="Arial"/>
                        </a:rPr>
                        <a:t>withheld from model inputs</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Boundary F1 and exact spans</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634CD151-B536-4267-BDAD-953E003D5F1D}"/>
              </a:ext>
            </a:extLst>
          </p:cNvPr>
          <p:cNvSpPr>
            <a:spLocks xmlns:a="http://schemas.openxmlformats.org/drawingml/2006/main" noGrp="1"/>
          </p:cNvSpPr>
          <p:nvPr/>
        </p:nvSpPr>
        <p:spPr>
          <a:xfrm xmlns:a="http://schemas.openxmlformats.org/drawingml/2006/main">
            <a:off x="628650" y="51720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Absolute percentage error = 100 × |prediction − reference| / |reference|</a:t>
            </a:r>
          </a:p>
        </p:txBody>
      </p:sp>
      <p:sp>
        <p:nvSpPr>
          <p:cNvPr id="6" name="text-4">
            <a:extLst xmlns:a="http://schemas.openxmlformats.org/drawingml/2006/main">
              <a:ext uri="{FF2B5EF4-FFF2-40B4-BE49-F238E27FC236}">
                <a16:creationId xmlns:a16="http://schemas.microsoft.com/office/drawing/2014/main" id="{945C8742-CAED-4A5C-A2E3-A069D2C85393}"/>
              </a:ext>
            </a:extLst>
          </p:cNvPr>
          <p:cNvSpPr>
            <a:spLocks xmlns:a="http://schemas.openxmlformats.org/drawingml/2006/main" noGrp="1"/>
          </p:cNvSpPr>
          <p:nvPr/>
        </p:nvSpPr>
        <p:spPr>
          <a:xfrm xmlns:a="http://schemas.openxmlformats.org/drawingml/2006/main">
            <a:off x="628650" y="57531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Average sections within a participant, then give each participant equal weight.</a:t>
            </a:r>
          </a:p>
        </p:txBody>
      </p:sp>
      <p:sp>
        <p:nvSpPr>
          <p:cNvPr id="7" name="text-5">
            <a:extLst xmlns:a="http://schemas.openxmlformats.org/drawingml/2006/main">
              <a:ext uri="{FF2B5EF4-FFF2-40B4-BE49-F238E27FC236}">
                <a16:creationId xmlns:a16="http://schemas.microsoft.com/office/drawing/2014/main" id="{21A89DF2-BFB1-4A42-9AFE-3BAF540DAE88}"/>
              </a:ext>
            </a:extLst>
          </p:cNvPr>
          <p:cNvSpPr>
            <a:spLocks xmlns:a="http://schemas.openxmlformats.org/drawingml/2006/main" noGrp="1"/>
          </p:cNvSpPr>
          <p:nvPr/>
        </p:nvSpPr>
        <p:spPr>
          <a:xfrm xmlns:a="http://schemas.openxmlformats.org/drawingml/2006/main">
            <a:off x="628650" y="61817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B78"/>
                </a:solidFill>
                <a:latin typeface="Arial"/>
                <a:ea typeface="Arial"/>
                <a:cs typeface="Arial"/>
              </a:defRPr>
            </a:defPPr>
          </a:lstStyle>
          <a:p xmlns:a="http://schemas.openxmlformats.org/drawingml/2006/main">
            <a:pPr algn="l">
              <a:defRPr sz="1425" b="0">
                <a:solidFill>
                  <a:srgbClr val="586B78"/>
                </a:solidFill>
                <a:latin typeface="Arial"/>
                <a:ea typeface="Arial"/>
                <a:cs typeface="Arial"/>
              </a:defRPr>
            </a:pPr>
            <a:r>
              <a:rPr sz="1425" b="0">
                <a:solidFill>
                  <a:srgbClr val="586B78"/>
                </a:solidFill>
                <a:latin typeface="Arial"/>
                <a:ea typeface="Arial"/>
                <a:cs typeface="Arial"/>
              </a:rPr>
              <a:t>Project goals: 5% for most measures, 10% for length SD and original MTLD</a:t>
            </a:r>
          </a:p>
        </p:txBody>
      </p:sp>
    </p:spTree>
    <p:extLst>
      <p:ext uri="{BB962C8B-B14F-4D97-AF65-F5344CB8AC3E}">
        <p14:creationId xmlns:p14="http://schemas.microsoft.com/office/powerpoint/2010/main" val="973838314"/>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53F0C46-A780-4954-AB44-4B513E87AB1C}"/>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What we tried before the CV search</a:t>
            </a:r>
          </a:p>
        </p:txBody>
      </p:sp>
      <p:sp>
        <p:nvSpPr>
          <p:cNvPr id="2" name="text-1">
            <a:extLst xmlns:a="http://schemas.openxmlformats.org/drawingml/2006/main">
              <a:ext uri="{FF2B5EF4-FFF2-40B4-BE49-F238E27FC236}">
                <a16:creationId xmlns:a16="http://schemas.microsoft.com/office/drawing/2014/main" id="{2BAF7626-559F-42A0-BF59-51BB7EA0DB06}"/>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Corrections targeted known scoring and segmentation differences</a:t>
            </a:r>
          </a:p>
        </p:txBody>
      </p:sp>
      <p:sp>
        <p:nvSpPr>
          <p:cNvPr id="3" name="text-2">
            <a:extLst xmlns:a="http://schemas.openxmlformats.org/drawingml/2006/main">
              <a:ext uri="{FF2B5EF4-FFF2-40B4-BE49-F238E27FC236}">
                <a16:creationId xmlns:a16="http://schemas.microsoft.com/office/drawing/2014/main" id="{67B47256-0564-490D-8396-FDEE00E912AD}"/>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A7C42647-9D93-4A3C-BD8F-B3B7F4BE5B4E}"/>
              </a:ext>
            </a:extLst>
          </p:cNvPr>
          <p:cNvGraphicFramePr/>
          <p:nvPr/>
        </p:nvGraphicFramePr>
        <p:xfrm>
          <a:off xmlns:a="http://schemas.openxmlformats.org/drawingml/2006/main" x="609600" y="1809750"/>
          <a:ext xmlns:a="http://schemas.openxmlformats.org/drawingml/2006/main" cx="10972800" cy="3581400"/>
        </p:xfrm>
        <a:graphic xmlns:a="http://schemas.openxmlformats.org/drawingml/2006/main">
          <a:graphicData uri="http://schemas.openxmlformats.org/drawingml/2006/table">
            <a:tbl>
              <a:tblPr firstRow="1" bandRow="0"/>
              <a:tblGrid>
                <a:gridCol w="2952750"/>
                <a:gridCol w="4057650"/>
                <a:gridCol w="3962400"/>
              </a:tblGrid>
              <a:tr h="716280">
                <a:tc>
                  <a:txBody>
                    <a:bodyPr lIns="114300" tIns="114300" rIns="114300" bIns="114300"/>
                    <a:lstStyle/>
                    <a:p>
                      <a:pPr algn="l"/>
                      <a:r>
                        <a:rPr sz="1800" b="1">
                          <a:solidFill>
                            <a:srgbClr val="FFFFFF"/>
                          </a:solidFill>
                          <a:latin typeface="Arial"/>
                          <a:ea typeface="Arial"/>
                          <a:cs typeface="Arial"/>
                        </a:rPr>
                        <a:t>Experiment</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Change</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Result</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716280">
                <a:tc>
                  <a:txBody>
                    <a:bodyPr lIns="114300" tIns="114300" rIns="114300" bIns="114300"/>
                    <a:lstStyle/>
                    <a:p>
                      <a:pPr algn="l"/>
                      <a:r>
                        <a:rPr sz="1875" b="0">
                          <a:solidFill>
                            <a:srgbClr val="182E40"/>
                          </a:solidFill>
                          <a:latin typeface="Arial"/>
                          <a:ea typeface="Arial"/>
                          <a:cs typeface="Arial"/>
                        </a:rPr>
                        <a:t>Historical lexical compatibility</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Dictionary, POS/category rules</a:t>
                      </a:r>
                    </a:p>
                    <a:p>
                      <a:pPr algn="l"/>
                      <a:r>
                        <a:rPr sz="1875" b="0">
                          <a:solidFill>
                            <a:srgbClr val="182E40"/>
                          </a:solidFill>
                          <a:latin typeface="Arial"/>
                          <a:ea typeface="Arial"/>
                          <a:cs typeface="Arial"/>
                        </a:rPr>
                        <a:t>and fixed pause handling</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Strong LUCID agreement</a:t>
                      </a:r>
                    </a:p>
                    <a:p>
                      <a:pPr algn="l"/>
                      <a:r>
                        <a:rPr sz="1875" b="0">
                          <a:solidFill>
                            <a:srgbClr val="182E40"/>
                          </a:solidFill>
                          <a:latin typeface="Arial"/>
                          <a:ea typeface="Arial"/>
                          <a:cs typeface="Arial"/>
                        </a:rPr>
                        <a:t>in babble and L2</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716280">
                <a:tc>
                  <a:txBody>
                    <a:bodyPr lIns="114300" tIns="114300" rIns="114300" bIns="114300"/>
                    <a:lstStyle/>
                    <a:p>
                      <a:pPr algn="l"/>
                      <a:r>
                        <a:rPr sz="1875" b="0">
                          <a:solidFill>
                            <a:srgbClr val="182E40"/>
                          </a:solidFill>
                          <a:latin typeface="Arial"/>
                          <a:ea typeface="Arial"/>
                          <a:cs typeface="Arial"/>
                        </a:rPr>
                        <a:t>Native CHAT scoring</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Faithful export with official</a:t>
                      </a:r>
                    </a:p>
                    <a:p>
                      <a:pPr algn="l"/>
                      <a:r>
                        <a:rPr sz="1875" b="0">
                          <a:solidFill>
                            <a:srgbClr val="182E40"/>
                          </a:solidFill>
                          <a:latin typeface="Arial"/>
                          <a:ea typeface="Arial"/>
                          <a:cs typeface="Arial"/>
                        </a:rPr>
                        <a:t>CLAN MLU and FREQ</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Vocabulary errors mostly</a:t>
                      </a:r>
                    </a:p>
                    <a:p>
                      <a:pPr algn="l"/>
                      <a:r>
                        <a:rPr sz="1875" b="0">
                          <a:solidFill>
                            <a:srgbClr val="182E40"/>
                          </a:solidFill>
                          <a:latin typeface="Arial"/>
                          <a:ea typeface="Arial"/>
                          <a:cs typeface="Arial"/>
                        </a:rPr>
                        <a:t>below 3% on existing tests</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716280">
                <a:tc>
                  <a:txBody>
                    <a:bodyPr lIns="114300" tIns="114300" rIns="114300" bIns="114300"/>
                    <a:lstStyle/>
                    <a:p>
                      <a:pPr algn="l"/>
                      <a:r>
                        <a:rPr sz="1875" b="0">
                          <a:solidFill>
                            <a:srgbClr val="182E40"/>
                          </a:solidFill>
                          <a:latin typeface="Arial"/>
                          <a:ea typeface="Arial"/>
                          <a:cs typeface="Arial"/>
                        </a:rPr>
                        <a:t>Input-mode comparison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Paragraph ML, observed-turn ML</a:t>
                      </a:r>
                    </a:p>
                    <a:p>
                      <a:pPr algn="l"/>
                      <a:r>
                        <a:rPr sz="1875" b="0">
                          <a:solidFill>
                            <a:srgbClr val="182E40"/>
                          </a:solidFill>
                          <a:latin typeface="Arial"/>
                          <a:ea typeface="Arial"/>
                          <a:cs typeface="Arial"/>
                        </a:rPr>
                        <a:t>and observed-turn rules</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Eval selected observed-turn ML</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716280">
                <a:tc>
                  <a:txBody>
                    <a:bodyPr lIns="114300" tIns="114300" rIns="114300" bIns="114300"/>
                    <a:lstStyle/>
                    <a:p>
                      <a:pPr algn="l"/>
                      <a:r>
                        <a:rPr sz="1875" b="0">
                          <a:solidFill>
                            <a:srgbClr val="182E40"/>
                          </a:solidFill>
                          <a:latin typeface="Arial"/>
                          <a:ea typeface="Arial"/>
                          <a:cs typeface="Arial"/>
                        </a:rPr>
                        <a:t>Bounded margin calibration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Seven fixed margins in</a:t>
                      </a:r>
                    </a:p>
                    <a:p>
                      <a:pPr algn="l"/>
                      <a:r>
                        <a:rPr sz="1875" b="0">
                          <a:solidFill>
                            <a:srgbClr val="182E40"/>
                          </a:solidFill>
                          <a:latin typeface="Arial"/>
                          <a:ea typeface="Arial"/>
                          <a:cs typeface="Arial"/>
                        </a:rPr>
                        <a:t>two input modes</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Eval selected margin 0.25</a:t>
                      </a:r>
                    </a:p>
                    <a:p>
                      <a:pPr algn="l"/>
                      <a:r>
                        <a:rPr sz="1875" b="0">
                          <a:solidFill>
                            <a:srgbClr val="182E40"/>
                          </a:solidFill>
                          <a:latin typeface="Arial"/>
                          <a:ea typeface="Arial"/>
                          <a:cs typeface="Arial"/>
                        </a:rPr>
                        <a:t>Count / MLU gains were modest</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9B8BE0AA-18B0-4EE5-ABD4-DA96F42968DB}"/>
              </a:ext>
            </a:extLst>
          </p:cNvPr>
          <p:cNvSpPr>
            <a:spLocks xmlns:a="http://schemas.openxmlformats.org/drawingml/2006/main" noGrp="1"/>
          </p:cNvSpPr>
          <p:nvPr/>
        </p:nvSpPr>
        <p:spPr>
          <a:xfrm xmlns:a="http://schemas.openxmlformats.org/drawingml/2006/main">
            <a:off x="628650" y="57340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B78"/>
                </a:solidFill>
                <a:latin typeface="Arial"/>
                <a:ea typeface="Arial"/>
                <a:cs typeface="Arial"/>
              </a:defRPr>
            </a:defPPr>
          </a:lstStyle>
          <a:p xmlns:a="http://schemas.openxmlformats.org/drawingml/2006/main">
            <a:pPr algn="l">
              <a:defRPr sz="1725" b="0">
                <a:solidFill>
                  <a:srgbClr val="586B78"/>
                </a:solidFill>
                <a:latin typeface="Arial"/>
                <a:ea typeface="Arial"/>
                <a:cs typeface="Arial"/>
              </a:defRPr>
            </a:pPr>
            <a:r>
              <a:rPr sz="1725" b="0">
                <a:solidFill>
                  <a:srgbClr val="586B78"/>
                </a:solidFill>
                <a:latin typeface="Arial"/>
                <a:ea typeface="Arial"/>
                <a:cs typeface="Arial"/>
              </a:rPr>
              <a:t>An eval-only ensemble comparison did not replace the saved production model.</a:t>
            </a:r>
          </a:p>
        </p:txBody>
      </p:sp>
    </p:spTree>
    <p:extLst>
      <p:ext uri="{BB962C8B-B14F-4D97-AF65-F5344CB8AC3E}">
        <p14:creationId xmlns:p14="http://schemas.microsoft.com/office/powerpoint/2010/main" val="758097215"/>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9446FCA5-C693-4B8B-ACCA-541B6DCD7398}"/>
              </a:ext>
            </a:extLst>
          </p:cNvPr>
          <p:cNvCxnSpPr>
            <a:stCxn xmlns:a="http://schemas.openxmlformats.org/drawingml/2006/main" id="7" idx="2"/>
            <a:endCxn xmlns:a="http://schemas.openxmlformats.org/drawingml/2006/main" id="12" idx="0"/>
          </p:cNvCxnSpPr>
          <p:nvPr/>
        </p:nvCxnSpPr>
        <p:spPr>
          <a:xfrm xmlns:a="http://schemas.openxmlformats.org/drawingml/2006/main">
            <a:off x="10067925" y="4076700"/>
            <a:ext cx="0" cy="752475"/>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5" name="">
            <a:extLst xmlns:a="http://schemas.openxmlformats.org/drawingml/2006/main">
              <a:ext uri="{FF2B5EF4-FFF2-40B4-BE49-F238E27FC236}">
                <a16:creationId xmlns:a16="http://schemas.microsoft.com/office/drawing/2014/main" id="{30E110FD-AB38-423A-BAEA-619E865388FB}"/>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286375"/>
            <a:ext cx="102870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14" name="">
            <a:extLst xmlns:a="http://schemas.openxmlformats.org/drawingml/2006/main">
              <a:ext uri="{FF2B5EF4-FFF2-40B4-BE49-F238E27FC236}">
                <a16:creationId xmlns:a16="http://schemas.microsoft.com/office/drawing/2014/main" id="{047BBD0F-D698-43F6-809A-23B000FB2145}"/>
              </a:ext>
            </a:extLst>
          </p:cNvPr>
          <p:cNvCxnSpPr>
            <a:stCxn xmlns:a="http://schemas.openxmlformats.org/drawingml/2006/main" id="6" idx="2"/>
            <a:endCxn xmlns:a="http://schemas.openxmlformats.org/drawingml/2006/main" id="11" idx="0"/>
          </p:cNvCxnSpPr>
          <p:nvPr/>
        </p:nvCxnSpPr>
        <p:spPr>
          <a:xfrm xmlns:a="http://schemas.openxmlformats.org/drawingml/2006/main" flipH="1">
            <a:off x="4095750" y="4076700"/>
            <a:ext cx="1990725" cy="752475"/>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13" name="">
            <a:extLst xmlns:a="http://schemas.openxmlformats.org/drawingml/2006/main">
              <a:ext uri="{FF2B5EF4-FFF2-40B4-BE49-F238E27FC236}">
                <a16:creationId xmlns:a16="http://schemas.microsoft.com/office/drawing/2014/main" id="{01E9C9C4-0B24-4226-A33B-AB4BC03692AC}"/>
              </a:ext>
            </a:extLst>
          </p:cNvPr>
          <p:cNvCxnSpPr>
            <a:stCxn xmlns:a="http://schemas.openxmlformats.org/drawingml/2006/main" id="5" idx="2"/>
            <a:endCxn xmlns:a="http://schemas.openxmlformats.org/drawingml/2006/main" id="11" idx="0"/>
          </p:cNvCxnSpPr>
          <p:nvPr/>
        </p:nvCxnSpPr>
        <p:spPr>
          <a:xfrm xmlns:a="http://schemas.openxmlformats.org/drawingml/2006/main">
            <a:off x="2105025" y="4076700"/>
            <a:ext cx="1990725" cy="752475"/>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10" name="">
            <a:extLst xmlns:a="http://schemas.openxmlformats.org/drawingml/2006/main">
              <a:ext uri="{FF2B5EF4-FFF2-40B4-BE49-F238E27FC236}">
                <a16:creationId xmlns:a16="http://schemas.microsoft.com/office/drawing/2014/main" id="{A4F16F9D-45B6-4454-ACB2-2E12093C913A}"/>
              </a:ext>
            </a:extLst>
          </p:cNvPr>
          <p:cNvCxnSpPr>
            <a:stCxn xmlns:a="http://schemas.openxmlformats.org/drawingml/2006/main" id="4" idx="2"/>
            <a:endCxn xmlns:a="http://schemas.openxmlformats.org/drawingml/2006/main" id="7" idx="0"/>
          </p:cNvCxnSpPr>
          <p:nvPr/>
        </p:nvCxnSpPr>
        <p:spPr>
          <a:xfrm xmlns:a="http://schemas.openxmlformats.org/drawingml/2006/main">
            <a:off x="6096000" y="2457450"/>
            <a:ext cx="3971925" cy="704850"/>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9" name="">
            <a:extLst xmlns:a="http://schemas.openxmlformats.org/drawingml/2006/main">
              <a:ext uri="{FF2B5EF4-FFF2-40B4-BE49-F238E27FC236}">
                <a16:creationId xmlns:a16="http://schemas.microsoft.com/office/drawing/2014/main" id="{F61312D9-B6B6-4EA0-98BB-728FF5C9017B}"/>
              </a:ext>
            </a:extLst>
          </p:cNvPr>
          <p:cNvCxnSpPr>
            <a:stCxn xmlns:a="http://schemas.openxmlformats.org/drawingml/2006/main" id="4" idx="2"/>
            <a:endCxn xmlns:a="http://schemas.openxmlformats.org/drawingml/2006/main" id="6" idx="0"/>
          </p:cNvCxnSpPr>
          <p:nvPr/>
        </p:nvCxnSpPr>
        <p:spPr>
          <a:xfrm xmlns:a="http://schemas.openxmlformats.org/drawingml/2006/main" flipH="1">
            <a:off x="6086475" y="2457450"/>
            <a:ext cx="9525" cy="704850"/>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cxnSp>
        <p:nvCxnSpPr>
          <p:cNvPr id="8" name="">
            <a:extLst xmlns:a="http://schemas.openxmlformats.org/drawingml/2006/main">
              <a:ext uri="{FF2B5EF4-FFF2-40B4-BE49-F238E27FC236}">
                <a16:creationId xmlns:a16="http://schemas.microsoft.com/office/drawing/2014/main" id="{090FB21C-0C81-43B0-965D-B197F231EB26}"/>
              </a:ext>
            </a:extLst>
          </p:cNvPr>
          <p:cNvCxnSpPr>
            <a:stCxn xmlns:a="http://schemas.openxmlformats.org/drawingml/2006/main" id="4" idx="2"/>
            <a:endCxn xmlns:a="http://schemas.openxmlformats.org/drawingml/2006/main" id="5" idx="0"/>
          </p:cNvCxnSpPr>
          <p:nvPr/>
        </p:nvCxnSpPr>
        <p:spPr>
          <a:xfrm xmlns:a="http://schemas.openxmlformats.org/drawingml/2006/main" flipH="1">
            <a:off x="2105025" y="2457450"/>
            <a:ext cx="3990975" cy="704850"/>
          </a:xfrm>
          <a:prstGeom xmlns:a="http://schemas.openxmlformats.org/drawingml/2006/main" prst="bentConnector4">
            <a:avLst>
              <a:gd name="adj1" fmla="val 0"/>
              <a:gd name="adj2" fmla="val 50000"/>
            </a:avLst>
          </a:prstGeom>
          <a:ln xmlns:a="http://schemas.openxmlformats.org/drawingml/2006/main" w="19050">
            <a:solidFill>
              <a:srgbClr val="007F78"/>
            </a:solidFill>
            <a:tailEnd type="triangle" w="med" len="med"/>
          </a:ln>
        </p:spPr>
      </p:cxnSp>
      <p:sp>
        <p:nvSpPr>
          <p:cNvPr id="18" name="text-0">
            <a:extLst xmlns:a="http://schemas.openxmlformats.org/drawingml/2006/main">
              <a:ext uri="{FF2B5EF4-FFF2-40B4-BE49-F238E27FC236}">
                <a16:creationId xmlns:a16="http://schemas.microsoft.com/office/drawing/2014/main" id="{A73A1FD4-AD45-4848-A0AF-CB1857A9AA70}"/>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Five-fold cross-validation design</a:t>
            </a:r>
          </a:p>
        </p:txBody>
      </p:sp>
      <p:sp>
        <p:nvSpPr>
          <p:cNvPr id="2" name="text-1">
            <a:extLst xmlns:a="http://schemas.openxmlformats.org/drawingml/2006/main">
              <a:ext uri="{FF2B5EF4-FFF2-40B4-BE49-F238E27FC236}">
                <a16:creationId xmlns:a16="http://schemas.microsoft.com/office/drawing/2014/main" id="{58884933-8D94-45B7-9823-95C391D39483}"/>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Original training participants supply every configuration comparison</a:t>
            </a:r>
          </a:p>
        </p:txBody>
      </p:sp>
      <p:sp>
        <p:nvSpPr>
          <p:cNvPr id="3" name="text-2">
            <a:extLst xmlns:a="http://schemas.openxmlformats.org/drawingml/2006/main">
              <a:ext uri="{FF2B5EF4-FFF2-40B4-BE49-F238E27FC236}">
                <a16:creationId xmlns:a16="http://schemas.microsoft.com/office/drawing/2014/main" id="{CE217F28-AA36-4311-BDC0-CCE533E5ED42}"/>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09</a:t>
            </a:r>
          </a:p>
        </p:txBody>
      </p:sp>
      <p:sp>
        <p:nvSpPr>
          <p:cNvPr id="4" name="diagram-3">
            <a:extLst xmlns:a="http://schemas.openxmlformats.org/drawingml/2006/main">
              <a:ext uri="{FF2B5EF4-FFF2-40B4-BE49-F238E27FC236}">
                <a16:creationId xmlns:a16="http://schemas.microsoft.com/office/drawing/2014/main" id="{8326DA0A-0426-48A3-9C10-B0400EA634F1}"/>
              </a:ext>
            </a:extLst>
          </p:cNvPr>
          <p:cNvSpPr>
            <a:spLocks xmlns:a="http://schemas.openxmlformats.org/drawingml/2006/main" noGrp="1"/>
          </p:cNvSpPr>
          <p:nvPr/>
        </p:nvSpPr>
        <p:spPr>
          <a:xfrm xmlns:a="http://schemas.openxmlformats.org/drawingml/2006/main">
            <a:off x="4191000" y="1752600"/>
            <a:ext cx="3810000" cy="70485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Original train: 231 children</a:t>
            </a:r>
          </a:p>
        </p:txBody>
      </p:sp>
      <p:sp>
        <p:nvSpPr>
          <p:cNvPr id="5" name="diagram-4">
            <a:extLst xmlns:a="http://schemas.openxmlformats.org/drawingml/2006/main">
              <a:ext uri="{FF2B5EF4-FFF2-40B4-BE49-F238E27FC236}">
                <a16:creationId xmlns:a16="http://schemas.microsoft.com/office/drawing/2014/main" id="{1B2ADF3A-D69C-48B8-B827-1EB732087FBE}"/>
              </a:ext>
            </a:extLst>
          </p:cNvPr>
          <p:cNvSpPr>
            <a:spLocks xmlns:a="http://schemas.openxmlformats.org/drawingml/2006/main" noGrp="1"/>
          </p:cNvSpPr>
          <p:nvPr/>
        </p:nvSpPr>
        <p:spPr>
          <a:xfrm xmlns:a="http://schemas.openxmlformats.org/drawingml/2006/main">
            <a:off x="628650" y="3162300"/>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Fit</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147–148 children</a:t>
            </a:r>
          </a:p>
        </p:txBody>
      </p:sp>
      <p:sp>
        <p:nvSpPr>
          <p:cNvPr id="6" name="diagram-5">
            <a:extLst xmlns:a="http://schemas.openxmlformats.org/drawingml/2006/main">
              <a:ext uri="{FF2B5EF4-FFF2-40B4-BE49-F238E27FC236}">
                <a16:creationId xmlns:a16="http://schemas.microsoft.com/office/drawing/2014/main" id="{39C75D68-515D-4602-8439-D1576524B901}"/>
              </a:ext>
            </a:extLst>
          </p:cNvPr>
          <p:cNvSpPr>
            <a:spLocks xmlns:a="http://schemas.openxmlformats.org/drawingml/2006/main" noGrp="1"/>
          </p:cNvSpPr>
          <p:nvPr/>
        </p:nvSpPr>
        <p:spPr>
          <a:xfrm xmlns:a="http://schemas.openxmlformats.org/drawingml/2006/main">
            <a:off x="4610100" y="3162300"/>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Inner validation</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37 different children</a:t>
            </a:r>
          </a:p>
        </p:txBody>
      </p:sp>
      <p:sp>
        <p:nvSpPr>
          <p:cNvPr id="7" name="diagram-6">
            <a:extLst xmlns:a="http://schemas.openxmlformats.org/drawingml/2006/main">
              <a:ext uri="{FF2B5EF4-FFF2-40B4-BE49-F238E27FC236}">
                <a16:creationId xmlns:a16="http://schemas.microsoft.com/office/drawing/2014/main" id="{C5FC6E69-0816-48B6-AFDF-F64A9CA8F06B}"/>
              </a:ext>
            </a:extLst>
          </p:cNvPr>
          <p:cNvSpPr>
            <a:spLocks xmlns:a="http://schemas.openxmlformats.org/drawingml/2006/main" noGrp="1"/>
          </p:cNvSpPr>
          <p:nvPr/>
        </p:nvSpPr>
        <p:spPr>
          <a:xfrm xmlns:a="http://schemas.openxmlformats.org/drawingml/2006/main">
            <a:off x="8591550" y="3162300"/>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CV heldout</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46–47 different children</a:t>
            </a:r>
          </a:p>
        </p:txBody>
      </p:sp>
      <p:sp>
        <p:nvSpPr>
          <p:cNvPr id="11" name="diagram-10">
            <a:extLst xmlns:a="http://schemas.openxmlformats.org/drawingml/2006/main">
              <a:ext uri="{FF2B5EF4-FFF2-40B4-BE49-F238E27FC236}">
                <a16:creationId xmlns:a16="http://schemas.microsoft.com/office/drawing/2014/main" id="{3EDF3EC0-ED86-4C00-B04B-95879EA14D56}"/>
              </a:ext>
            </a:extLst>
          </p:cNvPr>
          <p:cNvSpPr>
            <a:spLocks xmlns:a="http://schemas.openxmlformats.org/drawingml/2006/main" noGrp="1"/>
          </p:cNvSpPr>
          <p:nvPr/>
        </p:nvSpPr>
        <p:spPr>
          <a:xfrm xmlns:a="http://schemas.openxmlformats.org/drawingml/2006/main">
            <a:off x="628650" y="4829175"/>
            <a:ext cx="693420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Fresh fit and inner selection</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Freeze checkpoint and margin</a:t>
            </a:r>
          </a:p>
        </p:txBody>
      </p:sp>
      <p:sp>
        <p:nvSpPr>
          <p:cNvPr id="12" name="diagram-11">
            <a:extLst xmlns:a="http://schemas.openxmlformats.org/drawingml/2006/main">
              <a:ext uri="{FF2B5EF4-FFF2-40B4-BE49-F238E27FC236}">
                <a16:creationId xmlns:a16="http://schemas.microsoft.com/office/drawing/2014/main" id="{F99902C4-4447-474B-8C2A-447ED919EA1A}"/>
              </a:ext>
            </a:extLst>
          </p:cNvPr>
          <p:cNvSpPr>
            <a:spLocks xmlns:a="http://schemas.openxmlformats.org/drawingml/2006/main" noGrp="1"/>
          </p:cNvSpPr>
          <p:nvPr/>
        </p:nvSpPr>
        <p:spPr>
          <a:xfrm xmlns:a="http://schemas.openxmlformats.org/drawingml/2006/main">
            <a:off x="8591550" y="4829175"/>
            <a:ext cx="2952750" cy="914400"/>
          </a:xfrm>
          <a:prstGeom xmlns:a="http://schemas.openxmlformats.org/drawingml/2006/main" prst="rect">
            <a:avLst/>
          </a:prstGeom>
          <a:solidFill xmlns:a="http://schemas.openxmlformats.org/drawingml/2006/main">
            <a:srgbClr val="E3EFED"/>
          </a:solidFill>
          <a:ln xmlns:a="http://schemas.openxmlformats.org/drawingml/2006/main" w="12383">
            <a:solidFill>
              <a:srgbClr val="007F78"/>
            </a:solidFill>
          </a:ln>
        </p:spPr>
        <p:txBody>
          <a:bodyPr xmlns:a="http://schemas.openxmlformats.org/drawingml/2006/main" lIns="152400" tIns="152400" rIns="152400" bIns="152400" anchor="ctr">
            <a:noAutofit/>
          </a:bodyPr>
          <a:lstStyle xmlns:a="http://schemas.openxmlformats.org/drawingml/2006/main">
            <a:defPPr algn="ctr">
              <a:defRPr sz="1875" b="0">
                <a:solidFill>
                  <a:srgbClr val="182E40"/>
                </a:solidFill>
                <a:latin typeface="Arial"/>
                <a:ea typeface="Arial"/>
                <a:cs typeface="Arial"/>
              </a:defRPr>
            </a:defPPr>
          </a:lstStyle>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Score heldout</a:t>
            </a:r>
          </a:p>
          <a:p xmlns:a="http://schemas.openxmlformats.org/drawingml/2006/main">
            <a:pPr algn="ctr">
              <a:defRPr sz="1875" b="0">
                <a:solidFill>
                  <a:srgbClr val="182E40"/>
                </a:solidFill>
                <a:latin typeface="Arial"/>
                <a:ea typeface="Arial"/>
                <a:cs typeface="Arial"/>
              </a:defRPr>
            </a:pPr>
            <a:r>
              <a:rPr sz="1875" b="0">
                <a:solidFill>
                  <a:srgbClr val="182E40"/>
                </a:solidFill>
                <a:latin typeface="Arial"/>
                <a:ea typeface="Arial"/>
                <a:cs typeface="Arial"/>
              </a:rPr>
              <a:t>participants</a:t>
            </a:r>
          </a:p>
        </p:txBody>
      </p:sp>
      <p:sp>
        <p:nvSpPr>
          <p:cNvPr id="17" name="text-16">
            <a:extLst xmlns:a="http://schemas.openxmlformats.org/drawingml/2006/main">
              <a:ext uri="{FF2B5EF4-FFF2-40B4-BE49-F238E27FC236}">
                <a16:creationId xmlns:a16="http://schemas.microsoft.com/office/drawing/2014/main" id="{7A8177B3-C580-43C2-B924-EBD9B6C37E3E}"/>
              </a:ext>
            </a:extLst>
          </p:cNvPr>
          <p:cNvSpPr>
            <a:spLocks xmlns:a="http://schemas.openxmlformats.org/drawingml/2006/main" noGrp="1"/>
          </p:cNvSpPr>
          <p:nvPr/>
        </p:nvSpPr>
        <p:spPr>
          <a:xfrm xmlns:a="http://schemas.openxmlformats.org/drawingml/2006/main">
            <a:off x="628650" y="60769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78"/>
                </a:solidFill>
                <a:latin typeface="Arial"/>
                <a:ea typeface="Arial"/>
                <a:cs typeface="Arial"/>
              </a:defRPr>
            </a:defPPr>
          </a:lstStyle>
          <a:p xmlns:a="http://schemas.openxmlformats.org/drawingml/2006/main">
            <a:pPr algn="l">
              <a:defRPr sz="2025" b="1">
                <a:solidFill>
                  <a:srgbClr val="007F78"/>
                </a:solidFill>
                <a:latin typeface="Arial"/>
                <a:ea typeface="Arial"/>
                <a:cs typeface="Arial"/>
              </a:defRPr>
            </a:pPr>
            <a:r>
              <a:rPr sz="2025" b="1">
                <a:solidFill>
                  <a:srgbClr val="007F78"/>
                </a:solidFill>
                <a:latin typeface="Arial"/>
                <a:ea typeface="Arial"/>
                <a:cs typeface="Arial"/>
              </a:rPr>
              <a:t>Repeat on the same five folds per setting. Pool all five heldout scores.</a:t>
            </a:r>
          </a:p>
        </p:txBody>
      </p:sp>
    </p:spTree>
    <p:extLst>
      <p:ext uri="{BB962C8B-B14F-4D97-AF65-F5344CB8AC3E}">
        <p14:creationId xmlns:p14="http://schemas.microsoft.com/office/powerpoint/2010/main" val="68267814"/>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E99237E-38C2-4899-BCFB-BED8C776E425}"/>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Completed training configurations</a:t>
            </a:r>
          </a:p>
        </p:txBody>
      </p:sp>
      <p:sp>
        <p:nvSpPr>
          <p:cNvPr id="2" name="text-1">
            <a:extLst xmlns:a="http://schemas.openxmlformats.org/drawingml/2006/main">
              <a:ext uri="{FF2B5EF4-FFF2-40B4-BE49-F238E27FC236}">
                <a16:creationId xmlns:a16="http://schemas.microsoft.com/office/drawing/2014/main" id="{44418E01-6458-4E3A-A1D6-476F07C82C71}"/>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Three settings completed all five folds. The fourth remains incomplete</a:t>
            </a:r>
          </a:p>
        </p:txBody>
      </p:sp>
      <p:sp>
        <p:nvSpPr>
          <p:cNvPr id="3" name="text-2">
            <a:extLst xmlns:a="http://schemas.openxmlformats.org/drawingml/2006/main">
              <a:ext uri="{FF2B5EF4-FFF2-40B4-BE49-F238E27FC236}">
                <a16:creationId xmlns:a16="http://schemas.microsoft.com/office/drawing/2014/main" id="{84ED22B5-5658-4F6F-90ED-1F4383CA001E}"/>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73FA51DA-6555-4E7C-8D10-E5C5175D6C8E}"/>
              </a:ext>
            </a:extLst>
          </p:cNvPr>
          <p:cNvGraphicFramePr/>
          <p:nvPr/>
        </p:nvGraphicFramePr>
        <p:xfrm>
          <a:off xmlns:a="http://schemas.openxmlformats.org/drawingml/2006/main" x="609600" y="1809750"/>
          <a:ext xmlns:a="http://schemas.openxmlformats.org/drawingml/2006/main" cx="10972800" cy="3171825"/>
        </p:xfrm>
        <a:graphic xmlns:a="http://schemas.openxmlformats.org/drawingml/2006/main">
          <a:graphicData uri="http://schemas.openxmlformats.org/drawingml/2006/table">
            <a:tbl>
              <a:tblPr firstRow="1" bandRow="0"/>
              <a:tblGrid>
                <a:gridCol w="3333750"/>
                <a:gridCol w="3238500"/>
                <a:gridCol w="2143125"/>
                <a:gridCol w="2257425"/>
              </a:tblGrid>
              <a:tr h="634365">
                <a:tc>
                  <a:txBody>
                    <a:bodyPr lIns="114300" tIns="114300" rIns="114300" bIns="114300"/>
                    <a:lstStyle/>
                    <a:p>
                      <a:pPr algn="l"/>
                      <a:r>
                        <a:rPr sz="1800" b="1">
                          <a:solidFill>
                            <a:srgbClr val="FFFFFF"/>
                          </a:solidFill>
                          <a:latin typeface="Arial"/>
                          <a:ea typeface="Arial"/>
                          <a:cs typeface="Arial"/>
                        </a:rPr>
                        <a:t>Configuration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Encoder / head LR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Count-loss</a:t>
                      </a:r>
                    </a:p>
                    <a:p>
                      <a:pPr algn="l"/>
                      <a:r>
                        <a:rPr sz="1800" b="1">
                          <a:solidFill>
                            <a:srgbClr val="FFFFFF"/>
                          </a:solidFill>
                          <a:latin typeface="Arial"/>
                          <a:ea typeface="Arial"/>
                          <a:cs typeface="Arial"/>
                        </a:rPr>
                        <a:t>weight</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Pooled CV</a:t>
                      </a:r>
                    </a:p>
                    <a:p>
                      <a:pPr algn="l"/>
                      <a:r>
                        <a:rPr sz="1800" b="1">
                          <a:solidFill>
                            <a:srgbClr val="FFFFFF"/>
                          </a:solidFill>
                          <a:latin typeface="Arial"/>
                          <a:ea typeface="Arial"/>
                          <a:cs typeface="Arial"/>
                        </a:rPr>
                        <a:t>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634365">
                <a:tc>
                  <a:txBody>
                    <a:bodyPr lIns="114300" tIns="114300" rIns="114300" bIns="114300"/>
                    <a:lstStyle/>
                    <a:p>
                      <a:pPr algn="l"/>
                      <a:r>
                        <a:rPr sz="1875" b="0">
                          <a:solidFill>
                            <a:srgbClr val="182E40"/>
                          </a:solidFill>
                          <a:latin typeface="Arial"/>
                          <a:ea typeface="Arial"/>
                          <a:cs typeface="Arial"/>
                        </a:rPr>
                        <a:t>Baseline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2e−5 / 1e−4</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1.00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13.16%</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34365">
                <a:tc>
                  <a:txBody>
                    <a:bodyPr lIns="114300" tIns="114300" rIns="114300" bIns="114300"/>
                    <a:lstStyle/>
                    <a:p>
                      <a:pPr algn="l"/>
                      <a:r>
                        <a:rPr sz="1875" b="0">
                          <a:solidFill>
                            <a:srgbClr val="182E40"/>
                          </a:solidFill>
                          <a:latin typeface="Arial"/>
                          <a:ea typeface="Arial"/>
                          <a:cs typeface="Arial"/>
                        </a:rPr>
                        <a:t>Lower count loss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2e−5 / 1e−4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0.25</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13.36%</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634365">
                <a:tc>
                  <a:txBody>
                    <a:bodyPr lIns="114300" tIns="114300" rIns="114300" bIns="114300"/>
                    <a:lstStyle/>
                    <a:p>
                      <a:pPr algn="l"/>
                      <a:r>
                        <a:rPr sz="1875" b="0">
                          <a:solidFill>
                            <a:srgbClr val="182E40"/>
                          </a:solidFill>
                          <a:latin typeface="Arial"/>
                          <a:ea typeface="Arial"/>
                          <a:cs typeface="Arial"/>
                        </a:rPr>
                        <a:t>Higher learning rate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3e−5 / 1.5e−4</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1.00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13.52%</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34365">
                <a:tc>
                  <a:txBody>
                    <a:bodyPr lIns="114300" tIns="114300" rIns="114300" bIns="114300"/>
                    <a:lstStyle/>
                    <a:p>
                      <a:pPr algn="l"/>
                      <a:r>
                        <a:rPr sz="1875" b="0">
                          <a:solidFill>
                            <a:srgbClr val="182E40"/>
                          </a:solidFill>
                          <a:latin typeface="Arial"/>
                          <a:ea typeface="Arial"/>
                          <a:cs typeface="Arial"/>
                        </a:rPr>
                        <a:t>Higher LR + lower loss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3e−5 / 1.5e−4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0.25</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Incomplete</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7A757C15-4B8D-4E60-A74C-6D0591119194}"/>
              </a:ext>
            </a:extLst>
          </p:cNvPr>
          <p:cNvSpPr>
            <a:spLocks xmlns:a="http://schemas.openxmlformats.org/drawingml/2006/main" noGrp="1"/>
          </p:cNvSpPr>
          <p:nvPr/>
        </p:nvSpPr>
        <p:spPr>
          <a:xfrm xmlns:a="http://schemas.openxmlformats.org/drawingml/2006/main">
            <a:off x="628650" y="5381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8"/>
                </a:solidFill>
                <a:latin typeface="Arial"/>
                <a:ea typeface="Arial"/>
                <a:cs typeface="Arial"/>
              </a:defRPr>
            </a:defPPr>
          </a:lstStyle>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Baseline had the best completed combined CV score.</a:t>
            </a:r>
          </a:p>
        </p:txBody>
      </p:sp>
      <p:sp>
        <p:nvSpPr>
          <p:cNvPr id="6" name="text-4">
            <a:extLst xmlns:a="http://schemas.openxmlformats.org/drawingml/2006/main">
              <a:ext uri="{FF2B5EF4-FFF2-40B4-BE49-F238E27FC236}">
                <a16:creationId xmlns:a16="http://schemas.microsoft.com/office/drawing/2014/main" id="{54E6D67C-31F7-491B-890C-2BC6FD5D2DCA}"/>
              </a:ext>
            </a:extLst>
          </p:cNvPr>
          <p:cNvSpPr>
            <a:spLocks xmlns:a="http://schemas.openxmlformats.org/drawingml/2006/main" noGrp="1"/>
          </p:cNvSpPr>
          <p:nvPr/>
        </p:nvSpPr>
        <p:spPr>
          <a:xfrm xmlns:a="http://schemas.openxmlformats.org/drawingml/2006/main">
            <a:off x="628650" y="592455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OCSC favored lower count loss. That setting increased NYU’s error.</a:t>
            </a:r>
          </a:p>
        </p:txBody>
      </p:sp>
    </p:spTree>
    <p:extLst>
      <p:ext uri="{BB962C8B-B14F-4D97-AF65-F5344CB8AC3E}">
        <p14:creationId xmlns:p14="http://schemas.microsoft.com/office/powerpoint/2010/main" val="106670686"/>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9C1D3A6-1748-4D1E-A0E1-7F48E3604CD2}"/>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LUCID results against published values</a:t>
            </a:r>
          </a:p>
        </p:txBody>
      </p:sp>
      <p:sp>
        <p:nvSpPr>
          <p:cNvPr id="2" name="text-1">
            <a:extLst xmlns:a="http://schemas.openxmlformats.org/drawingml/2006/main">
              <a:ext uri="{FF2B5EF4-FFF2-40B4-BE49-F238E27FC236}">
                <a16:creationId xmlns:a16="http://schemas.microsoft.com/office/drawing/2014/main" id="{E96E07AB-A4DA-4C52-8499-47EFE19965DB}"/>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Lexical comparison with the authors’ actual per-sample TAALED table</a:t>
            </a:r>
          </a:p>
        </p:txBody>
      </p:sp>
      <p:sp>
        <p:nvSpPr>
          <p:cNvPr id="3" name="text-2">
            <a:extLst xmlns:a="http://schemas.openxmlformats.org/drawingml/2006/main">
              <a:ext uri="{FF2B5EF4-FFF2-40B4-BE49-F238E27FC236}">
                <a16:creationId xmlns:a16="http://schemas.microsoft.com/office/drawing/2014/main" id="{E5067DE2-B65C-49A5-978A-C74C82CE7C06}"/>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8F9F6A34-A341-4E09-8B8C-370410915745}"/>
              </a:ext>
            </a:extLst>
          </p:cNvPr>
          <p:cNvGraphicFramePr/>
          <p:nvPr/>
        </p:nvGraphicFramePr>
        <p:xfrm>
          <a:off xmlns:a="http://schemas.openxmlformats.org/drawingml/2006/main" x="609600" y="1809750"/>
          <a:ext xmlns:a="http://schemas.openxmlformats.org/drawingml/2006/main" cx="10972800" cy="2952750"/>
        </p:xfrm>
        <a:graphic xmlns:a="http://schemas.openxmlformats.org/drawingml/2006/main">
          <a:graphicData uri="http://schemas.openxmlformats.org/drawingml/2006/table">
            <a:tbl>
              <a:tblPr firstRow="1" bandRow="0"/>
              <a:tblGrid>
                <a:gridCol w="2714625"/>
                <a:gridCol w="2952750"/>
                <a:gridCol w="2667000"/>
                <a:gridCol w="2638425"/>
              </a:tblGrid>
              <a:tr h="590550">
                <a:tc>
                  <a:txBody>
                    <a:bodyPr lIns="114300" tIns="114300" rIns="114300" bIns="114300"/>
                    <a:lstStyle/>
                    <a:p>
                      <a:pPr algn="l"/>
                      <a:r>
                        <a:rPr sz="1875" b="1">
                          <a:solidFill>
                            <a:srgbClr val="FFFFFF"/>
                          </a:solidFill>
                          <a:latin typeface="Arial"/>
                          <a:ea typeface="Arial"/>
                          <a:cs typeface="Arial"/>
                        </a:rPr>
                        <a:t>Condition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Scored / published</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Word-count</a:t>
                      </a:r>
                    </a:p>
                    <a:p>
                      <a:pPr algn="l"/>
                      <a:r>
                        <a:rPr sz="1875" b="1">
                          <a:solidFill>
                            <a:srgbClr val="FFFFFF"/>
                          </a:solidFill>
                          <a:latin typeface="Arial"/>
                          <a:ea typeface="Arial"/>
                          <a:cs typeface="Arial"/>
                        </a:rPr>
                        <a:t>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75" b="1">
                          <a:solidFill>
                            <a:srgbClr val="FFFFFF"/>
                          </a:solidFill>
                          <a:latin typeface="Arial"/>
                          <a:ea typeface="Arial"/>
                          <a:cs typeface="Arial"/>
                        </a:rPr>
                        <a:t>MATTR-50</a:t>
                      </a:r>
                    </a:p>
                    <a:p>
                      <a:pPr algn="l"/>
                      <a:r>
                        <a:rPr sz="1875" b="1">
                          <a:solidFill>
                            <a:srgbClr val="FFFFFF"/>
                          </a:solidFill>
                          <a:latin typeface="Arial"/>
                          <a:ea typeface="Arial"/>
                          <a:cs typeface="Arial"/>
                        </a:rPr>
                        <a:t>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90550">
                <a:tc>
                  <a:txBody>
                    <a:bodyPr lIns="114300" tIns="114300" rIns="114300" bIns="114300"/>
                    <a:lstStyle/>
                    <a:p>
                      <a:pPr algn="l"/>
                      <a:r>
                        <a:rPr sz="1950" b="0">
                          <a:solidFill>
                            <a:srgbClr val="182E40"/>
                          </a:solidFill>
                          <a:latin typeface="Arial"/>
                          <a:ea typeface="Arial"/>
                          <a:cs typeface="Arial"/>
                        </a:rPr>
                        <a:t>Babble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60 / 60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0.76%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0.44%</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90550">
                <a:tc>
                  <a:txBody>
                    <a:bodyPr lIns="114300" tIns="114300" rIns="114300" bIns="114300"/>
                    <a:lstStyle/>
                    <a:p>
                      <a:pPr algn="l"/>
                      <a:r>
                        <a:rPr sz="1950" b="0">
                          <a:solidFill>
                            <a:srgbClr val="182E40"/>
                          </a:solidFill>
                          <a:latin typeface="Arial"/>
                          <a:ea typeface="Arial"/>
                          <a:cs typeface="Arial"/>
                        </a:rPr>
                        <a:t>L2</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60 / 60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1.87%</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0.44%</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590550">
                <a:tc>
                  <a:txBody>
                    <a:bodyPr lIns="114300" tIns="114300" rIns="114300" bIns="114300"/>
                    <a:lstStyle/>
                    <a:p>
                      <a:pPr algn="l"/>
                      <a:r>
                        <a:rPr sz="1950" b="0">
                          <a:solidFill>
                            <a:srgbClr val="182E40"/>
                          </a:solidFill>
                          <a:latin typeface="Arial"/>
                          <a:ea typeface="Arial"/>
                          <a:cs typeface="Arial"/>
                        </a:rPr>
                        <a:t>No barrier</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60 / 60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16.60%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950" b="0">
                          <a:solidFill>
                            <a:srgbClr val="182E40"/>
                          </a:solidFill>
                          <a:latin typeface="Arial"/>
                          <a:ea typeface="Arial"/>
                          <a:cs typeface="Arial"/>
                        </a:rPr>
                        <a:t>2.11%</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90550">
                <a:tc>
                  <a:txBody>
                    <a:bodyPr lIns="114300" tIns="114300" rIns="114300" bIns="114300"/>
                    <a:lstStyle/>
                    <a:p>
                      <a:pPr algn="l"/>
                      <a:r>
                        <a:rPr sz="1950" b="0">
                          <a:solidFill>
                            <a:srgbClr val="182E40"/>
                          </a:solidFill>
                          <a:latin typeface="Arial"/>
                          <a:ea typeface="Arial"/>
                          <a:cs typeface="Arial"/>
                        </a:rPr>
                        <a:t>Vocoder</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0 / 60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Unresolved</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950" b="0">
                          <a:solidFill>
                            <a:srgbClr val="182E40"/>
                          </a:solidFill>
                          <a:latin typeface="Arial"/>
                          <a:ea typeface="Arial"/>
                          <a:cs typeface="Arial"/>
                        </a:rPr>
                        <a:t>Unresolved</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41890F0A-C4C6-414D-9FAE-201BF2DAC5D0}"/>
              </a:ext>
            </a:extLst>
          </p:cNvPr>
          <p:cNvSpPr>
            <a:spLocks xmlns:a="http://schemas.openxmlformats.org/drawingml/2006/main" noGrp="1"/>
          </p:cNvSpPr>
          <p:nvPr/>
        </p:nvSpPr>
        <p:spPr>
          <a:xfrm xmlns:a="http://schemas.openxmlformats.org/drawingml/2006/main">
            <a:off x="628650" y="51720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8"/>
                </a:solidFill>
                <a:latin typeface="Arial"/>
                <a:ea typeface="Arial"/>
                <a:cs typeface="Arial"/>
              </a:defRPr>
            </a:defPPr>
          </a:lstStyle>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All 15 shared mean errors meet targets in babble and L2.</a:t>
            </a:r>
          </a:p>
        </p:txBody>
      </p:sp>
      <p:sp>
        <p:nvSpPr>
          <p:cNvPr id="6" name="text-4">
            <a:extLst xmlns:a="http://schemas.openxmlformats.org/drawingml/2006/main">
              <a:ext uri="{FF2B5EF4-FFF2-40B4-BE49-F238E27FC236}">
                <a16:creationId xmlns:a16="http://schemas.microsoft.com/office/drawing/2014/main" id="{BC7196CA-3171-4838-8B1F-57A69E6C2768}"/>
              </a:ext>
            </a:extLst>
          </p:cNvPr>
          <p:cNvSpPr>
            <a:spLocks xmlns:a="http://schemas.openxmlformats.org/drawingml/2006/main" noGrp="1"/>
          </p:cNvSpPr>
          <p:nvPr/>
        </p:nvSpPr>
        <p:spPr>
          <a:xfrm xmlns:a="http://schemas.openxmlformats.org/drawingml/2006/main">
            <a:off x="628650" y="57721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No barrier still has larger errors. Vocoder input mapping remains ambiguous.</a:t>
            </a:r>
          </a:p>
        </p:txBody>
      </p:sp>
    </p:spTree>
    <p:extLst>
      <p:ext uri="{BB962C8B-B14F-4D97-AF65-F5344CB8AC3E}">
        <p14:creationId xmlns:p14="http://schemas.microsoft.com/office/powerpoint/2010/main" val="1452934312"/>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BDBE70F-9EA2-413B-A2F1-BF904276FD78}"/>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OCSC improved in cross-validation</a:t>
            </a:r>
          </a:p>
        </p:txBody>
      </p:sp>
      <p:sp>
        <p:nvSpPr>
          <p:cNvPr id="2" name="text-1">
            <a:extLst xmlns:a="http://schemas.openxmlformats.org/drawingml/2006/main">
              <a:ext uri="{FF2B5EF4-FFF2-40B4-BE49-F238E27FC236}">
                <a16:creationId xmlns:a16="http://schemas.microsoft.com/office/drawing/2014/main" id="{CAF9C96E-F5B6-448A-AF93-040E7B3716E3}"/>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Same participant folds, with each result pooled over all five</a:t>
            </a:r>
          </a:p>
        </p:txBody>
      </p:sp>
      <p:sp>
        <p:nvSpPr>
          <p:cNvPr id="3" name="text-2">
            <a:extLst xmlns:a="http://schemas.openxmlformats.org/drawingml/2006/main">
              <a:ext uri="{FF2B5EF4-FFF2-40B4-BE49-F238E27FC236}">
                <a16:creationId xmlns:a16="http://schemas.microsoft.com/office/drawing/2014/main" id="{54A79C0D-B3B8-453D-AE80-BFED1D3DB296}"/>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12</a:t>
            </a:r>
          </a:p>
        </p:txBody>
      </p:sp>
      <p:graphicFrame>
        <p:nvGraphicFramePr>
          <p:cNvPr id="4" name="Chart">
            <a:extLst xmlns:a="http://schemas.openxmlformats.org/drawingml/2006/main">
              <a:ext uri="{FF2B5EF4-FFF2-40B4-BE49-F238E27FC236}">
                <a16:creationId xmlns:a16="http://schemas.microsoft.com/office/drawing/2014/main" id="{CACA0E99-56C2-403C-A95E-CA3D9F9E9779}"/>
              </a:ext>
            </a:extLst>
          </p:cNvPr>
          <p:cNvGraphicFramePr/>
          <p:nvPr/>
        </p:nvGraphicFramePr>
        <p:xfrm>
          <a:off xmlns:a="http://schemas.openxmlformats.org/drawingml/2006/main" x="666750" y="1762125"/>
          <a:ext xmlns:a="http://schemas.openxmlformats.org/drawingml/2006/main" cx="10668000" cy="3695700"/>
        </p:xfrm>
        <a:graphic xmlns:a="http://schemas.openxmlformats.org/drawingml/2006/main">
          <a:graphicData uri="http://schemas.openxmlformats.org/drawingml/2006/chart">
            <c:chart xmlns:r="http://schemas.openxmlformats.org/officeDocument/2006/relationships" xmlns:c="http://schemas.openxmlformats.org/drawingml/2006/chart" r:id="Rbd9766e5a99f4bc6"/>
          </a:graphicData>
        </a:graphic>
      </p:graphicFrame>
      <p:sp>
        <p:nvSpPr>
          <p:cNvPr id="5" name="text-3">
            <a:extLst xmlns:a="http://schemas.openxmlformats.org/drawingml/2006/main">
              <a:ext uri="{FF2B5EF4-FFF2-40B4-BE49-F238E27FC236}">
                <a16:creationId xmlns:a16="http://schemas.microsoft.com/office/drawing/2014/main" id="{94B21F46-CC5C-4DA0-A4C1-5079518215CF}"/>
              </a:ext>
            </a:extLst>
          </p:cNvPr>
          <p:cNvSpPr>
            <a:spLocks xmlns:a="http://schemas.openxmlformats.org/drawingml/2006/main" noGrp="1"/>
          </p:cNvSpPr>
          <p:nvPr/>
        </p:nvSpPr>
        <p:spPr>
          <a:xfrm xmlns:a="http://schemas.openxmlformats.org/drawingml/2006/main">
            <a:off x="628650" y="56292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8"/>
                </a:solidFill>
                <a:latin typeface="Arial"/>
                <a:ea typeface="Arial"/>
                <a:cs typeface="Arial"/>
              </a:defRPr>
            </a:defPPr>
          </a:lstStyle>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Count 8.84%     MLUw 8.67%     Length SD 14.73%</a:t>
            </a:r>
          </a:p>
        </p:txBody>
      </p:sp>
      <p:sp>
        <p:nvSpPr>
          <p:cNvPr id="6" name="text-4">
            <a:extLst xmlns:a="http://schemas.openxmlformats.org/drawingml/2006/main">
              <a:ext uri="{FF2B5EF4-FFF2-40B4-BE49-F238E27FC236}">
                <a16:creationId xmlns:a16="http://schemas.microsoft.com/office/drawing/2014/main" id="{BAF8074E-ED43-4105-A46A-1BEFE5772F30}"/>
              </a:ext>
            </a:extLst>
          </p:cNvPr>
          <p:cNvSpPr>
            <a:spLocks xmlns:a="http://schemas.openxmlformats.org/drawingml/2006/main" noGrp="1"/>
          </p:cNvSpPr>
          <p:nvPr/>
        </p:nvSpPr>
        <p:spPr>
          <a:xfrm xmlns:a="http://schemas.openxmlformats.org/drawingml/2006/main">
            <a:off x="628650" y="61626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B78"/>
                </a:solidFill>
                <a:latin typeface="Arial"/>
                <a:ea typeface="Arial"/>
                <a:cs typeface="Arial"/>
              </a:defRPr>
            </a:defPPr>
          </a:lstStyle>
          <a:p xmlns:a="http://schemas.openxmlformats.org/drawingml/2006/main">
            <a:pPr algn="l">
              <a:defRPr sz="1425" b="0">
                <a:solidFill>
                  <a:srgbClr val="586B78"/>
                </a:solidFill>
                <a:latin typeface="Arial"/>
                <a:ea typeface="Arial"/>
                <a:cs typeface="Arial"/>
              </a:defRPr>
            </a:pPr>
            <a:r>
              <a:rPr sz="1425" b="0">
                <a:solidFill>
                  <a:srgbClr val="586B78"/>
                </a:solidFill>
                <a:latin typeface="Arial"/>
                <a:ea typeface="Arial"/>
                <a:cs typeface="Arial"/>
              </a:rPr>
              <a:t>CV tuning on 211 OCSC children. Length SD available in 558 of 567 sections.</a:t>
            </a:r>
          </a:p>
        </p:txBody>
      </p:sp>
    </p:spTree>
    <p:extLst>
      <p:ext uri="{BB962C8B-B14F-4D97-AF65-F5344CB8AC3E}">
        <p14:creationId xmlns:p14="http://schemas.microsoft.com/office/powerpoint/2010/main" val="212390584"/>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08D580C-2B92-4970-92D1-0C3B60488A2E}"/>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NYU results across the completed CV settings</a:t>
            </a:r>
          </a:p>
        </p:txBody>
      </p:sp>
      <p:sp>
        <p:nvSpPr>
          <p:cNvPr id="2" name="text-1">
            <a:extLst xmlns:a="http://schemas.openxmlformats.org/drawingml/2006/main">
              <a:ext uri="{FF2B5EF4-FFF2-40B4-BE49-F238E27FC236}">
                <a16:creationId xmlns:a16="http://schemas.microsoft.com/office/drawing/2014/main" id="{7E257E93-6F09-4348-B756-8212A4B31F9E}"/>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No completed alternative improved the combined selection objective</a:t>
            </a:r>
          </a:p>
        </p:txBody>
      </p:sp>
      <p:sp>
        <p:nvSpPr>
          <p:cNvPr id="3" name="text-2">
            <a:extLst xmlns:a="http://schemas.openxmlformats.org/drawingml/2006/main">
              <a:ext uri="{FF2B5EF4-FFF2-40B4-BE49-F238E27FC236}">
                <a16:creationId xmlns:a16="http://schemas.microsoft.com/office/drawing/2014/main" id="{AB5586C1-BAE6-4592-A427-958B703C7CB4}"/>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4050A783-B5ED-49BE-956F-4A661AFD8FC3}"/>
              </a:ext>
            </a:extLst>
          </p:cNvPr>
          <p:cNvGraphicFramePr/>
          <p:nvPr/>
        </p:nvGraphicFramePr>
        <p:xfrm>
          <a:off xmlns:a="http://schemas.openxmlformats.org/drawingml/2006/main" x="609600" y="1952625"/>
          <a:ext xmlns:a="http://schemas.openxmlformats.org/drawingml/2006/main" cx="10972800" cy="2667000"/>
        </p:xfrm>
        <a:graphic xmlns:a="http://schemas.openxmlformats.org/drawingml/2006/main">
          <a:graphicData uri="http://schemas.openxmlformats.org/drawingml/2006/table">
            <a:tbl>
              <a:tblPr firstRow="1" bandRow="0"/>
              <a:tblGrid>
                <a:gridCol w="3762375"/>
                <a:gridCol w="2381250"/>
                <a:gridCol w="2381250"/>
                <a:gridCol w="2447925"/>
              </a:tblGrid>
              <a:tr h="666750">
                <a:tc>
                  <a:txBody>
                    <a:bodyPr lIns="114300" tIns="114300" rIns="114300" bIns="114300"/>
                    <a:lstStyle/>
                    <a:p>
                      <a:pPr algn="l"/>
                      <a:r>
                        <a:rPr sz="1950" b="1">
                          <a:solidFill>
                            <a:srgbClr val="FFFFFF"/>
                          </a:solidFill>
                          <a:latin typeface="Arial"/>
                          <a:ea typeface="Arial"/>
                          <a:cs typeface="Arial"/>
                        </a:rPr>
                        <a:t>Configuration</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950" b="1">
                          <a:solidFill>
                            <a:srgbClr val="FFFFFF"/>
                          </a:solidFill>
                          <a:latin typeface="Arial"/>
                          <a:ea typeface="Arial"/>
                          <a:cs typeface="Arial"/>
                        </a:rPr>
                        <a:t>Count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950" b="1">
                          <a:solidFill>
                            <a:srgbClr val="FFFFFF"/>
                          </a:solidFill>
                          <a:latin typeface="Arial"/>
                          <a:ea typeface="Arial"/>
                          <a:cs typeface="Arial"/>
                        </a:rPr>
                        <a:t>MLUw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950" b="1">
                          <a:solidFill>
                            <a:srgbClr val="FFFFFF"/>
                          </a:solidFill>
                          <a:latin typeface="Arial"/>
                          <a:ea typeface="Arial"/>
                          <a:cs typeface="Arial"/>
                        </a:rPr>
                        <a:t>Length-SD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666750">
                <a:tc>
                  <a:txBody>
                    <a:bodyPr lIns="114300" tIns="114300" rIns="114300" bIns="114300"/>
                    <a:lstStyle/>
                    <a:p>
                      <a:pPr algn="l"/>
                      <a:r>
                        <a:rPr sz="2025" b="0">
                          <a:solidFill>
                            <a:srgbClr val="182E40"/>
                          </a:solidFill>
                          <a:latin typeface="Arial"/>
                          <a:ea typeface="Arial"/>
                          <a:cs typeface="Arial"/>
                        </a:rPr>
                        <a:t>Baseline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16.28%</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10.27%</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19.47%</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666750">
                <a:tc>
                  <a:txBody>
                    <a:bodyPr lIns="114300" tIns="114300" rIns="114300" bIns="114300"/>
                    <a:lstStyle/>
                    <a:p>
                      <a:pPr algn="l"/>
                      <a:r>
                        <a:rPr sz="2025" b="0">
                          <a:solidFill>
                            <a:srgbClr val="182E40"/>
                          </a:solidFill>
                          <a:latin typeface="Arial"/>
                          <a:ea typeface="Arial"/>
                          <a:cs typeface="Arial"/>
                        </a:rPr>
                        <a:t>Lower count loss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2025" b="0">
                          <a:solidFill>
                            <a:srgbClr val="182E40"/>
                          </a:solidFill>
                          <a:latin typeface="Arial"/>
                          <a:ea typeface="Arial"/>
                          <a:cs typeface="Arial"/>
                        </a:rPr>
                        <a:t>17.49%</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2025" b="0">
                          <a:solidFill>
                            <a:srgbClr val="182E40"/>
                          </a:solidFill>
                          <a:latin typeface="Arial"/>
                          <a:ea typeface="Arial"/>
                          <a:cs typeface="Arial"/>
                        </a:rPr>
                        <a:t>11.00%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2025" b="0">
                          <a:solidFill>
                            <a:srgbClr val="182E40"/>
                          </a:solidFill>
                          <a:latin typeface="Arial"/>
                          <a:ea typeface="Arial"/>
                          <a:cs typeface="Arial"/>
                        </a:rPr>
                        <a:t>19.42%</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666750">
                <a:tc>
                  <a:txBody>
                    <a:bodyPr lIns="114300" tIns="114300" rIns="114300" bIns="114300"/>
                    <a:lstStyle/>
                    <a:p>
                      <a:pPr algn="l"/>
                      <a:r>
                        <a:rPr sz="2025" b="0">
                          <a:solidFill>
                            <a:srgbClr val="182E40"/>
                          </a:solidFill>
                          <a:latin typeface="Arial"/>
                          <a:ea typeface="Arial"/>
                          <a:cs typeface="Arial"/>
                        </a:rPr>
                        <a:t>Higher learning rate</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16.12%</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12.10%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2025" b="0">
                          <a:solidFill>
                            <a:srgbClr val="182E40"/>
                          </a:solidFill>
                          <a:latin typeface="Arial"/>
                          <a:ea typeface="Arial"/>
                          <a:cs typeface="Arial"/>
                        </a:rPr>
                        <a:t>20.31%</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623D3A08-C194-48A5-9A82-E8D3B9B296E9}"/>
              </a:ext>
            </a:extLst>
          </p:cNvPr>
          <p:cNvSpPr>
            <a:spLocks xmlns:a="http://schemas.openxmlformats.org/drawingml/2006/main" noGrp="1"/>
          </p:cNvSpPr>
          <p:nvPr/>
        </p:nvSpPr>
        <p:spPr>
          <a:xfrm xmlns:a="http://schemas.openxmlformats.org/drawingml/2006/main">
            <a:off x="628650" y="50768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78"/>
                </a:solidFill>
                <a:latin typeface="Arial"/>
                <a:ea typeface="Arial"/>
                <a:cs typeface="Arial"/>
              </a:defRPr>
            </a:defPPr>
          </a:lstStyle>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Baseline remains the best completed NYU three-metric mean.</a:t>
            </a:r>
          </a:p>
        </p:txBody>
      </p:sp>
      <p:sp>
        <p:nvSpPr>
          <p:cNvPr id="6" name="text-4">
            <a:extLst xmlns:a="http://schemas.openxmlformats.org/drawingml/2006/main">
              <a:ext uri="{FF2B5EF4-FFF2-40B4-BE49-F238E27FC236}">
                <a16:creationId xmlns:a16="http://schemas.microsoft.com/office/drawing/2014/main" id="{D294A8D4-70B8-4DB5-AB79-A84835ACDB8C}"/>
              </a:ext>
            </a:extLst>
          </p:cNvPr>
          <p:cNvSpPr>
            <a:spLocks xmlns:a="http://schemas.openxmlformats.org/drawingml/2006/main" noGrp="1"/>
          </p:cNvSpPr>
          <p:nvPr/>
        </p:nvSpPr>
        <p:spPr>
          <a:xfrm xmlns:a="http://schemas.openxmlformats.org/drawingml/2006/main">
            <a:off x="628650" y="56959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B78"/>
                </a:solidFill>
                <a:latin typeface="Arial"/>
                <a:ea typeface="Arial"/>
                <a:cs typeface="Arial"/>
              </a:defRPr>
            </a:defPPr>
          </a:lstStyle>
          <a:p xmlns:a="http://schemas.openxmlformats.org/drawingml/2006/main">
            <a:pPr algn="l">
              <a:defRPr sz="1875" b="0">
                <a:solidFill>
                  <a:srgbClr val="586B78"/>
                </a:solidFill>
                <a:latin typeface="Arial"/>
                <a:ea typeface="Arial"/>
                <a:cs typeface="Arial"/>
              </a:defRPr>
            </a:pPr>
            <a:r>
              <a:rPr sz="1875" b="0">
                <a:solidFill>
                  <a:srgbClr val="586B78"/>
                </a:solidFill>
                <a:latin typeface="Arial"/>
                <a:ea typeface="Arial"/>
                <a:cs typeface="Arial"/>
              </a:rPr>
              <a:t>NYU has 20 usable training children. Each heldout fold contains four.</a:t>
            </a:r>
          </a:p>
        </p:txBody>
      </p:sp>
    </p:spTree>
    <p:extLst>
      <p:ext uri="{BB962C8B-B14F-4D97-AF65-F5344CB8AC3E}">
        <p14:creationId xmlns:p14="http://schemas.microsoft.com/office/powerpoint/2010/main" val="1999247193"/>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AE25A1A-878F-49E3-9DCE-81F551F92AF9}"/>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Existing production-test results</a:t>
            </a:r>
          </a:p>
        </p:txBody>
      </p:sp>
      <p:sp>
        <p:nvSpPr>
          <p:cNvPr id="2" name="text-1">
            <a:extLst xmlns:a="http://schemas.openxmlformats.org/drawingml/2006/main">
              <a:ext uri="{FF2B5EF4-FFF2-40B4-BE49-F238E27FC236}">
                <a16:creationId xmlns:a16="http://schemas.microsoft.com/office/drawing/2014/main" id="{12533032-80FA-4E36-8080-DA3E87920CF2}"/>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The retained model’s test scores remain separate from CV tuning results</a:t>
            </a:r>
          </a:p>
        </p:txBody>
      </p:sp>
      <p:sp>
        <p:nvSpPr>
          <p:cNvPr id="3" name="text-2">
            <a:extLst xmlns:a="http://schemas.openxmlformats.org/drawingml/2006/main">
              <a:ext uri="{FF2B5EF4-FFF2-40B4-BE49-F238E27FC236}">
                <a16:creationId xmlns:a16="http://schemas.microsoft.com/office/drawing/2014/main" id="{0EF3EE62-2E29-4CDE-93D7-279CE3D6A7D2}"/>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F1D33350-8D0C-44C0-88B0-7E74487F104B}"/>
              </a:ext>
            </a:extLst>
          </p:cNvPr>
          <p:cNvGraphicFramePr/>
          <p:nvPr/>
        </p:nvGraphicFramePr>
        <p:xfrm>
          <a:off xmlns:a="http://schemas.openxmlformats.org/drawingml/2006/main" x="609600" y="1762125"/>
          <a:ext xmlns:a="http://schemas.openxmlformats.org/drawingml/2006/main" cx="10972800" cy="1714500"/>
        </p:xfrm>
        <a:graphic xmlns:a="http://schemas.openxmlformats.org/drawingml/2006/main">
          <a:graphicData uri="http://schemas.openxmlformats.org/drawingml/2006/table">
            <a:tbl>
              <a:tblPr firstRow="1" bandRow="0"/>
              <a:tblGrid>
                <a:gridCol w="2476500"/>
                <a:gridCol w="2505075"/>
                <a:gridCol w="2000250"/>
                <a:gridCol w="2000250"/>
                <a:gridCol w="1990725"/>
              </a:tblGrid>
              <a:tr h="571500">
                <a:tc>
                  <a:txBody>
                    <a:bodyPr lIns="114300" tIns="114300" rIns="114300" bIns="114300"/>
                    <a:lstStyle/>
                    <a:p>
                      <a:pPr algn="l"/>
                      <a:r>
                        <a:rPr sz="1800" b="1">
                          <a:solidFill>
                            <a:srgbClr val="FFFFFF"/>
                          </a:solidFill>
                          <a:latin typeface="Arial"/>
                          <a:ea typeface="Arial"/>
                          <a:cs typeface="Arial"/>
                        </a:rPr>
                        <a:t>Test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Children / sections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Count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MLUw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Length-SD error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71500">
                <a:tc>
                  <a:txBody>
                    <a:bodyPr lIns="114300" tIns="114300" rIns="114300" bIns="114300"/>
                    <a:lstStyle/>
                    <a:p>
                      <a:pPr algn="l"/>
                      <a:r>
                        <a:rPr sz="1875" b="0">
                          <a:solidFill>
                            <a:srgbClr val="182E40"/>
                          </a:solidFill>
                          <a:latin typeface="Arial"/>
                          <a:ea typeface="Arial"/>
                          <a:cs typeface="Arial"/>
                        </a:rPr>
                        <a:t>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45 / 111</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10.36%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8.70%</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14.24%</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71500">
                <a:tc>
                  <a:txBody>
                    <a:bodyPr lIns="114300" tIns="114300" rIns="114300" bIns="114300"/>
                    <a:lstStyle/>
                    <a:p>
                      <a:pPr algn="l"/>
                      <a:r>
                        <a:rPr sz="1875" b="0">
                          <a:solidFill>
                            <a:srgbClr val="182E40"/>
                          </a:solidFill>
                          <a:latin typeface="Arial"/>
                          <a:ea typeface="Arial"/>
                          <a:cs typeface="Arial"/>
                        </a:rPr>
                        <a:t>NYU–Emerson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4 / 15</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29.98%</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16.57%</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13.70%</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598CC07A-5A55-4F33-B738-DC4BAAFFFD06}"/>
              </a:ext>
            </a:extLst>
          </p:cNvPr>
          <p:cNvSpPr>
            <a:spLocks xmlns:a="http://schemas.openxmlformats.org/drawingml/2006/main" noGrp="1"/>
          </p:cNvSpPr>
          <p:nvPr/>
        </p:nvSpPr>
        <p:spPr>
          <a:xfrm xmlns:a="http://schemas.openxmlformats.org/drawingml/2006/main">
            <a:off x="628650" y="38100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7F78"/>
                </a:solidFill>
                <a:latin typeface="Arial"/>
                <a:ea typeface="Arial"/>
                <a:cs typeface="Arial"/>
              </a:defRPr>
            </a:defPPr>
          </a:lstStyle>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Vocabulary agreement is stronger</a:t>
            </a:r>
          </a:p>
        </p:txBody>
      </p:sp>
      <p:graphicFrame>
        <p:nvGraphicFramePr>
          <p:cNvPr id="6" name="">
            <a:extLst xmlns:a="http://schemas.openxmlformats.org/drawingml/2006/main">
              <a:ext uri="{FF2B5EF4-FFF2-40B4-BE49-F238E27FC236}">
                <a16:creationId xmlns:a16="http://schemas.microsoft.com/office/drawing/2014/main" id="{385157AD-9876-4D01-A499-A6F21E4E3DBF}"/>
              </a:ext>
            </a:extLst>
          </p:cNvPr>
          <p:cNvGraphicFramePr/>
          <p:nvPr/>
        </p:nvGraphicFramePr>
        <p:xfrm>
          <a:off xmlns:a="http://schemas.openxmlformats.org/drawingml/2006/main" x="609600" y="4362450"/>
          <a:ext xmlns:a="http://schemas.openxmlformats.org/drawingml/2006/main" cx="10972800" cy="1657350"/>
        </p:xfrm>
        <a:graphic xmlns:a="http://schemas.openxmlformats.org/drawingml/2006/main">
          <a:graphicData uri="http://schemas.openxmlformats.org/drawingml/2006/table">
            <a:tbl>
              <a:tblPr firstRow="1" bandRow="0"/>
              <a:tblGrid>
                <a:gridCol w="2476500"/>
                <a:gridCol w="2124075"/>
                <a:gridCol w="2371725"/>
                <a:gridCol w="2000250"/>
                <a:gridCol w="2000250"/>
              </a:tblGrid>
              <a:tr h="552450">
                <a:tc>
                  <a:txBody>
                    <a:bodyPr lIns="114300" tIns="114300" rIns="114300" bIns="114300"/>
                    <a:lstStyle/>
                    <a:p>
                      <a:pPr algn="l"/>
                      <a:r>
                        <a:rPr sz="1725" b="1">
                          <a:solidFill>
                            <a:srgbClr val="FFFFFF"/>
                          </a:solidFill>
                          <a:latin typeface="Arial"/>
                          <a:ea typeface="Arial"/>
                          <a:cs typeface="Arial"/>
                        </a:rPr>
                        <a:t>Test source</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Total words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Different words</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TTR</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725" b="1">
                          <a:solidFill>
                            <a:srgbClr val="FFFFFF"/>
                          </a:solidFill>
                          <a:latin typeface="Arial"/>
                          <a:ea typeface="Arial"/>
                          <a:cs typeface="Arial"/>
                        </a:rPr>
                        <a:t>MATTR-50</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52450">
                <a:tc>
                  <a:txBody>
                    <a:bodyPr lIns="114300" tIns="114300" rIns="114300" bIns="114300"/>
                    <a:lstStyle/>
                    <a:p>
                      <a:pPr algn="l"/>
                      <a:r>
                        <a:rPr sz="1800" b="0">
                          <a:solidFill>
                            <a:srgbClr val="182E40"/>
                          </a:solidFill>
                          <a:latin typeface="Arial"/>
                          <a:ea typeface="Arial"/>
                          <a:cs typeface="Arial"/>
                        </a:rPr>
                        <a:t>OCSC</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1.86%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1.79%</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1.14%</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00" b="0">
                          <a:solidFill>
                            <a:srgbClr val="182E40"/>
                          </a:solidFill>
                          <a:latin typeface="Arial"/>
                          <a:ea typeface="Arial"/>
                          <a:cs typeface="Arial"/>
                        </a:rPr>
                        <a:t>0.49%</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52450">
                <a:tc>
                  <a:txBody>
                    <a:bodyPr lIns="114300" tIns="114300" rIns="114300" bIns="114300"/>
                    <a:lstStyle/>
                    <a:p>
                      <a:pPr algn="l"/>
                      <a:r>
                        <a:rPr sz="1800" b="0">
                          <a:solidFill>
                            <a:srgbClr val="182E40"/>
                          </a:solidFill>
                          <a:latin typeface="Arial"/>
                          <a:ea typeface="Arial"/>
                          <a:cs typeface="Arial"/>
                        </a:rPr>
                        <a:t>NYU–Emerson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2.34%</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1.69%</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1.90%</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00" b="0">
                          <a:solidFill>
                            <a:srgbClr val="182E40"/>
                          </a:solidFill>
                          <a:latin typeface="Arial"/>
                          <a:ea typeface="Arial"/>
                          <a:cs typeface="Arial"/>
                        </a:rPr>
                        <a:t>1.97%</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bl>
          </a:graphicData>
        </a:graphic>
      </p:graphicFrame>
      <p:sp>
        <p:nvSpPr>
          <p:cNvPr id="7" name="text-4">
            <a:extLst xmlns:a="http://schemas.openxmlformats.org/drawingml/2006/main">
              <a:ext uri="{FF2B5EF4-FFF2-40B4-BE49-F238E27FC236}">
                <a16:creationId xmlns:a16="http://schemas.microsoft.com/office/drawing/2014/main" id="{69B6093B-5C48-454F-9F61-933F255F2C53}"/>
              </a:ext>
            </a:extLst>
          </p:cNvPr>
          <p:cNvSpPr>
            <a:spLocks xmlns:a="http://schemas.openxmlformats.org/drawingml/2006/main" noGrp="1"/>
          </p:cNvSpPr>
          <p:nvPr/>
        </p:nvSpPr>
        <p:spPr>
          <a:xfrm xmlns:a="http://schemas.openxmlformats.org/drawingml/2006/main">
            <a:off x="628650" y="61436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86B78"/>
                </a:solidFill>
                <a:latin typeface="Arial"/>
                <a:ea typeface="Arial"/>
                <a:cs typeface="Arial"/>
              </a:defRPr>
            </a:defPPr>
          </a:lstStyle>
          <a:p xmlns:a="http://schemas.openxmlformats.org/drawingml/2006/main">
            <a:pPr algn="l">
              <a:defRPr sz="1350" b="0">
                <a:solidFill>
                  <a:srgbClr val="586B78"/>
                </a:solidFill>
                <a:latin typeface="Arial"/>
                <a:ea typeface="Arial"/>
                <a:cs typeface="Arial"/>
              </a:defRPr>
            </a:pPr>
            <a:r>
              <a:rPr sz="1350" b="0">
                <a:solidFill>
                  <a:srgbClr val="586B78"/>
                </a:solidFill>
                <a:latin typeface="Arial"/>
                <a:ea typeface="Arial"/>
                <a:cs typeface="Arial"/>
              </a:rPr>
              <a:t>All values are mean participant APE. OCSC has 2 unavailable SD and 7 unavailable MATTR sections.</a:t>
            </a:r>
          </a:p>
        </p:txBody>
      </p:sp>
    </p:spTree>
    <p:extLst>
      <p:ext uri="{BB962C8B-B14F-4D97-AF65-F5344CB8AC3E}">
        <p14:creationId xmlns:p14="http://schemas.microsoft.com/office/powerpoint/2010/main" val="1850879274"/>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09A2EBC-B39F-493C-91DD-95264D8DC47B}"/>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Why NYU count and MLU errors are larger</a:t>
            </a:r>
          </a:p>
        </p:txBody>
      </p:sp>
      <p:sp>
        <p:nvSpPr>
          <p:cNvPr id="2" name="text-1">
            <a:extLst xmlns:a="http://schemas.openxmlformats.org/drawingml/2006/main">
              <a:ext uri="{FF2B5EF4-FFF2-40B4-BE49-F238E27FC236}">
                <a16:creationId xmlns:a16="http://schemas.microsoft.com/office/drawing/2014/main" id="{8759173F-8A47-4FFC-8EB5-102336FC793B}"/>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Descriptive differences support an explanation, not a single proven cause</a:t>
            </a:r>
          </a:p>
        </p:txBody>
      </p:sp>
      <p:sp>
        <p:nvSpPr>
          <p:cNvPr id="3" name="text-2">
            <a:extLst xmlns:a="http://schemas.openxmlformats.org/drawingml/2006/main">
              <a:ext uri="{FF2B5EF4-FFF2-40B4-BE49-F238E27FC236}">
                <a16:creationId xmlns:a16="http://schemas.microsoft.com/office/drawing/2014/main" id="{30E35101-4C02-44F2-881F-B63BB89FAF6C}"/>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D93B30DD-461D-4C4A-BC17-BA53A6C6F761}"/>
              </a:ext>
            </a:extLst>
          </p:cNvPr>
          <p:cNvGraphicFramePr/>
          <p:nvPr/>
        </p:nvGraphicFramePr>
        <p:xfrm>
          <a:off xmlns:a="http://schemas.openxmlformats.org/drawingml/2006/main" x="609600" y="1733550"/>
          <a:ext xmlns:a="http://schemas.openxmlformats.org/drawingml/2006/main" cx="10972800" cy="3371850"/>
        </p:xfrm>
        <a:graphic xmlns:a="http://schemas.openxmlformats.org/drawingml/2006/main">
          <a:graphicData uri="http://schemas.openxmlformats.org/drawingml/2006/table">
            <a:tbl>
              <a:tblPr firstRow="1" bandRow="0"/>
              <a:tblGrid>
                <a:gridCol w="6096000"/>
                <a:gridCol w="2438400"/>
                <a:gridCol w="2438400"/>
              </a:tblGrid>
              <a:tr h="561975">
                <a:tc>
                  <a:txBody>
                    <a:bodyPr lIns="114300" tIns="114300" rIns="114300" bIns="114300"/>
                    <a:lstStyle/>
                    <a:p>
                      <a:pPr algn="l"/>
                      <a:r>
                        <a:rPr sz="1800" b="1">
                          <a:solidFill>
                            <a:srgbClr val="FFFFFF"/>
                          </a:solidFill>
                          <a:latin typeface="Arial"/>
                          <a:ea typeface="Arial"/>
                          <a:cs typeface="Arial"/>
                        </a:rPr>
                        <a:t>Input characteristic</a:t>
                      </a:r>
                    </a:p>
                  </a:txBody>
                  <a:tcPr marL="91440" marR="91440" marT="45720" marB="45720" anchor="ctr">
                    <a:lnL w="6668">
                      <a:solidFill>
                        <a:srgbClr val="CBD5D9"/>
                      </a:solidFill>
                      <a:prstDash val="solid"/>
                    </a:lnL>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NYU–Emerson</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c>
                  <a:txBody>
                    <a:bodyPr lIns="114300" tIns="114300" rIns="114300" bIns="114300"/>
                    <a:lstStyle/>
                    <a:p>
                      <a:pPr algn="l"/>
                      <a:r>
                        <a:rPr sz="1800" b="1">
                          <a:solidFill>
                            <a:srgbClr val="FFFFFF"/>
                          </a:solidFill>
                          <a:latin typeface="Arial"/>
                          <a:ea typeface="Arial"/>
                          <a:cs typeface="Arial"/>
                        </a:rPr>
                        <a:t>OCSC</a:t>
                      </a:r>
                    </a:p>
                  </a:txBody>
                  <a:tcPr marL="91440" marR="91440" marT="45720" marB="45720" anchor="ctr">
                    <a:lnR w="6668">
                      <a:solidFill>
                        <a:srgbClr val="CBD5D9"/>
                      </a:solidFill>
                      <a:prstDash val="solid"/>
                    </a:lnR>
                    <a:lnT w="6668">
                      <a:solidFill>
                        <a:srgbClr val="CBD5D9"/>
                      </a:solidFill>
                      <a:prstDash val="solid"/>
                    </a:lnT>
                    <a:lnB w="6668">
                      <a:solidFill>
                        <a:srgbClr val="CBD5D9"/>
                      </a:solidFill>
                      <a:prstDash val="solid"/>
                    </a:lnB>
                    <a:solidFill>
                      <a:srgbClr val="182E40"/>
                    </a:solidFill>
                  </a:tcPr>
                </a:tc>
              </a:tr>
              <a:tr h="561975">
                <a:tc>
                  <a:txBody>
                    <a:bodyPr lIns="114300" tIns="114300" rIns="114300" bIns="114300"/>
                    <a:lstStyle/>
                    <a:p>
                      <a:pPr algn="l"/>
                      <a:r>
                        <a:rPr sz="1875" b="0">
                          <a:solidFill>
                            <a:srgbClr val="182E40"/>
                          </a:solidFill>
                          <a:latin typeface="Arial"/>
                          <a:ea typeface="Arial"/>
                          <a:cs typeface="Arial"/>
                        </a:rPr>
                        <a:t>Median age, years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4.58</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7.22</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61975">
                <a:tc>
                  <a:txBody>
                    <a:bodyPr lIns="114300" tIns="114300" rIns="114300" bIns="114300"/>
                    <a:lstStyle/>
                    <a:p>
                      <a:pPr algn="l"/>
                      <a:r>
                        <a:rPr sz="1875" b="0">
                          <a:solidFill>
                            <a:srgbClr val="182E40"/>
                          </a:solidFill>
                          <a:latin typeface="Arial"/>
                          <a:ea typeface="Arial"/>
                          <a:cs typeface="Arial"/>
                        </a:rPr>
                        <a:t>Median words per observed turn</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2</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5</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561975">
                <a:tc>
                  <a:txBody>
                    <a:bodyPr lIns="114300" tIns="114300" rIns="114300" bIns="114300"/>
                    <a:lstStyle/>
                    <a:p>
                      <a:pPr algn="l"/>
                      <a:r>
                        <a:rPr sz="1875" b="0">
                          <a:solidFill>
                            <a:srgbClr val="182E40"/>
                          </a:solidFill>
                          <a:latin typeface="Arial"/>
                          <a:ea typeface="Arial"/>
                          <a:cs typeface="Arial"/>
                        </a:rPr>
                        <a:t>Turns with at most 3 words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70.07%</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40.56%</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r h="561975">
                <a:tc>
                  <a:txBody>
                    <a:bodyPr lIns="114300" tIns="114300" rIns="114300" bIns="114300"/>
                    <a:lstStyle/>
                    <a:p>
                      <a:pPr algn="l"/>
                      <a:r>
                        <a:rPr sz="1875" b="0">
                          <a:solidFill>
                            <a:srgbClr val="182E40"/>
                          </a:solidFill>
                          <a:latin typeface="Arial"/>
                          <a:ea typeface="Arial"/>
                          <a:cs typeface="Arial"/>
                        </a:rPr>
                        <a:t>Unintelligibility tokens / 1,000 words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79.49</a:t>
                      </a:r>
                    </a:p>
                  </a:txBody>
                  <a:tcPr marL="91440" marR="91440" marT="45720" marB="45720" anchor="ctr">
                    <a:lnR w="6668">
                      <a:solidFill>
                        <a:srgbClr val="CBD5D9"/>
                      </a:solidFill>
                      <a:prstDash val="solid"/>
                    </a:lnR>
                    <a:lnB w="6668">
                      <a:solidFill>
                        <a:srgbClr val="CBD5D9"/>
                      </a:solidFill>
                      <a:prstDash val="solid"/>
                    </a:lnB>
                    <a:solidFill>
                      <a:srgbClr val="FFFFFF"/>
                    </a:solidFill>
                  </a:tcPr>
                </a:tc>
                <a:tc>
                  <a:txBody>
                    <a:bodyPr lIns="114300" tIns="114300" rIns="114300" bIns="114300"/>
                    <a:lstStyle/>
                    <a:p>
                      <a:pPr algn="l"/>
                      <a:r>
                        <a:rPr sz="1875" b="0">
                          <a:solidFill>
                            <a:srgbClr val="182E40"/>
                          </a:solidFill>
                          <a:latin typeface="Arial"/>
                          <a:ea typeface="Arial"/>
                          <a:cs typeface="Arial"/>
                        </a:rPr>
                        <a:t>5.73</a:t>
                      </a:r>
                    </a:p>
                  </a:txBody>
                  <a:tcPr marL="91440" marR="91440" marT="45720" marB="45720" anchor="ctr">
                    <a:lnR w="6668">
                      <a:solidFill>
                        <a:srgbClr val="CBD5D9"/>
                      </a:solidFill>
                      <a:prstDash val="solid"/>
                    </a:lnR>
                    <a:lnB w="6668">
                      <a:solidFill>
                        <a:srgbClr val="CBD5D9"/>
                      </a:solidFill>
                      <a:prstDash val="solid"/>
                    </a:lnB>
                    <a:solidFill>
                      <a:srgbClr val="FFFFFF"/>
                    </a:solidFill>
                  </a:tcPr>
                </a:tc>
              </a:tr>
              <a:tr h="561975">
                <a:tc>
                  <a:txBody>
                    <a:bodyPr lIns="114300" tIns="114300" rIns="114300" bIns="114300"/>
                    <a:lstStyle/>
                    <a:p>
                      <a:pPr algn="l"/>
                      <a:r>
                        <a:rPr sz="1875" b="0">
                          <a:solidFill>
                            <a:srgbClr val="182E40"/>
                          </a:solidFill>
                          <a:latin typeface="Arial"/>
                          <a:ea typeface="Arial"/>
                          <a:cs typeface="Arial"/>
                        </a:rPr>
                        <a:t>Training words</a:t>
                      </a:r>
                    </a:p>
                  </a:txBody>
                  <a:tcPr marL="91440" marR="91440" marT="45720" marB="45720" anchor="ctr">
                    <a:lnL w="6668">
                      <a:solidFill>
                        <a:srgbClr val="CBD5D9"/>
                      </a:solidFill>
                      <a:prstDash val="solid"/>
                    </a:lnL>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5,336</a:t>
                      </a:r>
                    </a:p>
                  </a:txBody>
                  <a:tcPr marL="91440" marR="91440" marT="45720" marB="45720" anchor="ctr">
                    <a:lnR w="6668">
                      <a:solidFill>
                        <a:srgbClr val="CBD5D9"/>
                      </a:solidFill>
                      <a:prstDash val="solid"/>
                    </a:lnR>
                    <a:lnB w="6668">
                      <a:solidFill>
                        <a:srgbClr val="CBD5D9"/>
                      </a:solidFill>
                      <a:prstDash val="solid"/>
                    </a:lnB>
                    <a:solidFill>
                      <a:srgbClr val="F8F7F3"/>
                    </a:solidFill>
                  </a:tcPr>
                </a:tc>
                <a:tc>
                  <a:txBody>
                    <a:bodyPr lIns="114300" tIns="114300" rIns="114300" bIns="114300"/>
                    <a:lstStyle/>
                    <a:p>
                      <a:pPr algn="l"/>
                      <a:r>
                        <a:rPr sz="1875" b="0">
                          <a:solidFill>
                            <a:srgbClr val="182E40"/>
                          </a:solidFill>
                          <a:latin typeface="Arial"/>
                          <a:ea typeface="Arial"/>
                          <a:cs typeface="Arial"/>
                        </a:rPr>
                        <a:t>229,378</a:t>
                      </a:r>
                    </a:p>
                  </a:txBody>
                  <a:tcPr marL="91440" marR="91440" marT="45720" marB="45720" anchor="ctr">
                    <a:lnR w="6668">
                      <a:solidFill>
                        <a:srgbClr val="CBD5D9"/>
                      </a:solidFill>
                      <a:prstDash val="solid"/>
                    </a:lnR>
                    <a:lnB w="6668">
                      <a:solidFill>
                        <a:srgbClr val="CBD5D9"/>
                      </a:solidFill>
                      <a:prstDash val="solid"/>
                    </a:lnB>
                    <a:solidFill>
                      <a:srgbClr val="F8F7F3"/>
                    </a:solidFill>
                  </a:tcPr>
                </a:tc>
              </a:tr>
            </a:tbl>
          </a:graphicData>
        </a:graphic>
      </p:graphicFrame>
      <p:sp>
        <p:nvSpPr>
          <p:cNvPr id="5" name="text-3">
            <a:extLst xmlns:a="http://schemas.openxmlformats.org/drawingml/2006/main">
              <a:ext uri="{FF2B5EF4-FFF2-40B4-BE49-F238E27FC236}">
                <a16:creationId xmlns:a16="http://schemas.microsoft.com/office/drawing/2014/main" id="{26C35FB2-8A59-498A-BD6D-28D1CA47F1CB}"/>
              </a:ext>
            </a:extLst>
          </p:cNvPr>
          <p:cNvSpPr>
            <a:spLocks xmlns:a="http://schemas.openxmlformats.org/drawingml/2006/main" noGrp="1"/>
          </p:cNvSpPr>
          <p:nvPr/>
        </p:nvSpPr>
        <p:spPr>
          <a:xfrm xmlns:a="http://schemas.openxmlformats.org/drawingml/2006/main">
            <a:off x="628650" y="5438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F78"/>
                </a:solidFill>
                <a:latin typeface="Arial"/>
                <a:ea typeface="Arial"/>
                <a:cs typeface="Arial"/>
              </a:defRPr>
            </a:defPPr>
          </a:lstStyle>
          <a:p xmlns:a="http://schemas.openxmlformats.org/drawingml/2006/main">
            <a:pPr algn="l">
              <a:defRPr sz="1950" b="1">
                <a:solidFill>
                  <a:srgbClr val="007F78"/>
                </a:solidFill>
                <a:latin typeface="Arial"/>
                <a:ea typeface="Arial"/>
                <a:cs typeface="Arial"/>
              </a:defRPr>
            </a:pPr>
            <a:r>
              <a:rPr sz="1950" b="1">
                <a:solidFill>
                  <a:srgbClr val="007F78"/>
                </a:solidFill>
                <a:latin typeface="Arial"/>
                <a:ea typeface="Arial"/>
                <a:cs typeface="Arial"/>
              </a:rPr>
              <a:t>These input differences plausibly contribute to NYU’s larger count and MLU errors.</a:t>
            </a:r>
          </a:p>
        </p:txBody>
      </p:sp>
      <p:sp>
        <p:nvSpPr>
          <p:cNvPr id="6" name="text-4">
            <a:extLst xmlns:a="http://schemas.openxmlformats.org/drawingml/2006/main">
              <a:ext uri="{FF2B5EF4-FFF2-40B4-BE49-F238E27FC236}">
                <a16:creationId xmlns:a16="http://schemas.microsoft.com/office/drawing/2014/main" id="{8AD6DB8A-DF95-424B-BE30-66CF65A14C5B}"/>
              </a:ext>
            </a:extLst>
          </p:cNvPr>
          <p:cNvSpPr>
            <a:spLocks xmlns:a="http://schemas.openxmlformats.org/drawingml/2006/main" noGrp="1"/>
          </p:cNvSpPr>
          <p:nvPr/>
        </p:nvSpPr>
        <p:spPr>
          <a:xfrm xmlns:a="http://schemas.openxmlformats.org/drawingml/2006/main">
            <a:off x="628650" y="61436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B78"/>
                </a:solidFill>
                <a:latin typeface="Arial"/>
                <a:ea typeface="Arial"/>
                <a:cs typeface="Arial"/>
              </a:defRPr>
            </a:defPPr>
          </a:lstStyle>
          <a:p xmlns:a="http://schemas.openxmlformats.org/drawingml/2006/main">
            <a:pPr algn="l">
              <a:defRPr sz="1425" b="0">
                <a:solidFill>
                  <a:srgbClr val="586B78"/>
                </a:solidFill>
                <a:latin typeface="Arial"/>
                <a:ea typeface="Arial"/>
                <a:cs typeface="Arial"/>
              </a:defRPr>
            </a:pPr>
            <a:r>
              <a:rPr sz="1425" b="0">
                <a:solidFill>
                  <a:srgbClr val="586B78"/>
                </a:solidFill>
                <a:latin typeface="Arial"/>
                <a:ea typeface="Arial"/>
                <a:cs typeface="Arial"/>
              </a:rPr>
              <a:t>Original train + eval statistics. Word totals use train only. Ages come from CHAT headers.</a:t>
            </a:r>
          </a:p>
        </p:txBody>
      </p:sp>
    </p:spTree>
    <p:extLst>
      <p:ext uri="{BB962C8B-B14F-4D97-AF65-F5344CB8AC3E}">
        <p14:creationId xmlns:p14="http://schemas.microsoft.com/office/powerpoint/2010/main" val="1095761839"/>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F8D7EC7-158D-4C26-B0DB-FC7B30A56027}"/>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Final state of this phase</a:t>
            </a:r>
          </a:p>
        </p:txBody>
      </p:sp>
      <p:sp>
        <p:nvSpPr>
          <p:cNvPr id="2" name="text-1">
            <a:extLst xmlns:a="http://schemas.openxmlformats.org/drawingml/2006/main">
              <a:ext uri="{FF2B5EF4-FFF2-40B4-BE49-F238E27FC236}">
                <a16:creationId xmlns:a16="http://schemas.microsoft.com/office/drawing/2014/main" id="{F38CE77D-0D9C-48EB-9523-544B1B64F18D}"/>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16</a:t>
            </a:r>
          </a:p>
        </p:txBody>
      </p:sp>
      <p:sp>
        <p:nvSpPr>
          <p:cNvPr id="3" name="text-2">
            <a:extLst xmlns:a="http://schemas.openxmlformats.org/drawingml/2006/main">
              <a:ext uri="{FF2B5EF4-FFF2-40B4-BE49-F238E27FC236}">
                <a16:creationId xmlns:a16="http://schemas.microsoft.com/office/drawing/2014/main" id="{BCC6EE19-B3B7-4CCB-A424-F6EA2DC581C0}"/>
              </a:ext>
            </a:extLst>
          </p:cNvPr>
          <p:cNvSpPr>
            <a:spLocks xmlns:a="http://schemas.openxmlformats.org/drawingml/2006/main" noGrp="1"/>
          </p:cNvSpPr>
          <p:nvPr/>
        </p:nvSpPr>
        <p:spPr>
          <a:xfrm xmlns:a="http://schemas.openxmlformats.org/drawingml/2006/main">
            <a:off x="628650" y="17811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LUCID</a:t>
            </a:r>
          </a:p>
        </p:txBody>
      </p:sp>
      <p:sp>
        <p:nvSpPr>
          <p:cNvPr id="4" name="text-3">
            <a:extLst xmlns:a="http://schemas.openxmlformats.org/drawingml/2006/main">
              <a:ext uri="{FF2B5EF4-FFF2-40B4-BE49-F238E27FC236}">
                <a16:creationId xmlns:a16="http://schemas.microsoft.com/office/drawing/2014/main" id="{0B32C660-ACCA-45BC-8FF2-DFFF0EE614DC}"/>
              </a:ext>
            </a:extLst>
          </p:cNvPr>
          <p:cNvSpPr>
            <a:spLocks xmlns:a="http://schemas.openxmlformats.org/drawingml/2006/main" noGrp="1"/>
          </p:cNvSpPr>
          <p:nvPr/>
        </p:nvSpPr>
        <p:spPr>
          <a:xfrm xmlns:a="http://schemas.openxmlformats.org/drawingml/2006/main">
            <a:off x="3105150" y="1781175"/>
            <a:ext cx="8172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E40"/>
                </a:solidFill>
                <a:latin typeface="Arial"/>
                <a:ea typeface="Arial"/>
                <a:cs typeface="Arial"/>
              </a:defRPr>
            </a:defPPr>
          </a:lstStyle>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Strong published lexical agreement in babble and L2.</a:t>
            </a:r>
          </a:p>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No-barrier word-count error remains 16.60%. Vocoder is unresolved.</a:t>
            </a:r>
          </a:p>
        </p:txBody>
      </p:sp>
      <p:sp>
        <p:nvSpPr>
          <p:cNvPr id="5" name="text-4">
            <a:extLst xmlns:a="http://schemas.openxmlformats.org/drawingml/2006/main">
              <a:ext uri="{FF2B5EF4-FFF2-40B4-BE49-F238E27FC236}">
                <a16:creationId xmlns:a16="http://schemas.microsoft.com/office/drawing/2014/main" id="{F82F5FE7-90F1-415D-BFEE-9859B3B45C6A}"/>
              </a:ext>
            </a:extLst>
          </p:cNvPr>
          <p:cNvSpPr>
            <a:spLocks xmlns:a="http://schemas.openxmlformats.org/drawingml/2006/main" noGrp="1"/>
          </p:cNvSpPr>
          <p:nvPr/>
        </p:nvSpPr>
        <p:spPr>
          <a:xfrm xmlns:a="http://schemas.openxmlformats.org/drawingml/2006/main">
            <a:off x="628650" y="305752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OCSC</a:t>
            </a:r>
          </a:p>
        </p:txBody>
      </p:sp>
      <p:sp>
        <p:nvSpPr>
          <p:cNvPr id="6" name="text-5">
            <a:extLst xmlns:a="http://schemas.openxmlformats.org/drawingml/2006/main">
              <a:ext uri="{FF2B5EF4-FFF2-40B4-BE49-F238E27FC236}">
                <a16:creationId xmlns:a16="http://schemas.microsoft.com/office/drawing/2014/main" id="{6BA1D46D-C507-4C44-BE53-E7C648B571D6}"/>
              </a:ext>
            </a:extLst>
          </p:cNvPr>
          <p:cNvSpPr>
            <a:spLocks xmlns:a="http://schemas.openxmlformats.org/drawingml/2006/main" noGrp="1"/>
          </p:cNvSpPr>
          <p:nvPr/>
        </p:nvSpPr>
        <p:spPr>
          <a:xfrm xmlns:a="http://schemas.openxmlformats.org/drawingml/2006/main">
            <a:off x="3105150" y="3057525"/>
            <a:ext cx="8172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E40"/>
                </a:solidFill>
                <a:latin typeface="Arial"/>
                <a:ea typeface="Arial"/>
                <a:cs typeface="Arial"/>
              </a:defRPr>
            </a:defPPr>
          </a:lstStyle>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Modest CV improvement to 8.84% count and 8.67% MLUw error.</a:t>
            </a:r>
          </a:p>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Length-SD error remains 14.73%.</a:t>
            </a:r>
          </a:p>
        </p:txBody>
      </p:sp>
      <p:sp>
        <p:nvSpPr>
          <p:cNvPr id="7" name="text-6">
            <a:extLst xmlns:a="http://schemas.openxmlformats.org/drawingml/2006/main">
              <a:ext uri="{FF2B5EF4-FFF2-40B4-BE49-F238E27FC236}">
                <a16:creationId xmlns:a16="http://schemas.microsoft.com/office/drawing/2014/main" id="{D453C8F9-9E3C-4E94-8BB4-C46CA79D076B}"/>
              </a:ext>
            </a:extLst>
          </p:cNvPr>
          <p:cNvSpPr>
            <a:spLocks xmlns:a="http://schemas.openxmlformats.org/drawingml/2006/main" noGrp="1"/>
          </p:cNvSpPr>
          <p:nvPr/>
        </p:nvSpPr>
        <p:spPr>
          <a:xfrm xmlns:a="http://schemas.openxmlformats.org/drawingml/2006/main">
            <a:off x="628650" y="4333875"/>
            <a:ext cx="219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8"/>
                </a:solidFill>
                <a:latin typeface="Arial"/>
                <a:ea typeface="Arial"/>
                <a:cs typeface="Arial"/>
              </a:defRPr>
            </a:defPPr>
          </a:lstStyle>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NYU</a:t>
            </a:r>
          </a:p>
        </p:txBody>
      </p:sp>
      <p:sp>
        <p:nvSpPr>
          <p:cNvPr id="8" name="text-7">
            <a:extLst xmlns:a="http://schemas.openxmlformats.org/drawingml/2006/main">
              <a:ext uri="{FF2B5EF4-FFF2-40B4-BE49-F238E27FC236}">
                <a16:creationId xmlns:a16="http://schemas.microsoft.com/office/drawing/2014/main" id="{133718CC-7128-4557-B6D5-6428A03CBC65}"/>
              </a:ext>
            </a:extLst>
          </p:cNvPr>
          <p:cNvSpPr>
            <a:spLocks xmlns:a="http://schemas.openxmlformats.org/drawingml/2006/main" noGrp="1"/>
          </p:cNvSpPr>
          <p:nvPr/>
        </p:nvSpPr>
        <p:spPr>
          <a:xfrm xmlns:a="http://schemas.openxmlformats.org/drawingml/2006/main">
            <a:off x="3105150" y="4333875"/>
            <a:ext cx="8172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E40"/>
                </a:solidFill>
                <a:latin typeface="Arial"/>
                <a:ea typeface="Arial"/>
                <a:cs typeface="Arial"/>
              </a:defRPr>
            </a:defPPr>
          </a:lstStyle>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Count and MLU errors remain larger than OCSC’s.</a:t>
            </a:r>
          </a:p>
          <a:p xmlns:a="http://schemas.openxmlformats.org/drawingml/2006/main">
            <a:pPr algn="l">
              <a:defRPr sz="1950" b="0">
                <a:solidFill>
                  <a:srgbClr val="182E40"/>
                </a:solidFill>
                <a:latin typeface="Arial"/>
                <a:ea typeface="Arial"/>
                <a:cs typeface="Arial"/>
              </a:defRPr>
            </a:pPr>
            <a:r>
              <a:rPr sz="1950" b="0">
                <a:solidFill>
                  <a:srgbClr val="182E40"/>
                </a:solidFill>
                <a:latin typeface="Arial"/>
                <a:ea typeface="Arial"/>
                <a:cs typeface="Arial"/>
              </a:rPr>
              <a:t>The younger, smaller and less intelligible sample is a plausible contributor.</a:t>
            </a:r>
          </a:p>
        </p:txBody>
      </p:sp>
      <p:sp>
        <p:nvSpPr>
          <p:cNvPr id="9" name="text-8">
            <a:extLst xmlns:a="http://schemas.openxmlformats.org/drawingml/2006/main">
              <a:ext uri="{FF2B5EF4-FFF2-40B4-BE49-F238E27FC236}">
                <a16:creationId xmlns:a16="http://schemas.microsoft.com/office/drawing/2014/main" id="{2280D091-10E4-4FC3-882D-706514BFF918}"/>
              </a:ext>
            </a:extLst>
          </p:cNvPr>
          <p:cNvSpPr>
            <a:spLocks xmlns:a="http://schemas.openxmlformats.org/drawingml/2006/main" noGrp="1"/>
          </p:cNvSpPr>
          <p:nvPr/>
        </p:nvSpPr>
        <p:spPr>
          <a:xfrm xmlns:a="http://schemas.openxmlformats.org/drawingml/2006/main">
            <a:off x="628650" y="5857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Further experiments stopped. Existing production and all cohorts remain preserved.</a:t>
            </a:r>
          </a:p>
        </p:txBody>
      </p:sp>
    </p:spTree>
    <p:extLst>
      <p:ext uri="{BB962C8B-B14F-4D97-AF65-F5344CB8AC3E}">
        <p14:creationId xmlns:p14="http://schemas.microsoft.com/office/powerpoint/2010/main" val="958784085"/>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E07215AC-46B7-4FEF-927B-EE7E8F20A574}"/>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Next steps in the existing plan</a:t>
            </a:r>
          </a:p>
        </p:txBody>
      </p:sp>
      <p:sp>
        <p:nvSpPr>
          <p:cNvPr id="2" name="text-1">
            <a:extLst xmlns:a="http://schemas.openxmlformats.org/drawingml/2006/main">
              <a:ext uri="{FF2B5EF4-FFF2-40B4-BE49-F238E27FC236}">
                <a16:creationId xmlns:a16="http://schemas.microsoft.com/office/drawing/2014/main" id="{21CEE93E-6AD3-4FA7-80B0-3AD781BB232E}"/>
              </a:ext>
            </a:extLst>
          </p:cNvPr>
          <p:cNvSpPr>
            <a:spLocks xmlns:a="http://schemas.openxmlformats.org/drawingml/2006/main" noGrp="1"/>
          </p:cNvSpPr>
          <p:nvPr/>
        </p:nvSpPr>
        <p:spPr>
          <a:xfrm xmlns:a="http://schemas.openxmlformats.org/drawingml/2006/main">
            <a:off x="628650" y="114300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Public transcript validation now provides a fixed reference for the next phase</a:t>
            </a:r>
          </a:p>
        </p:txBody>
      </p:sp>
      <p:sp>
        <p:nvSpPr>
          <p:cNvPr id="3" name="text-2">
            <a:extLst xmlns:a="http://schemas.openxmlformats.org/drawingml/2006/main">
              <a:ext uri="{FF2B5EF4-FFF2-40B4-BE49-F238E27FC236}">
                <a16:creationId xmlns:a16="http://schemas.microsoft.com/office/drawing/2014/main" id="{DC201729-F445-4A57-B051-C281F7E034C6}"/>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17</a:t>
            </a:r>
          </a:p>
        </p:txBody>
      </p:sp>
      <p:sp>
        <p:nvSpPr>
          <p:cNvPr id="4" name="text-3">
            <a:extLst xmlns:a="http://schemas.openxmlformats.org/drawingml/2006/main">
              <a:ext uri="{FF2B5EF4-FFF2-40B4-BE49-F238E27FC236}">
                <a16:creationId xmlns:a16="http://schemas.microsoft.com/office/drawing/2014/main" id="{3B5AB4D3-CD7F-4036-A038-65B5018FBFFB}"/>
              </a:ext>
            </a:extLst>
          </p:cNvPr>
          <p:cNvSpPr>
            <a:spLocks xmlns:a="http://schemas.openxmlformats.org/drawingml/2006/main" noGrp="1"/>
          </p:cNvSpPr>
          <p:nvPr/>
        </p:nvSpPr>
        <p:spPr>
          <a:xfrm xmlns:a="http://schemas.openxmlformats.org/drawingml/2006/main">
            <a:off x="628650" y="18192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1</a:t>
            </a:r>
          </a:p>
        </p:txBody>
      </p:sp>
      <p:sp>
        <p:nvSpPr>
          <p:cNvPr id="5" name="text-4">
            <a:extLst xmlns:a="http://schemas.openxmlformats.org/drawingml/2006/main">
              <a:ext uri="{FF2B5EF4-FFF2-40B4-BE49-F238E27FC236}">
                <a16:creationId xmlns:a16="http://schemas.microsoft.com/office/drawing/2014/main" id="{C00A92DD-715F-4F44-89EA-812ADBB9A05D}"/>
              </a:ext>
            </a:extLst>
          </p:cNvPr>
          <p:cNvSpPr>
            <a:spLocks xmlns:a="http://schemas.openxmlformats.org/drawingml/2006/main" noGrp="1"/>
          </p:cNvSpPr>
          <p:nvPr/>
        </p:nvSpPr>
        <p:spPr>
          <a:xfrm xmlns:a="http://schemas.openxmlformats.org/drawingml/2006/main">
            <a:off x="1504950" y="18192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Freeze this research version</a:t>
            </a:r>
          </a:p>
        </p:txBody>
      </p:sp>
      <p:sp>
        <p:nvSpPr>
          <p:cNvPr id="6" name="text-5">
            <a:extLst xmlns:a="http://schemas.openxmlformats.org/drawingml/2006/main">
              <a:ext uri="{FF2B5EF4-FFF2-40B4-BE49-F238E27FC236}">
                <a16:creationId xmlns:a16="http://schemas.microsoft.com/office/drawing/2014/main" id="{E36A9230-3360-4B1D-8D3C-F2F8BB7E36A5}"/>
              </a:ext>
            </a:extLst>
          </p:cNvPr>
          <p:cNvSpPr>
            <a:spLocks xmlns:a="http://schemas.openxmlformats.org/drawingml/2006/main" noGrp="1"/>
          </p:cNvSpPr>
          <p:nvPr/>
        </p:nvSpPr>
        <p:spPr>
          <a:xfrm xmlns:a="http://schemas.openxmlformats.org/drawingml/2006/main">
            <a:off x="1504950" y="2276475"/>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Archive results and document the CV/test distinction in the paper and poster.</a:t>
            </a:r>
          </a:p>
        </p:txBody>
      </p:sp>
      <p:sp>
        <p:nvSpPr>
          <p:cNvPr id="7" name="text-6">
            <a:extLst xmlns:a="http://schemas.openxmlformats.org/drawingml/2006/main">
              <a:ext uri="{FF2B5EF4-FFF2-40B4-BE49-F238E27FC236}">
                <a16:creationId xmlns:a16="http://schemas.microsoft.com/office/drawing/2014/main" id="{814DE0F2-D0F9-4CDB-B543-A839C4C8C4A0}"/>
              </a:ext>
            </a:extLst>
          </p:cNvPr>
          <p:cNvSpPr>
            <a:spLocks xmlns:a="http://schemas.openxmlformats.org/drawingml/2006/main" noGrp="1"/>
          </p:cNvSpPr>
          <p:nvPr/>
        </p:nvSpPr>
        <p:spPr>
          <a:xfrm xmlns:a="http://schemas.openxmlformats.org/drawingml/2006/main">
            <a:off x="628650" y="29337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2</a:t>
            </a:r>
          </a:p>
        </p:txBody>
      </p:sp>
      <p:sp>
        <p:nvSpPr>
          <p:cNvPr id="8" name="text-7">
            <a:extLst xmlns:a="http://schemas.openxmlformats.org/drawingml/2006/main">
              <a:ext uri="{FF2B5EF4-FFF2-40B4-BE49-F238E27FC236}">
                <a16:creationId xmlns:a16="http://schemas.microsoft.com/office/drawing/2014/main" id="{BBC1FB23-447C-4E31-83BF-D0BD08E524BF}"/>
              </a:ext>
            </a:extLst>
          </p:cNvPr>
          <p:cNvSpPr>
            <a:spLocks xmlns:a="http://schemas.openxmlformats.org/drawingml/2006/main" noGrp="1"/>
          </p:cNvSpPr>
          <p:nvPr/>
        </p:nvSpPr>
        <p:spPr>
          <a:xfrm xmlns:a="http://schemas.openxmlformats.org/drawingml/2006/main">
            <a:off x="1504950" y="293370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Return to the original ten participants</a:t>
            </a:r>
          </a:p>
        </p:txBody>
      </p:sp>
      <p:sp>
        <p:nvSpPr>
          <p:cNvPr id="9" name="text-8">
            <a:extLst xmlns:a="http://schemas.openxmlformats.org/drawingml/2006/main">
              <a:ext uri="{FF2B5EF4-FFF2-40B4-BE49-F238E27FC236}">
                <a16:creationId xmlns:a16="http://schemas.microsoft.com/office/drawing/2014/main" id="{060E9D03-ABAF-48D4-BBBC-D124747E5D10}"/>
              </a:ext>
            </a:extLst>
          </p:cNvPr>
          <p:cNvSpPr>
            <a:spLocks xmlns:a="http://schemas.openxmlformats.org/drawingml/2006/main" noGrp="1"/>
          </p:cNvSpPr>
          <p:nvPr/>
        </p:nvSpPr>
        <p:spPr>
          <a:xfrm xmlns:a="http://schemas.openxmlformats.org/drawingml/2006/main">
            <a:off x="1504950" y="3390900"/>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Evaluate corrected transcripts against human utterance labels with this fixed pipeline.</a:t>
            </a:r>
          </a:p>
        </p:txBody>
      </p:sp>
      <p:sp>
        <p:nvSpPr>
          <p:cNvPr id="10" name="text-9">
            <a:extLst xmlns:a="http://schemas.openxmlformats.org/drawingml/2006/main">
              <a:ext uri="{FF2B5EF4-FFF2-40B4-BE49-F238E27FC236}">
                <a16:creationId xmlns:a16="http://schemas.microsoft.com/office/drawing/2014/main" id="{0953457B-0648-4DFD-B473-652E3B6EE08D}"/>
              </a:ext>
            </a:extLst>
          </p:cNvPr>
          <p:cNvSpPr>
            <a:spLocks xmlns:a="http://schemas.openxmlformats.org/drawingml/2006/main" noGrp="1"/>
          </p:cNvSpPr>
          <p:nvPr/>
        </p:nvSpPr>
        <p:spPr>
          <a:xfrm xmlns:a="http://schemas.openxmlformats.org/drawingml/2006/main">
            <a:off x="628650" y="40481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3</a:t>
            </a:r>
          </a:p>
        </p:txBody>
      </p:sp>
      <p:sp>
        <p:nvSpPr>
          <p:cNvPr id="11" name="text-10">
            <a:extLst xmlns:a="http://schemas.openxmlformats.org/drawingml/2006/main">
              <a:ext uri="{FF2B5EF4-FFF2-40B4-BE49-F238E27FC236}">
                <a16:creationId xmlns:a16="http://schemas.microsoft.com/office/drawing/2014/main" id="{F4E04B30-87BF-4F33-8C32-69F44E439D96}"/>
              </a:ext>
            </a:extLst>
          </p:cNvPr>
          <p:cNvSpPr>
            <a:spLocks xmlns:a="http://schemas.openxmlformats.org/drawingml/2006/main" noGrp="1"/>
          </p:cNvSpPr>
          <p:nvPr/>
        </p:nvSpPr>
        <p:spPr>
          <a:xfrm xmlns:a="http://schemas.openxmlformats.org/drawingml/2006/main">
            <a:off x="1504950" y="404812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Reintroduce MOSS and speaker selection</a:t>
            </a:r>
          </a:p>
        </p:txBody>
      </p:sp>
      <p:sp>
        <p:nvSpPr>
          <p:cNvPr id="12" name="text-11">
            <a:extLst xmlns:a="http://schemas.openxmlformats.org/drawingml/2006/main">
              <a:ext uri="{FF2B5EF4-FFF2-40B4-BE49-F238E27FC236}">
                <a16:creationId xmlns:a16="http://schemas.microsoft.com/office/drawing/2014/main" id="{9878FE3A-8668-4912-92E0-06CF60E0C727}"/>
              </a:ext>
            </a:extLst>
          </p:cNvPr>
          <p:cNvSpPr>
            <a:spLocks xmlns:a="http://schemas.openxmlformats.org/drawingml/2006/main" noGrp="1"/>
          </p:cNvSpPr>
          <p:nvPr/>
        </p:nvSpPr>
        <p:spPr>
          <a:xfrm xmlns:a="http://schemas.openxmlformats.org/drawingml/2006/main">
            <a:off x="1504950" y="4505325"/>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Measure transcription and speaker errors separately from boundaries and metric calculations.</a:t>
            </a:r>
          </a:p>
        </p:txBody>
      </p:sp>
      <p:sp>
        <p:nvSpPr>
          <p:cNvPr id="13" name="text-12">
            <a:extLst xmlns:a="http://schemas.openxmlformats.org/drawingml/2006/main">
              <a:ext uri="{FF2B5EF4-FFF2-40B4-BE49-F238E27FC236}">
                <a16:creationId xmlns:a16="http://schemas.microsoft.com/office/drawing/2014/main" id="{2E24E8DB-D1B3-4317-B16F-D952BEC89EAA}"/>
              </a:ext>
            </a:extLst>
          </p:cNvPr>
          <p:cNvSpPr>
            <a:spLocks xmlns:a="http://schemas.openxmlformats.org/drawingml/2006/main" noGrp="1"/>
          </p:cNvSpPr>
          <p:nvPr/>
        </p:nvSpPr>
        <p:spPr>
          <a:xfrm xmlns:a="http://schemas.openxmlformats.org/drawingml/2006/main">
            <a:off x="628650" y="51625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7F78"/>
                </a:solidFill>
                <a:latin typeface="Arial"/>
                <a:ea typeface="Arial"/>
                <a:cs typeface="Arial"/>
              </a:defRPr>
            </a:defPPr>
          </a:lstStyle>
          <a:p xmlns:a="http://schemas.openxmlformats.org/drawingml/2006/main">
            <a:pPr algn="l">
              <a:defRPr sz="3000" b="1">
                <a:solidFill>
                  <a:srgbClr val="007F78"/>
                </a:solidFill>
                <a:latin typeface="Arial"/>
                <a:ea typeface="Arial"/>
                <a:cs typeface="Arial"/>
              </a:defRPr>
            </a:pPr>
            <a:r>
              <a:rPr sz="3000" b="1">
                <a:solidFill>
                  <a:srgbClr val="007F78"/>
                </a:solidFill>
                <a:latin typeface="Arial"/>
                <a:ea typeface="Arial"/>
                <a:cs typeface="Arial"/>
              </a:rPr>
              <a:t>4</a:t>
            </a:r>
          </a:p>
        </p:txBody>
      </p:sp>
      <p:sp>
        <p:nvSpPr>
          <p:cNvPr id="14" name="text-13">
            <a:extLst xmlns:a="http://schemas.openxmlformats.org/drawingml/2006/main">
              <a:ext uri="{FF2B5EF4-FFF2-40B4-BE49-F238E27FC236}">
                <a16:creationId xmlns:a16="http://schemas.microsoft.com/office/drawing/2014/main" id="{7F4B31A0-F399-4399-A3F8-66E07C8AB674}"/>
              </a:ext>
            </a:extLst>
          </p:cNvPr>
          <p:cNvSpPr>
            <a:spLocks xmlns:a="http://schemas.openxmlformats.org/drawingml/2006/main" noGrp="1"/>
          </p:cNvSpPr>
          <p:nvPr/>
        </p:nvSpPr>
        <p:spPr>
          <a:xfrm xmlns:a="http://schemas.openxmlformats.org/drawingml/2006/main">
            <a:off x="1504950" y="51625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E40"/>
                </a:solidFill>
                <a:latin typeface="Arial"/>
                <a:ea typeface="Arial"/>
                <a:cs typeface="Arial"/>
              </a:defRPr>
            </a:defPPr>
          </a:lstStyle>
          <a:p xmlns:a="http://schemas.openxmlformats.org/drawingml/2006/main">
            <a:pPr algn="l">
              <a:defRPr sz="2175" b="1">
                <a:solidFill>
                  <a:srgbClr val="182E40"/>
                </a:solidFill>
                <a:latin typeface="Arial"/>
                <a:ea typeface="Arial"/>
                <a:cs typeface="Arial"/>
              </a:defRPr>
            </a:pPr>
            <a:r>
              <a:rPr sz="2175" b="1">
                <a:solidFill>
                  <a:srgbClr val="182E40"/>
                </a:solidFill>
                <a:latin typeface="Arial"/>
                <a:ea typeface="Arial"/>
                <a:cs typeface="Arial"/>
              </a:rPr>
              <a:t>Extend validation to new recordings</a:t>
            </a:r>
          </a:p>
        </p:txBody>
      </p:sp>
      <p:sp>
        <p:nvSpPr>
          <p:cNvPr id="15" name="text-14">
            <a:extLst xmlns:a="http://schemas.openxmlformats.org/drawingml/2006/main">
              <a:ext uri="{FF2B5EF4-FFF2-40B4-BE49-F238E27FC236}">
                <a16:creationId xmlns:a16="http://schemas.microsoft.com/office/drawing/2014/main" id="{A1F31517-080D-4DD3-9EFA-2BB2C74111FA}"/>
              </a:ext>
            </a:extLst>
          </p:cNvPr>
          <p:cNvSpPr>
            <a:spLocks xmlns:a="http://schemas.openxmlformats.org/drawingml/2006/main" noGrp="1"/>
          </p:cNvSpPr>
          <p:nvPr/>
        </p:nvSpPr>
        <p:spPr>
          <a:xfrm xmlns:a="http://schemas.openxmlformats.org/drawingml/2006/main">
            <a:off x="1504950" y="5619750"/>
            <a:ext cx="990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B78"/>
                </a:solidFill>
                <a:latin typeface="Arial"/>
                <a:ea typeface="Arial"/>
                <a:cs typeface="Arial"/>
              </a:defRPr>
            </a:defPPr>
          </a:lstStyle>
          <a:p xmlns:a="http://schemas.openxmlformats.org/drawingml/2006/main">
            <a:pPr algn="l">
              <a:defRPr sz="1800" b="0">
                <a:solidFill>
                  <a:srgbClr val="586B78"/>
                </a:solidFill>
                <a:latin typeface="Arial"/>
                <a:ea typeface="Arial"/>
                <a:cs typeface="Arial"/>
              </a:defRPr>
            </a:pPr>
            <a:r>
              <a:rPr sz="1800" b="0">
                <a:solidFill>
                  <a:srgbClr val="586B78"/>
                </a:solidFill>
                <a:latin typeface="Arial"/>
                <a:ea typeface="Arial"/>
                <a:cs typeface="Arial"/>
              </a:rPr>
              <a:t>Assess generalization and human review time with predefined evaluation rules.</a:t>
            </a:r>
          </a:p>
        </p:txBody>
      </p:sp>
    </p:spTree>
    <p:extLst>
      <p:ext uri="{BB962C8B-B14F-4D97-AF65-F5344CB8AC3E}">
        <p14:creationId xmlns:p14="http://schemas.microsoft.com/office/powerpoint/2010/main" val="2000982569"/>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4421005D-31FB-4FAB-B21F-6B8CB9A7B3C0}"/>
              </a:ext>
            </a:extLst>
          </p:cNvPr>
          <p:cNvSpPr>
            <a:spLocks xmlns:a="http://schemas.openxmlformats.org/drawingml/2006/main" noGrp="1"/>
          </p:cNvSpPr>
          <p:nvPr/>
        </p:nvSpPr>
        <p:spPr>
          <a:xfrm xmlns:a="http://schemas.openxmlformats.org/drawingml/2006/main">
            <a:off x="609600" y="4381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2E40"/>
                </a:solidFill>
                <a:latin typeface="Arial"/>
                <a:ea typeface="Arial"/>
                <a:cs typeface="Arial"/>
              </a:defRPr>
            </a:defPPr>
          </a:lstStyle>
          <a:p xmlns:a="http://schemas.openxmlformats.org/drawingml/2006/main">
            <a:pPr algn="l">
              <a:defRPr sz="3300" b="1">
                <a:solidFill>
                  <a:srgbClr val="182E40"/>
                </a:solidFill>
                <a:latin typeface="Arial"/>
                <a:ea typeface="Arial"/>
                <a:cs typeface="Arial"/>
              </a:defRPr>
            </a:pPr>
            <a:r>
              <a:rPr sz="3300" b="1">
                <a:solidFill>
                  <a:srgbClr val="182E40"/>
                </a:solidFill>
                <a:latin typeface="Arial"/>
                <a:ea typeface="Arial"/>
                <a:cs typeface="Arial"/>
              </a:rPr>
              <a:t>Sources and reproducibility</a:t>
            </a:r>
          </a:p>
        </p:txBody>
      </p:sp>
      <p:sp>
        <p:nvSpPr>
          <p:cNvPr id="2" name="text-1">
            <a:extLst xmlns:a="http://schemas.openxmlformats.org/drawingml/2006/main">
              <a:ext uri="{FF2B5EF4-FFF2-40B4-BE49-F238E27FC236}">
                <a16:creationId xmlns:a16="http://schemas.microsoft.com/office/drawing/2014/main" id="{A83CE577-3B9C-4ED0-A163-DEAC29935668}"/>
              </a:ext>
            </a:extLst>
          </p:cNvPr>
          <p:cNvSpPr>
            <a:spLocks xmlns:a="http://schemas.openxmlformats.org/drawingml/2006/main" noGrp="1"/>
          </p:cNvSpPr>
          <p:nvPr/>
        </p:nvSpPr>
        <p:spPr>
          <a:xfrm xmlns:a="http://schemas.openxmlformats.org/drawingml/2006/main">
            <a:off x="11144250" y="6438900"/>
            <a:ext cx="43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86B78"/>
                </a:solidFill>
                <a:latin typeface="Arial"/>
                <a:ea typeface="Arial"/>
                <a:cs typeface="Arial"/>
              </a:defRPr>
            </a:defPPr>
          </a:lstStyle>
          <a:p xmlns:a="http://schemas.openxmlformats.org/drawingml/2006/main">
            <a:pPr algn="r">
              <a:defRPr sz="1275" b="0">
                <a:solidFill>
                  <a:srgbClr val="586B78"/>
                </a:solidFill>
                <a:latin typeface="Arial"/>
                <a:ea typeface="Arial"/>
                <a:cs typeface="Arial"/>
              </a:defRPr>
            </a:pPr>
            <a:r>
              <a:rPr sz="1275" b="0">
                <a:solidFill>
                  <a:srgbClr val="586B78"/>
                </a:solidFill>
                <a:latin typeface="Arial"/>
                <a:ea typeface="Arial"/>
                <a:cs typeface="Arial"/>
              </a:rPr>
              <a:t>18</a:t>
            </a:r>
          </a:p>
        </p:txBody>
      </p:sp>
      <p:sp>
        <p:nvSpPr>
          <p:cNvPr id="3" name="text-2">
            <a:extLst xmlns:a="http://schemas.openxmlformats.org/drawingml/2006/main">
              <a:ext uri="{FF2B5EF4-FFF2-40B4-BE49-F238E27FC236}">
                <a16:creationId xmlns:a16="http://schemas.microsoft.com/office/drawing/2014/main" id="{AD506772-3845-4C50-B8BE-97EF520DE09F}"/>
              </a:ext>
            </a:extLst>
          </p:cNvPr>
          <p:cNvSpPr>
            <a:spLocks xmlns:a="http://schemas.openxmlformats.org/drawingml/2006/main" noGrp="1"/>
          </p:cNvSpPr>
          <p:nvPr/>
        </p:nvSpPr>
        <p:spPr>
          <a:xfrm xmlns:a="http://schemas.openxmlformats.org/drawingml/2006/main">
            <a:off x="628650" y="16764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LUCID</a:t>
            </a:r>
          </a:p>
        </p:txBody>
      </p:sp>
      <p:sp>
        <p:nvSpPr>
          <p:cNvPr id="4" name="text-3">
            <a:extLst xmlns:a="http://schemas.openxmlformats.org/drawingml/2006/main">
              <a:ext uri="{FF2B5EF4-FFF2-40B4-BE49-F238E27FC236}">
                <a16:creationId xmlns:a16="http://schemas.microsoft.com/office/drawing/2014/main" id="{2D1830CB-2300-4D52-ADCA-26875EED2E1A}"/>
              </a:ext>
            </a:extLst>
          </p:cNvPr>
          <p:cNvSpPr>
            <a:spLocks xmlns:a="http://schemas.openxmlformats.org/drawingml/2006/main" noGrp="1"/>
          </p:cNvSpPr>
          <p:nvPr/>
        </p:nvSpPr>
        <p:spPr>
          <a:xfrm xmlns:a="http://schemas.openxmlformats.org/drawingml/2006/main">
            <a:off x="3238500" y="16764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1cd16c838ef94d96"/>
              </a:rPr>
              <a:t>Baese-Berk et al. (2021), Frontiers in Psychology</a:t>
            </a:r>
          </a:p>
        </p:txBody>
      </p:sp>
      <p:sp>
        <p:nvSpPr>
          <p:cNvPr id="5" name="text-4">
            <a:extLst xmlns:a="http://schemas.openxmlformats.org/drawingml/2006/main">
              <a:ext uri="{FF2B5EF4-FFF2-40B4-BE49-F238E27FC236}">
                <a16:creationId xmlns:a16="http://schemas.microsoft.com/office/drawing/2014/main" id="{4600A6C5-F332-401A-AB63-E1EE0F2FA6B9}"/>
              </a:ext>
            </a:extLst>
          </p:cNvPr>
          <p:cNvSpPr>
            <a:spLocks xmlns:a="http://schemas.openxmlformats.org/drawingml/2006/main" noGrp="1"/>
          </p:cNvSpPr>
          <p:nvPr/>
        </p:nvSpPr>
        <p:spPr>
          <a:xfrm xmlns:a="http://schemas.openxmlformats.org/drawingml/2006/main">
            <a:off x="3238500" y="19812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cd2526aa620948d4"/>
              </a:rPr>
              <a:t>Published TAALED values at OSF</a:t>
            </a:r>
          </a:p>
        </p:txBody>
      </p:sp>
      <p:sp>
        <p:nvSpPr>
          <p:cNvPr id="6" name="text-5">
            <a:extLst xmlns:a="http://schemas.openxmlformats.org/drawingml/2006/main">
              <a:ext uri="{FF2B5EF4-FFF2-40B4-BE49-F238E27FC236}">
                <a16:creationId xmlns:a16="http://schemas.microsoft.com/office/drawing/2014/main" id="{61E8883F-D3E1-4671-9DDF-E1A554A80599}"/>
              </a:ext>
            </a:extLst>
          </p:cNvPr>
          <p:cNvSpPr>
            <a:spLocks xmlns:a="http://schemas.openxmlformats.org/drawingml/2006/main" noGrp="1"/>
          </p:cNvSpPr>
          <p:nvPr/>
        </p:nvSpPr>
        <p:spPr>
          <a:xfrm xmlns:a="http://schemas.openxmlformats.org/drawingml/2006/main">
            <a:off x="628650" y="27813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OCSC</a:t>
            </a:r>
          </a:p>
        </p:txBody>
      </p:sp>
      <p:sp>
        <p:nvSpPr>
          <p:cNvPr id="7" name="text-6">
            <a:extLst xmlns:a="http://schemas.openxmlformats.org/drawingml/2006/main">
              <a:ext uri="{FF2B5EF4-FFF2-40B4-BE49-F238E27FC236}">
                <a16:creationId xmlns:a16="http://schemas.microsoft.com/office/drawing/2014/main" id="{D79E8516-9E86-4095-B8E2-5EE3044A9558}"/>
              </a:ext>
            </a:extLst>
          </p:cNvPr>
          <p:cNvSpPr>
            <a:spLocks xmlns:a="http://schemas.openxmlformats.org/drawingml/2006/main" noGrp="1"/>
          </p:cNvSpPr>
          <p:nvPr/>
        </p:nvSpPr>
        <p:spPr>
          <a:xfrm xmlns:a="http://schemas.openxmlformats.org/drawingml/2006/main">
            <a:off x="3238500" y="27813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e201754907184e89"/>
              </a:rPr>
              <a:t>Wagner et al. (2025), Speech Communication 170, 103206</a:t>
            </a:r>
          </a:p>
        </p:txBody>
      </p:sp>
      <p:sp>
        <p:nvSpPr>
          <p:cNvPr id="8" name="text-7">
            <a:extLst xmlns:a="http://schemas.openxmlformats.org/drawingml/2006/main">
              <a:ext uri="{FF2B5EF4-FFF2-40B4-BE49-F238E27FC236}">
                <a16:creationId xmlns:a16="http://schemas.microsoft.com/office/drawing/2014/main" id="{1CF71D20-1135-4EB2-94A5-C92C482CA47D}"/>
              </a:ext>
            </a:extLst>
          </p:cNvPr>
          <p:cNvSpPr>
            <a:spLocks xmlns:a="http://schemas.openxmlformats.org/drawingml/2006/main" noGrp="1"/>
          </p:cNvSpPr>
          <p:nvPr/>
        </p:nvSpPr>
        <p:spPr>
          <a:xfrm xmlns:a="http://schemas.openxmlformats.org/drawingml/2006/main">
            <a:off x="3238500" y="30861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52f614e918174ce7"/>
              </a:rPr>
              <a:t>TalkBank CHILDES, DOI 10.21415/60TV-D669</a:t>
            </a:r>
          </a:p>
        </p:txBody>
      </p:sp>
      <p:sp>
        <p:nvSpPr>
          <p:cNvPr id="9" name="text-8">
            <a:extLst xmlns:a="http://schemas.openxmlformats.org/drawingml/2006/main">
              <a:ext uri="{FF2B5EF4-FFF2-40B4-BE49-F238E27FC236}">
                <a16:creationId xmlns:a16="http://schemas.microsoft.com/office/drawing/2014/main" id="{46854EEB-7218-454F-B0F3-1EE56A5C9386}"/>
              </a:ext>
            </a:extLst>
          </p:cNvPr>
          <p:cNvSpPr>
            <a:spLocks xmlns:a="http://schemas.openxmlformats.org/drawingml/2006/main" noGrp="1"/>
          </p:cNvSpPr>
          <p:nvPr/>
        </p:nvSpPr>
        <p:spPr>
          <a:xfrm xmlns:a="http://schemas.openxmlformats.org/drawingml/2006/main">
            <a:off x="628650" y="38862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NYU–Emerson</a:t>
            </a:r>
          </a:p>
        </p:txBody>
      </p:sp>
      <p:sp>
        <p:nvSpPr>
          <p:cNvPr id="10" name="text-9">
            <a:extLst xmlns:a="http://schemas.openxmlformats.org/drawingml/2006/main">
              <a:ext uri="{FF2B5EF4-FFF2-40B4-BE49-F238E27FC236}">
                <a16:creationId xmlns:a16="http://schemas.microsoft.com/office/drawing/2014/main" id="{070B483F-6F58-4193-9EBF-1C2B16A492B7}"/>
              </a:ext>
            </a:extLst>
          </p:cNvPr>
          <p:cNvSpPr>
            <a:spLocks xmlns:a="http://schemas.openxmlformats.org/drawingml/2006/main" noGrp="1"/>
          </p:cNvSpPr>
          <p:nvPr/>
        </p:nvSpPr>
        <p:spPr>
          <a:xfrm xmlns:a="http://schemas.openxmlformats.org/drawingml/2006/main">
            <a:off x="3238500" y="38862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2ee1aff0874048cb"/>
              </a:rPr>
              <a:t>Steen et al. (2026), Meeting on Language in Autism</a:t>
            </a:r>
          </a:p>
        </p:txBody>
      </p:sp>
      <p:sp>
        <p:nvSpPr>
          <p:cNvPr id="11" name="text-10">
            <a:extLst xmlns:a="http://schemas.openxmlformats.org/drawingml/2006/main">
              <a:ext uri="{FF2B5EF4-FFF2-40B4-BE49-F238E27FC236}">
                <a16:creationId xmlns:a16="http://schemas.microsoft.com/office/drawing/2014/main" id="{B3A89BCC-C709-40EE-9E81-BEF576911048}"/>
              </a:ext>
            </a:extLst>
          </p:cNvPr>
          <p:cNvSpPr>
            <a:spLocks xmlns:a="http://schemas.openxmlformats.org/drawingml/2006/main" noGrp="1"/>
          </p:cNvSpPr>
          <p:nvPr/>
        </p:nvSpPr>
        <p:spPr>
          <a:xfrm xmlns:a="http://schemas.openxmlformats.org/drawingml/2006/main">
            <a:off x="3238500" y="41910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6e13b2f72d254389"/>
              </a:rPr>
              <a:t>TalkBank ASDBank, DOI 10.21415/VT7P-YF83</a:t>
            </a:r>
          </a:p>
        </p:txBody>
      </p:sp>
      <p:sp>
        <p:nvSpPr>
          <p:cNvPr id="12" name="text-11">
            <a:extLst xmlns:a="http://schemas.openxmlformats.org/drawingml/2006/main">
              <a:ext uri="{FF2B5EF4-FFF2-40B4-BE49-F238E27FC236}">
                <a16:creationId xmlns:a16="http://schemas.microsoft.com/office/drawing/2014/main" id="{1DB4F867-A77A-479A-B450-C18AAFCF5064}"/>
              </a:ext>
            </a:extLst>
          </p:cNvPr>
          <p:cNvSpPr>
            <a:spLocks xmlns:a="http://schemas.openxmlformats.org/drawingml/2006/main" noGrp="1"/>
          </p:cNvSpPr>
          <p:nvPr/>
        </p:nvSpPr>
        <p:spPr>
          <a:xfrm xmlns:a="http://schemas.openxmlformats.org/drawingml/2006/main">
            <a:off x="628650" y="49911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F78"/>
                </a:solidFill>
                <a:latin typeface="Arial"/>
                <a:ea typeface="Arial"/>
                <a:cs typeface="Arial"/>
              </a:defRPr>
            </a:defPPr>
          </a:lstStyle>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Tools and methods</a:t>
            </a:r>
          </a:p>
        </p:txBody>
      </p:sp>
      <p:sp>
        <p:nvSpPr>
          <p:cNvPr id="13" name="text-12">
            <a:extLst xmlns:a="http://schemas.openxmlformats.org/drawingml/2006/main">
              <a:ext uri="{FF2B5EF4-FFF2-40B4-BE49-F238E27FC236}">
                <a16:creationId xmlns:a16="http://schemas.microsoft.com/office/drawing/2014/main" id="{271A4606-2614-4DBF-B1E2-9587D70E41D8}"/>
              </a:ext>
            </a:extLst>
          </p:cNvPr>
          <p:cNvSpPr>
            <a:spLocks xmlns:a="http://schemas.openxmlformats.org/drawingml/2006/main" noGrp="1"/>
          </p:cNvSpPr>
          <p:nvPr/>
        </p:nvSpPr>
        <p:spPr>
          <a:xfrm xmlns:a="http://schemas.openxmlformats.org/drawingml/2006/main">
            <a:off x="3238500" y="49911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c9a9bdf32f874853"/>
              </a:rPr>
              <a:t>Microsoft MiniLM, spaCy, official CLAN and grouped CV</a:t>
            </a:r>
          </a:p>
        </p:txBody>
      </p:sp>
      <p:sp>
        <p:nvSpPr>
          <p:cNvPr id="14" name="text-13">
            <a:extLst xmlns:a="http://schemas.openxmlformats.org/drawingml/2006/main">
              <a:ext uri="{FF2B5EF4-FFF2-40B4-BE49-F238E27FC236}">
                <a16:creationId xmlns:a16="http://schemas.microsoft.com/office/drawing/2014/main" id="{A230D5D3-3848-4EA2-B107-EE6B274EAB39}"/>
              </a:ext>
            </a:extLst>
          </p:cNvPr>
          <p:cNvSpPr>
            <a:spLocks xmlns:a="http://schemas.openxmlformats.org/drawingml/2006/main" noGrp="1"/>
          </p:cNvSpPr>
          <p:nvPr/>
        </p:nvSpPr>
        <p:spPr>
          <a:xfrm xmlns:a="http://schemas.openxmlformats.org/drawingml/2006/main">
            <a:off x="3238500" y="5295900"/>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E40"/>
                </a:solidFill>
                <a:latin typeface="Arial"/>
                <a:ea typeface="Arial"/>
                <a:cs typeface="Arial"/>
              </a:defRPr>
            </a:defPPr>
          </a:lstStyle>
          <a:p xmlns:a="http://schemas.openxmlformats.org/drawingml/2006/main">
            <a:pPr algn="l">
              <a:defRPr sz="1875" b="0">
                <a:solidFill>
                  <a:srgbClr val="182E40"/>
                </a:solidFill>
                <a:latin typeface="Arial"/>
                <a:ea typeface="Arial"/>
                <a:cs typeface="Arial"/>
              </a:defRPr>
            </a:pPr>
            <a:r>
              <a:rPr sz="1875" b="0">
                <a:solidFill>
                  <a:srgbClr val="182E40"/>
                </a:solidFill>
                <a:latin typeface="Arial"/>
                <a:ea typeface="Arial"/>
                <a:cs typeface="Arial"/>
                <a:hlinkClick xmlns:r="http://schemas.openxmlformats.org/officeDocument/2006/relationships" r:id="R65895d604d654f9f"/>
              </a:rPr>
              <a:t>Saved cohort manifests, protocols, predictions and audits</a:t>
            </a:r>
          </a:p>
        </p:txBody>
      </p:sp>
    </p:spTree>
    <p:extLst>
      <p:ext uri="{BB962C8B-B14F-4D97-AF65-F5344CB8AC3E}">
        <p14:creationId xmlns:p14="http://schemas.microsoft.com/office/powerpoint/2010/main" val="1483429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2026-10-16T06:57:01.2190000Z</dcterms:created>
  <dcterms:modified xsi:type="dcterms:W3CDTF">2026-10-16T06:57:01.2190000Z</dcterms:modified>
</coreProperties>
</file>