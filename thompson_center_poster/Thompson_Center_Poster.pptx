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43891200" cy="329184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B41F802-94A8-AF86-5B7D-0CD09ABEFE37}" name="Nafee, Kazi Sameer (MU-Student)" initials="N(" userId="S::kngg7@umsystem.edu::15840cc8-0478-43e2-8199-1e1ab8216fe0" providerId="AD"/>
  <p188:author id="{78720FF3-6C5B-DFD1-6326-7379879A6652}" name="Dang, Jade Jiaxuan (MU-Student)" initials="D(" userId="S::jdnzc@umsystem.edu::62cdd985-3b06-4b4c-aa67-fd26627da405"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30"/>
  </p:normalViewPr>
  <p:slideViewPr>
    <p:cSldViewPr snapToGrid="0">
      <p:cViewPr varScale="1">
        <p:scale>
          <a:sx n="23" d="100"/>
          <a:sy n="23" d="100"/>
        </p:scale>
        <p:origin x="1960" y="3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8/10/relationships/authors" Target="authors.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Mean absolute percentage error</c:v>
          </c:tx>
          <c:spPr>
            <a:solidFill>
              <a:srgbClr val="1F77B4"/>
            </a:solidFill>
          </c:spPr>
          <c:invertIfNegative val="1"/>
          <c:dPt>
            <c:idx val="0"/>
            <c:invertIfNegative val="0"/>
            <c:bubble3D val="0"/>
            <c:spPr>
              <a:solidFill>
                <a:srgbClr val="FF7F0E"/>
              </a:solidFill>
            </c:spPr>
            <c:extLst>
              <c:ext xmlns:c16="http://schemas.microsoft.com/office/drawing/2014/chart" uri="{C3380CC4-5D6E-409C-BE32-E72D297353CC}">
                <c16:uniqueId val="{00000001-17DA-4A47-8274-6911D41EBAEB}"/>
              </c:ext>
            </c:extLst>
          </c:dPt>
          <c:dPt>
            <c:idx val="1"/>
            <c:invertIfNegative val="0"/>
            <c:bubble3D val="0"/>
            <c:spPr>
              <a:solidFill>
                <a:srgbClr val="FF7F0E"/>
              </a:solidFill>
            </c:spPr>
            <c:extLst>
              <c:ext xmlns:c16="http://schemas.microsoft.com/office/drawing/2014/chart" uri="{C3380CC4-5D6E-409C-BE32-E72D297353CC}">
                <c16:uniqueId val="{00000003-17DA-4A47-8274-6911D41EBAEB}"/>
              </c:ext>
            </c:extLst>
          </c:dPt>
          <c:dPt>
            <c:idx val="2"/>
            <c:invertIfNegative val="0"/>
            <c:bubble3D val="0"/>
            <c:spPr>
              <a:solidFill>
                <a:srgbClr val="FF7F0E"/>
              </a:solidFill>
            </c:spPr>
            <c:extLst>
              <c:ext xmlns:c16="http://schemas.microsoft.com/office/drawing/2014/chart" uri="{C3380CC4-5D6E-409C-BE32-E72D297353CC}">
                <c16:uniqueId val="{00000005-17DA-4A47-8274-6911D41EBAEB}"/>
              </c:ext>
            </c:extLst>
          </c:dPt>
          <c:dPt>
            <c:idx val="3"/>
            <c:invertIfNegative val="0"/>
            <c:bubble3D val="0"/>
            <c:extLst>
              <c:ext xmlns:c16="http://schemas.microsoft.com/office/drawing/2014/chart" uri="{C3380CC4-5D6E-409C-BE32-E72D297353CC}">
                <c16:uniqueId val="{00000007-17DA-4A47-8274-6911D41EBAEB}"/>
              </c:ext>
            </c:extLst>
          </c:dPt>
          <c:dPt>
            <c:idx val="4"/>
            <c:invertIfNegative val="0"/>
            <c:bubble3D val="0"/>
            <c:extLst>
              <c:ext xmlns:c16="http://schemas.microsoft.com/office/drawing/2014/chart" uri="{C3380CC4-5D6E-409C-BE32-E72D297353CC}">
                <c16:uniqueId val="{00000009-17DA-4A47-8274-6911D41EBAEB}"/>
              </c:ext>
            </c:extLst>
          </c:dPt>
          <c:dPt>
            <c:idx val="5"/>
            <c:invertIfNegative val="0"/>
            <c:bubble3D val="0"/>
            <c:extLst>
              <c:ext xmlns:c16="http://schemas.microsoft.com/office/drawing/2014/chart" uri="{C3380CC4-5D6E-409C-BE32-E72D297353CC}">
                <c16:uniqueId val="{0000000B-17DA-4A47-8274-6911D41EBAEB}"/>
              </c:ext>
            </c:extLst>
          </c:dPt>
          <c:dPt>
            <c:idx val="6"/>
            <c:invertIfNegative val="0"/>
            <c:bubble3D val="0"/>
            <c:extLst>
              <c:ext xmlns:c16="http://schemas.microsoft.com/office/drawing/2014/chart" uri="{C3380CC4-5D6E-409C-BE32-E72D297353CC}">
                <c16:uniqueId val="{0000000D-17DA-4A47-8274-6911D41EBAEB}"/>
              </c:ext>
            </c:extLst>
          </c:dPt>
          <c:dPt>
            <c:idx val="7"/>
            <c:invertIfNegative val="0"/>
            <c:bubble3D val="0"/>
            <c:extLst>
              <c:ext xmlns:c16="http://schemas.microsoft.com/office/drawing/2014/chart" uri="{C3380CC4-5D6E-409C-BE32-E72D297353CC}">
                <c16:uniqueId val="{0000000F-17DA-4A47-8274-6911D41EBAEB}"/>
              </c:ext>
            </c:extLst>
          </c:dPt>
          <c:dPt>
            <c:idx val="8"/>
            <c:invertIfNegative val="0"/>
            <c:bubble3D val="0"/>
            <c:extLst>
              <c:ext xmlns:c16="http://schemas.microsoft.com/office/drawing/2014/chart" uri="{C3380CC4-5D6E-409C-BE32-E72D297353CC}">
                <c16:uniqueId val="{00000011-17DA-4A47-8274-6911D41EBAEB}"/>
              </c:ext>
            </c:extLst>
          </c:dPt>
          <c:dPt>
            <c:idx val="9"/>
            <c:invertIfNegative val="0"/>
            <c:bubble3D val="0"/>
            <c:extLst>
              <c:ext xmlns:c16="http://schemas.microsoft.com/office/drawing/2014/chart" uri="{C3380CC4-5D6E-409C-BE32-E72D297353CC}">
                <c16:uniqueId val="{00000013-17DA-4A47-8274-6911D41EBAEB}"/>
              </c:ext>
            </c:extLst>
          </c:dPt>
          <c:dPt>
            <c:idx val="10"/>
            <c:invertIfNegative val="0"/>
            <c:bubble3D val="0"/>
            <c:extLst>
              <c:ext xmlns:c16="http://schemas.microsoft.com/office/drawing/2014/chart" uri="{C3380CC4-5D6E-409C-BE32-E72D297353CC}">
                <c16:uniqueId val="{00000015-17DA-4A47-8274-6911D41EBAEB}"/>
              </c:ext>
            </c:extLst>
          </c:dPt>
          <c:dLbls>
            <c:spPr>
              <a:noFill/>
              <a:ln>
                <a:noFill/>
              </a:ln>
              <a:effectLst/>
            </c:spPr>
            <c:txPr>
              <a:bodyPr anchorCtr="1"/>
              <a:lstStyle/>
              <a:p>
                <a:pPr>
                  <a:defRPr sz="1800">
                    <a:solidFill>
                      <a:srgbClr val="111111"/>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Data'!$A$2:$A$12</c:f>
              <c:strCache>
                <c:ptCount val="11"/>
                <c:pt idx="0">
                  <c:v>Length variation (SD)</c:v>
                </c:pt>
                <c:pt idx="1">
                  <c:v>Mean length (MLUw)</c:v>
                </c:pt>
                <c:pt idx="2">
                  <c:v>Eligible utterance count</c:v>
                </c:pt>
                <c:pt idx="3">
                  <c:v>MATTR-50</c:v>
                </c:pt>
                <c:pt idx="4">
                  <c:v>TTR</c:v>
                </c:pt>
                <c:pt idx="5">
                  <c:v>Different function words</c:v>
                </c:pt>
                <c:pt idx="6">
                  <c:v>Function words</c:v>
                </c:pt>
                <c:pt idx="7">
                  <c:v>Different content words</c:v>
                </c:pt>
                <c:pt idx="8">
                  <c:v>Content words</c:v>
                </c:pt>
                <c:pt idx="9">
                  <c:v>Different words</c:v>
                </c:pt>
                <c:pt idx="10">
                  <c:v>All words</c:v>
                </c:pt>
              </c:strCache>
            </c:strRef>
          </c:cat>
          <c:val>
            <c:numRef>
              <c:f>'Chart Data'!$B$2:$B$12</c:f>
              <c:numCache>
                <c:formatCode>0.00"%"</c:formatCode>
                <c:ptCount val="11"/>
                <c:pt idx="0">
                  <c:v>4.7111099999999997</c:v>
                </c:pt>
                <c:pt idx="1">
                  <c:v>4.6848409999999996</c:v>
                </c:pt>
                <c:pt idx="2">
                  <c:v>5.4637549999999999</c:v>
                </c:pt>
                <c:pt idx="3">
                  <c:v>1.112522</c:v>
                </c:pt>
                <c:pt idx="4">
                  <c:v>2.8766929999999999</c:v>
                </c:pt>
                <c:pt idx="5">
                  <c:v>3.1714289999999998</c:v>
                </c:pt>
                <c:pt idx="6">
                  <c:v>3.9541949999999999</c:v>
                </c:pt>
                <c:pt idx="7">
                  <c:v>3.4061119999999998</c:v>
                </c:pt>
                <c:pt idx="8">
                  <c:v>4.383076</c:v>
                </c:pt>
                <c:pt idx="9">
                  <c:v>3.027326</c:v>
                </c:pt>
                <c:pt idx="10">
                  <c:v>3.6774789999999999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16-17DA-4A47-8274-6911D41EBAEB}"/>
            </c:ext>
          </c:extLst>
        </c:ser>
        <c:dLbls>
          <c:dLblPos val="outEnd"/>
          <c:showLegendKey val="0"/>
          <c:showVal val="1"/>
          <c:showCatName val="0"/>
          <c:showSerName val="0"/>
          <c:showPercent val="0"/>
          <c:showBubbleSize val="0"/>
        </c:dLbls>
        <c:gapWidth val="32"/>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sz="2025">
                <a:solidFill>
                  <a:srgbClr val="111111"/>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30"/>
          <c:min val="0"/>
        </c:scaling>
        <c:delete val="0"/>
        <c:axPos val="b"/>
        <c:majorGridlines>
          <c:spPr>
            <a:ln w="9525">
              <a:solidFill>
                <a:srgbClr val="DDDDDD"/>
              </a:solidFill>
            </a:ln>
          </c:spPr>
        </c:majorGridlines>
        <c:numFmt formatCode="0.00&quot;%&quot;" sourceLinked="1"/>
        <c:majorTickMark val="none"/>
        <c:minorTickMark val="none"/>
        <c:tickLblPos val="nextTo"/>
        <c:spPr>
          <a:ln w="9525">
            <a:solidFill>
              <a:srgbClr val="D4D4D4"/>
            </a:solidFill>
            <a:prstDash val="solid"/>
          </a:ln>
        </c:spPr>
        <c:txPr>
          <a:bodyPr anchorCtr="1"/>
          <a:lstStyle/>
          <a:p>
            <a:pPr>
              <a:defRPr sz="1725">
                <a:solidFill>
                  <a:srgbClr val="111111"/>
                </a:solidFill>
                <a:latin typeface="Arial"/>
                <a:ea typeface="Arial"/>
                <a:cs typeface="Arial"/>
              </a:defRPr>
            </a:pPr>
            <a:endParaRPr lang="en-US"/>
          </a:p>
        </c:txPr>
        <c:crossAx val="48650112"/>
        <c:crosses val="autoZero"/>
        <c:crossBetween val="between"/>
        <c:majorUnit val="5"/>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Mean absolute percentage error</c:v>
          </c:tx>
          <c:spPr>
            <a:solidFill>
              <a:srgbClr val="1F77B4"/>
            </a:solidFill>
          </c:spPr>
          <c:invertIfNegative val="1"/>
          <c:dPt>
            <c:idx val="0"/>
            <c:invertIfNegative val="0"/>
            <c:bubble3D val="0"/>
            <c:spPr>
              <a:solidFill>
                <a:srgbClr val="FF7F0E"/>
              </a:solidFill>
            </c:spPr>
            <c:extLst>
              <c:ext xmlns:c16="http://schemas.microsoft.com/office/drawing/2014/chart" uri="{C3380CC4-5D6E-409C-BE32-E72D297353CC}">
                <c16:uniqueId val="{00000001-7229-D444-9EE7-D9B56F243098}"/>
              </c:ext>
            </c:extLst>
          </c:dPt>
          <c:dPt>
            <c:idx val="1"/>
            <c:invertIfNegative val="0"/>
            <c:bubble3D val="0"/>
            <c:spPr>
              <a:solidFill>
                <a:srgbClr val="FF7F0E"/>
              </a:solidFill>
            </c:spPr>
            <c:extLst>
              <c:ext xmlns:c16="http://schemas.microsoft.com/office/drawing/2014/chart" uri="{C3380CC4-5D6E-409C-BE32-E72D297353CC}">
                <c16:uniqueId val="{00000003-7229-D444-9EE7-D9B56F243098}"/>
              </c:ext>
            </c:extLst>
          </c:dPt>
          <c:dPt>
            <c:idx val="2"/>
            <c:invertIfNegative val="0"/>
            <c:bubble3D val="0"/>
            <c:spPr>
              <a:solidFill>
                <a:srgbClr val="FF7F0E"/>
              </a:solidFill>
            </c:spPr>
            <c:extLst>
              <c:ext xmlns:c16="http://schemas.microsoft.com/office/drawing/2014/chart" uri="{C3380CC4-5D6E-409C-BE32-E72D297353CC}">
                <c16:uniqueId val="{00000005-7229-D444-9EE7-D9B56F243098}"/>
              </c:ext>
            </c:extLst>
          </c:dPt>
          <c:dPt>
            <c:idx val="3"/>
            <c:invertIfNegative val="0"/>
            <c:bubble3D val="0"/>
            <c:extLst>
              <c:ext xmlns:c16="http://schemas.microsoft.com/office/drawing/2014/chart" uri="{C3380CC4-5D6E-409C-BE32-E72D297353CC}">
                <c16:uniqueId val="{00000007-7229-D444-9EE7-D9B56F243098}"/>
              </c:ext>
            </c:extLst>
          </c:dPt>
          <c:dPt>
            <c:idx val="4"/>
            <c:invertIfNegative val="0"/>
            <c:bubble3D val="0"/>
            <c:extLst>
              <c:ext xmlns:c16="http://schemas.microsoft.com/office/drawing/2014/chart" uri="{C3380CC4-5D6E-409C-BE32-E72D297353CC}">
                <c16:uniqueId val="{00000009-7229-D444-9EE7-D9B56F243098}"/>
              </c:ext>
            </c:extLst>
          </c:dPt>
          <c:dPt>
            <c:idx val="5"/>
            <c:invertIfNegative val="0"/>
            <c:bubble3D val="0"/>
            <c:extLst>
              <c:ext xmlns:c16="http://schemas.microsoft.com/office/drawing/2014/chart" uri="{C3380CC4-5D6E-409C-BE32-E72D297353CC}">
                <c16:uniqueId val="{0000000B-7229-D444-9EE7-D9B56F243098}"/>
              </c:ext>
            </c:extLst>
          </c:dPt>
          <c:dPt>
            <c:idx val="6"/>
            <c:invertIfNegative val="0"/>
            <c:bubble3D val="0"/>
            <c:extLst>
              <c:ext xmlns:c16="http://schemas.microsoft.com/office/drawing/2014/chart" uri="{C3380CC4-5D6E-409C-BE32-E72D297353CC}">
                <c16:uniqueId val="{0000000D-7229-D444-9EE7-D9B56F243098}"/>
              </c:ext>
            </c:extLst>
          </c:dPt>
          <c:dPt>
            <c:idx val="7"/>
            <c:invertIfNegative val="0"/>
            <c:bubble3D val="0"/>
            <c:extLst>
              <c:ext xmlns:c16="http://schemas.microsoft.com/office/drawing/2014/chart" uri="{C3380CC4-5D6E-409C-BE32-E72D297353CC}">
                <c16:uniqueId val="{0000000F-7229-D444-9EE7-D9B56F243098}"/>
              </c:ext>
            </c:extLst>
          </c:dPt>
          <c:dPt>
            <c:idx val="8"/>
            <c:invertIfNegative val="0"/>
            <c:bubble3D val="0"/>
            <c:extLst>
              <c:ext xmlns:c16="http://schemas.microsoft.com/office/drawing/2014/chart" uri="{C3380CC4-5D6E-409C-BE32-E72D297353CC}">
                <c16:uniqueId val="{00000011-7229-D444-9EE7-D9B56F243098}"/>
              </c:ext>
            </c:extLst>
          </c:dPt>
          <c:dPt>
            <c:idx val="9"/>
            <c:invertIfNegative val="0"/>
            <c:bubble3D val="0"/>
            <c:extLst>
              <c:ext xmlns:c16="http://schemas.microsoft.com/office/drawing/2014/chart" uri="{C3380CC4-5D6E-409C-BE32-E72D297353CC}">
                <c16:uniqueId val="{00000013-7229-D444-9EE7-D9B56F243098}"/>
              </c:ext>
            </c:extLst>
          </c:dPt>
          <c:dPt>
            <c:idx val="10"/>
            <c:invertIfNegative val="0"/>
            <c:bubble3D val="0"/>
            <c:extLst>
              <c:ext xmlns:c16="http://schemas.microsoft.com/office/drawing/2014/chart" uri="{C3380CC4-5D6E-409C-BE32-E72D297353CC}">
                <c16:uniqueId val="{00000015-7229-D444-9EE7-D9B56F243098}"/>
              </c:ext>
            </c:extLst>
          </c:dPt>
          <c:dLbls>
            <c:spPr>
              <a:noFill/>
              <a:ln>
                <a:noFill/>
              </a:ln>
              <a:effectLst/>
            </c:spPr>
            <c:txPr>
              <a:bodyPr anchorCtr="1"/>
              <a:lstStyle/>
              <a:p>
                <a:pPr>
                  <a:defRPr sz="1800">
                    <a:solidFill>
                      <a:srgbClr val="111111"/>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Data'!$A$2:$A$12</c:f>
              <c:strCache>
                <c:ptCount val="11"/>
                <c:pt idx="0">
                  <c:v>Length variation (SD)</c:v>
                </c:pt>
                <c:pt idx="1">
                  <c:v>Mean length (MLUw)</c:v>
                </c:pt>
                <c:pt idx="2">
                  <c:v>Utterance count</c:v>
                </c:pt>
                <c:pt idx="3">
                  <c:v>MATTR-50</c:v>
                </c:pt>
                <c:pt idx="4">
                  <c:v>TTR</c:v>
                </c:pt>
                <c:pt idx="5">
                  <c:v>Different function words</c:v>
                </c:pt>
                <c:pt idx="6">
                  <c:v>Function words</c:v>
                </c:pt>
                <c:pt idx="7">
                  <c:v>Different content words</c:v>
                </c:pt>
                <c:pt idx="8">
                  <c:v>Content words</c:v>
                </c:pt>
                <c:pt idx="9">
                  <c:v>Different words</c:v>
                </c:pt>
                <c:pt idx="10">
                  <c:v>All words</c:v>
                </c:pt>
              </c:strCache>
            </c:strRef>
          </c:cat>
          <c:val>
            <c:numRef>
              <c:f>'Chart Data'!$B$2:$B$12</c:f>
              <c:numCache>
                <c:formatCode>0.00"%"</c:formatCode>
                <c:ptCount val="11"/>
                <c:pt idx="0">
                  <c:v>25.092953000000001</c:v>
                </c:pt>
                <c:pt idx="1">
                  <c:v>9.1171140000000008</c:v>
                </c:pt>
                <c:pt idx="2">
                  <c:v>7.9598509999999996</c:v>
                </c:pt>
                <c:pt idx="3">
                  <c:v>0.160916</c:v>
                </c:pt>
                <c:pt idx="4">
                  <c:v>0.34243800000000002</c:v>
                </c:pt>
                <c:pt idx="5">
                  <c:v>1.0344789999999999</c:v>
                </c:pt>
                <c:pt idx="6">
                  <c:v>0.234983</c:v>
                </c:pt>
                <c:pt idx="7">
                  <c:v>0.403061</c:v>
                </c:pt>
                <c:pt idx="8">
                  <c:v>0.368475</c:v>
                </c:pt>
                <c:pt idx="9">
                  <c:v>0.34243800000000002</c:v>
                </c:pt>
                <c:pt idx="10">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16-7229-D444-9EE7-D9B56F243098}"/>
            </c:ext>
          </c:extLst>
        </c:ser>
        <c:dLbls>
          <c:dLblPos val="outEnd"/>
          <c:showLegendKey val="0"/>
          <c:showVal val="1"/>
          <c:showCatName val="0"/>
          <c:showSerName val="0"/>
          <c:showPercent val="0"/>
          <c:showBubbleSize val="0"/>
        </c:dLbls>
        <c:gapWidth val="32"/>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sz="2025">
                <a:solidFill>
                  <a:srgbClr val="111111"/>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30"/>
          <c:min val="0"/>
        </c:scaling>
        <c:delete val="0"/>
        <c:axPos val="b"/>
        <c:majorGridlines>
          <c:spPr>
            <a:ln w="9525">
              <a:solidFill>
                <a:srgbClr val="DDDDDD"/>
              </a:solidFill>
            </a:ln>
          </c:spPr>
        </c:majorGridlines>
        <c:numFmt formatCode="0.00&quot;%&quot;" sourceLinked="1"/>
        <c:majorTickMark val="none"/>
        <c:minorTickMark val="none"/>
        <c:tickLblPos val="nextTo"/>
        <c:spPr>
          <a:ln w="9525">
            <a:solidFill>
              <a:srgbClr val="D4D4D4"/>
            </a:solidFill>
            <a:prstDash val="solid"/>
          </a:ln>
        </c:spPr>
        <c:txPr>
          <a:bodyPr anchorCtr="1"/>
          <a:lstStyle/>
          <a:p>
            <a:pPr>
              <a:defRPr sz="1725">
                <a:solidFill>
                  <a:srgbClr val="111111"/>
                </a:solidFill>
                <a:latin typeface="Arial"/>
                <a:ea typeface="Arial"/>
                <a:cs typeface="Arial"/>
              </a:defRPr>
            </a:pPr>
            <a:endParaRPr lang="en-US"/>
          </a:p>
        </c:txPr>
        <c:crossAx val="48650112"/>
        <c:crosses val="autoZero"/>
        <c:crossBetween val="between"/>
        <c:majorUnit val="5"/>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06"/>
          <c:y val="0.17000000000000004"/>
          <c:w val="0.92"/>
          <c:h val="0.76"/>
        </c:manualLayout>
      </c:layout>
      <c:scatterChart>
        <c:scatterStyle val="lineMarker"/>
        <c:varyColors val="1"/>
        <c:ser>
          <c:idx val="0"/>
          <c:order val="0"/>
          <c:tx>
            <c:v>Recording-specific Cohen’s κ</c:v>
          </c:tx>
          <c:spPr>
            <a:ln w="0">
              <a:noFill/>
            </a:ln>
          </c:spPr>
          <c:marker>
            <c:symbol val="circle"/>
            <c:size val="28"/>
            <c:spPr>
              <a:solidFill>
                <a:srgbClr val="DFA900"/>
              </a:solidFill>
              <a:ln w="19050">
                <a:solidFill>
                  <a:srgbClr val="8E6C00"/>
                </a:solidFill>
              </a:ln>
            </c:spPr>
          </c:marker>
          <c:xVal>
            <c:numRef>
              <c:f>'Chart Data'!$A$2:$A$5</c:f>
              <c:numCache>
                <c:formatCode>General</c:formatCode>
                <c:ptCount val="4"/>
                <c:pt idx="0">
                  <c:v>0.98118914509999999</c:v>
                </c:pt>
                <c:pt idx="1">
                  <c:v>0.95330348170000001</c:v>
                </c:pt>
                <c:pt idx="2">
                  <c:v>0.84954325630000005</c:v>
                </c:pt>
                <c:pt idx="3">
                  <c:v>0.89887947530000001</c:v>
                </c:pt>
              </c:numCache>
            </c:numRef>
          </c:xVal>
          <c:yVal>
            <c:numRef>
              <c:f>'Chart Data'!$B$2:$B$5</c:f>
              <c:numCache>
                <c:formatCode>General</c:formatCode>
                <c:ptCount val="4"/>
                <c:pt idx="0">
                  <c:v>4</c:v>
                </c:pt>
                <c:pt idx="1">
                  <c:v>3</c:v>
                </c:pt>
                <c:pt idx="2">
                  <c:v>2</c:v>
                </c:pt>
                <c:pt idx="3">
                  <c:v>1</c:v>
                </c:pt>
              </c:numCache>
            </c:numRef>
          </c:yVal>
          <c:smooth val="1"/>
          <c:extLst>
            <c:ext xmlns:c16="http://schemas.microsoft.com/office/drawing/2014/chart" uri="{C3380CC4-5D6E-409C-BE32-E72D297353CC}">
              <c16:uniqueId val="{00000000-F2DD-354E-AB66-FD05A3939E83}"/>
            </c:ext>
          </c:extLst>
        </c:ser>
        <c:dLbls>
          <c:showLegendKey val="0"/>
          <c:showVal val="0"/>
          <c:showCatName val="0"/>
          <c:showSerName val="0"/>
          <c:showPercent val="0"/>
          <c:showBubbleSize val="0"/>
        </c:dLbls>
        <c:axId val="48650112"/>
        <c:axId val="48672768"/>
      </c:scatterChart>
      <c:valAx>
        <c:axId val="48672768"/>
        <c:scaling>
          <c:orientation val="minMax"/>
          <c:max val="4.5"/>
          <c:min val="0.5"/>
        </c:scaling>
        <c:delete val="1"/>
        <c:axPos val="l"/>
        <c:numFmt formatCode="General" sourceLinked="1"/>
        <c:majorTickMark val="none"/>
        <c:minorTickMark val="none"/>
        <c:tickLblPos val="none"/>
        <c:crossAx val="48650112"/>
        <c:crosses val="autoZero"/>
        <c:crossBetween val="midCat"/>
        <c:majorUnit val="1"/>
      </c:valAx>
      <c:valAx>
        <c:axId val="48650112"/>
        <c:scaling>
          <c:orientation val="minMax"/>
          <c:max val="1"/>
          <c:min val="0"/>
        </c:scaling>
        <c:delete val="0"/>
        <c:axPos val="b"/>
        <c:numFmt formatCode="General" sourceLinked="1"/>
        <c:majorTickMark val="none"/>
        <c:minorTickMark val="none"/>
        <c:tickLblPos val="nextTo"/>
        <c:spPr>
          <a:ln w="9525">
            <a:solidFill>
              <a:srgbClr val="777777"/>
            </a:solidFill>
          </a:ln>
        </c:spPr>
        <c:txPr>
          <a:bodyPr anchorCtr="1"/>
          <a:lstStyle/>
          <a:p>
            <a:pPr>
              <a:defRPr sz="2100">
                <a:solidFill>
                  <a:srgbClr val="222222"/>
                </a:solidFill>
                <a:latin typeface="Arial"/>
                <a:ea typeface="Arial"/>
                <a:cs typeface="Arial"/>
              </a:defRPr>
            </a:pPr>
            <a:endParaRPr lang="en-US"/>
          </a:p>
        </c:txPr>
        <c:crossAx val="48672768"/>
        <c:crosses val="autoZero"/>
        <c:crossBetween val="midCat"/>
        <c:majorUnit val="0.2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D03ABEF-1F98-5E42-B7D5-6442D12A9C2E}"/>
              </a:ext>
            </a:extLst>
          </p:cNvPr>
          <p:cNvSpPr>
            <a:spLocks noGrp="1"/>
          </p:cNvSpPr>
          <p:nvPr>
            <p:ph type="pic" idx="10" hasCustomPrompt="1"/>
          </p:nvPr>
        </p:nvSpPr>
        <p:spPr>
          <a:xfrm>
            <a:off x="28429770" y="1658672"/>
            <a:ext cx="14122854" cy="4239153"/>
          </a:xfrm>
        </p:spPr>
        <p:txBody>
          <a:bodyPr anchor="ctr"/>
          <a:lstStyle>
            <a:lvl1pPr marL="0" indent="0" algn="ctr">
              <a:buNone/>
              <a:defRPr sz="6857">
                <a:solidFill>
                  <a:schemeClr val="tx1"/>
                </a:solidFill>
              </a:defRPr>
            </a:lvl1pPr>
          </a:lstStyle>
          <a:p>
            <a:r>
              <a:t>Add University or Unit Signature</a:t>
            </a:r>
          </a:p>
        </p:txBody>
      </p:sp>
      <p:sp>
        <p:nvSpPr>
          <p:cNvPr id="8" name="Text Placeholder 7">
            <a:extLst>
              <a:ext uri="{FF2B5EF4-FFF2-40B4-BE49-F238E27FC236}">
                <a16:creationId xmlns:a16="http://schemas.microsoft.com/office/drawing/2014/main" id="{A1168BB9-CA9C-8A43-9560-73B010767236}"/>
              </a:ext>
            </a:extLst>
          </p:cNvPr>
          <p:cNvSpPr>
            <a:spLocks noGrp="1"/>
          </p:cNvSpPr>
          <p:nvPr>
            <p:ph type="body" idx="11" hasCustomPrompt="1"/>
          </p:nvPr>
        </p:nvSpPr>
        <p:spPr>
          <a:xfrm>
            <a:off x="0" y="2039290"/>
            <a:ext cx="21833614" cy="1854428"/>
          </a:xfrm>
          <a:prstGeom prst="rect">
            <a:avLst/>
          </a:prstGeom>
          <a:solidFill>
            <a:schemeClr val="tx1"/>
          </a:solidFill>
        </p:spPr>
        <p:txBody>
          <a:bodyPr wrap="none" lIns="1828800" anchor="ctr">
            <a:spAutoFit/>
          </a:bodyPr>
          <a:lstStyle>
            <a:lvl1pPr marL="0" indent="0">
              <a:buNone/>
              <a:defRPr sz="9171" b="1">
                <a:solidFill>
                  <a:schemeClr val="accent1"/>
                </a:solidFill>
              </a:defRPr>
            </a:lvl1pPr>
            <a:lvl2pPr marL="1880373" indent="0">
              <a:buNone/>
              <a:defRPr>
                <a:solidFill>
                  <a:schemeClr val="bg1"/>
                </a:solidFill>
              </a:defRPr>
            </a:lvl2pPr>
            <a:lvl3pPr marL="3760746" indent="0">
              <a:buNone/>
              <a:defRPr>
                <a:solidFill>
                  <a:schemeClr val="bg1"/>
                </a:solidFill>
              </a:defRPr>
            </a:lvl3pPr>
            <a:lvl4pPr marL="5642479" indent="0">
              <a:buNone/>
              <a:defRPr>
                <a:solidFill>
                  <a:schemeClr val="bg1"/>
                </a:solidFill>
              </a:defRPr>
            </a:lvl4pPr>
            <a:lvl5pPr marL="7522852" indent="0">
              <a:buNone/>
              <a:defRPr>
                <a:solidFill>
                  <a:schemeClr val="bg1"/>
                </a:solidFill>
              </a:defRPr>
            </a:lvl5pPr>
          </a:lstStyle>
          <a:p>
            <a:pPr lvl="0">
              <a:buNone/>
            </a:pPr>
            <a:r>
              <a:t>Title in sentence case or Title Case</a:t>
            </a:r>
          </a:p>
        </p:txBody>
      </p:sp>
      <p:sp>
        <p:nvSpPr>
          <p:cNvPr id="10" name="Text Placeholder 9">
            <a:extLst>
              <a:ext uri="{FF2B5EF4-FFF2-40B4-BE49-F238E27FC236}">
                <a16:creationId xmlns:a16="http://schemas.microsoft.com/office/drawing/2014/main" id="{55880F0B-4734-F142-B30D-7EE7D9021A4E}"/>
              </a:ext>
            </a:extLst>
          </p:cNvPr>
          <p:cNvSpPr>
            <a:spLocks noGrp="1"/>
          </p:cNvSpPr>
          <p:nvPr>
            <p:ph type="body" idx="12" hasCustomPrompt="1"/>
          </p:nvPr>
        </p:nvSpPr>
        <p:spPr>
          <a:xfrm>
            <a:off x="1" y="4092418"/>
            <a:ext cx="21509247" cy="1155198"/>
          </a:xfrm>
        </p:spPr>
        <p:txBody>
          <a:bodyPr wrap="square" lIns="1828800" rIns="438912" anchor="ctr">
            <a:spAutoFit/>
          </a:bodyPr>
          <a:lstStyle>
            <a:lvl1pPr marL="0" marR="0" indent="0" algn="l" defTabSz="3760746">
              <a:lnSpc>
                <a:spcPct val="100000"/>
              </a:lnSpc>
              <a:spcBef>
                <a:spcPct val="20000"/>
              </a:spcBef>
              <a:spcAft>
                <a:spcPct val="0"/>
              </a:spcAft>
              <a:buClrTx/>
              <a:buSzTx/>
              <a:buFontTx/>
              <a:buNone/>
              <a:defRPr sz="4627">
                <a:solidFill>
                  <a:schemeClr val="tx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marL="0" marR="0" lvl="0" indent="0" algn="l" defTabSz="3760746">
              <a:lnSpc>
                <a:spcPct val="100000"/>
              </a:lnSpc>
              <a:spcBef>
                <a:spcPct val="20000"/>
              </a:spcBef>
              <a:spcAft>
                <a:spcPct val="0"/>
              </a:spcAft>
              <a:buClrTx/>
              <a:buSzTx/>
              <a:buFontTx/>
              <a:buNone/>
            </a:pPr>
            <a:r>
              <a:t>First Last Name, Credentials, First Last Name, Credentials, </a:t>
            </a:r>
          </a:p>
        </p:txBody>
      </p:sp>
      <p:sp>
        <p:nvSpPr>
          <p:cNvPr id="12" name="Text Placeholder 11">
            <a:extLst>
              <a:ext uri="{FF2B5EF4-FFF2-40B4-BE49-F238E27FC236}">
                <a16:creationId xmlns:a16="http://schemas.microsoft.com/office/drawing/2014/main" id="{F0BDF236-B0E1-2847-99EE-445045F6B844}"/>
              </a:ext>
            </a:extLst>
          </p:cNvPr>
          <p:cNvSpPr>
            <a:spLocks noGrp="1"/>
          </p:cNvSpPr>
          <p:nvPr>
            <p:ph type="body" idx="13" hasCustomPrompt="1"/>
          </p:nvPr>
        </p:nvSpPr>
        <p:spPr>
          <a:xfrm>
            <a:off x="1536085" y="8507608"/>
            <a:ext cx="13167633" cy="10830332"/>
          </a:xfrm>
          <a:prstGeom prst="rect">
            <a:avLst/>
          </a:prstGeom>
          <a:solidFill>
            <a:schemeClr val="bg1"/>
          </a:solidFill>
          <a:ln w="25400" cmpd="sng">
            <a:solidFill>
              <a:schemeClr val="tx1"/>
            </a:solidFill>
            <a:prstDash val="solid"/>
          </a:ln>
        </p:spPr>
        <p:txBody>
          <a:bodyPr lIns="457200" tIns="274320" rIns="457200" bIns="274320" anchor="ctr"/>
          <a:lstStyle>
            <a:lvl1pPr marL="0" indent="0">
              <a:buFont typeface="Arial"/>
              <a:buNone/>
              <a:defRPr sz="3428" b="0"/>
            </a:lvl1pPr>
            <a:lvl2pPr marL="1880373" indent="0">
              <a:buNone/>
              <a:defRPr sz="3428"/>
            </a:lvl2pPr>
            <a:lvl3pPr>
              <a:buNone/>
              <a:defRPr sz="3428"/>
            </a:lvl3pPr>
            <a:lvl4pPr>
              <a:buNone/>
              <a:defRPr sz="3428"/>
            </a:lvl4pPr>
            <a:lvl5pPr>
              <a:buNone/>
              <a:defRPr sz="3428"/>
            </a:lvl5pPr>
          </a:lstStyle>
          <a:p>
            <a:pPr lvl="0">
              <a:buNone/>
            </a:pPr>
            <a:r>
              <a:t>Content goes here</a:t>
            </a:r>
          </a:p>
        </p:txBody>
      </p:sp>
      <p:sp>
        <p:nvSpPr>
          <p:cNvPr id="14" name="Text Placeholder 13">
            <a:extLst>
              <a:ext uri="{FF2B5EF4-FFF2-40B4-BE49-F238E27FC236}">
                <a16:creationId xmlns:a16="http://schemas.microsoft.com/office/drawing/2014/main" id="{3B82A830-B13A-0442-8FCB-9BDFEA9E6768}"/>
              </a:ext>
            </a:extLst>
          </p:cNvPr>
          <p:cNvSpPr>
            <a:spLocks noGrp="1"/>
          </p:cNvSpPr>
          <p:nvPr>
            <p:ph type="body" idx="14" hasCustomPrompt="1"/>
          </p:nvPr>
        </p:nvSpPr>
        <p:spPr>
          <a:xfrm>
            <a:off x="1470248" y="7207083"/>
            <a:ext cx="5007213" cy="1234579"/>
          </a:xfrm>
          <a:prstGeom prst="rect">
            <a:avLst/>
          </a:prstGeom>
          <a:solidFill>
            <a:schemeClr val="tx1"/>
          </a:solidFill>
        </p:spPr>
        <p:txBody>
          <a:bodyPr wrap="none" rIns="640080" anchor="ctr">
            <a:spAutoFit/>
          </a:bodyPr>
          <a:lstStyle>
            <a:lvl1pPr marL="0" indent="0">
              <a:buNone/>
              <a:defRPr sz="5143" b="1">
                <a:solidFill>
                  <a:schemeClr val="accent1"/>
                </a:solidFill>
              </a:defRPr>
            </a:lvl1pPr>
            <a:lvl2pPr marL="1880373" indent="0">
              <a:buNone/>
              <a:defRPr b="1"/>
            </a:lvl2pPr>
            <a:lvl3pPr marL="3760746" indent="0">
              <a:buNone/>
              <a:defRPr b="1"/>
            </a:lvl3pPr>
            <a:lvl4pPr marL="5642479" indent="0">
              <a:buNone/>
              <a:defRPr b="1"/>
            </a:lvl4pPr>
            <a:lvl5pPr marL="7522852" indent="0">
              <a:buNone/>
              <a:defRPr b="1"/>
            </a:lvl5pPr>
          </a:lstStyle>
          <a:p>
            <a:pPr lvl="0">
              <a:buNone/>
            </a:pPr>
            <a:r>
              <a:t>Section Title</a:t>
            </a:r>
          </a:p>
        </p:txBody>
      </p:sp>
      <p:sp>
        <p:nvSpPr>
          <p:cNvPr id="15" name="Text Placeholder 11">
            <a:extLst>
              <a:ext uri="{FF2B5EF4-FFF2-40B4-BE49-F238E27FC236}">
                <a16:creationId xmlns:a16="http://schemas.microsoft.com/office/drawing/2014/main" id="{D9AB8641-B147-D44B-AF24-B26C32B152B0}"/>
              </a:ext>
            </a:extLst>
          </p:cNvPr>
          <p:cNvSpPr>
            <a:spLocks noGrp="1"/>
          </p:cNvSpPr>
          <p:nvPr>
            <p:ph type="body" idx="15" hasCustomPrompt="1"/>
          </p:nvPr>
        </p:nvSpPr>
        <p:spPr>
          <a:xfrm>
            <a:off x="15719897" y="8507608"/>
            <a:ext cx="12342329" cy="10830332"/>
          </a:xfrm>
          <a:prstGeom prst="rect">
            <a:avLst/>
          </a:prstGeom>
          <a:solidFill>
            <a:schemeClr val="bg1"/>
          </a:solidFill>
          <a:ln w="25400" cmpd="sng">
            <a:solidFill>
              <a:schemeClr val="tx1"/>
            </a:solidFill>
            <a:prstDash val="solid"/>
          </a:ln>
        </p:spPr>
        <p:txBody>
          <a:bodyPr lIns="457200" tIns="274320" rIns="457200" bIns="274320" anchor="ctr"/>
          <a:lstStyle>
            <a:lvl1pPr marL="0" indent="0">
              <a:buFont typeface="Arial"/>
              <a:buNone/>
              <a:defRPr sz="3428" b="0"/>
            </a:lvl1pPr>
            <a:lvl2pPr marL="1880373" indent="0">
              <a:buNone/>
              <a:defRPr sz="3428"/>
            </a:lvl2pPr>
            <a:lvl3pPr>
              <a:buNone/>
              <a:defRPr sz="3428"/>
            </a:lvl3pPr>
            <a:lvl4pPr>
              <a:buNone/>
              <a:defRPr sz="3428"/>
            </a:lvl4pPr>
            <a:lvl5pPr>
              <a:buNone/>
              <a:defRPr sz="3428"/>
            </a:lvl5pPr>
          </a:lstStyle>
          <a:p>
            <a:pPr lvl="0">
              <a:buNone/>
            </a:pPr>
            <a:r>
              <a:t>Content goes here</a:t>
            </a:r>
          </a:p>
        </p:txBody>
      </p:sp>
      <p:sp>
        <p:nvSpPr>
          <p:cNvPr id="16" name="Text Placeholder 13">
            <a:extLst>
              <a:ext uri="{FF2B5EF4-FFF2-40B4-BE49-F238E27FC236}">
                <a16:creationId xmlns:a16="http://schemas.microsoft.com/office/drawing/2014/main" id="{18FD3F6B-3CD2-784E-80E2-46DF0270BF15}"/>
              </a:ext>
            </a:extLst>
          </p:cNvPr>
          <p:cNvSpPr>
            <a:spLocks noGrp="1"/>
          </p:cNvSpPr>
          <p:nvPr>
            <p:ph type="body" idx="16" hasCustomPrompt="1"/>
          </p:nvPr>
        </p:nvSpPr>
        <p:spPr>
          <a:xfrm>
            <a:off x="15654060" y="7207083"/>
            <a:ext cx="5007213" cy="1234579"/>
          </a:xfrm>
          <a:prstGeom prst="rect">
            <a:avLst/>
          </a:prstGeom>
          <a:solidFill>
            <a:schemeClr val="tx1"/>
          </a:solidFill>
        </p:spPr>
        <p:txBody>
          <a:bodyPr wrap="none" rIns="640080" anchor="ctr">
            <a:spAutoFit/>
          </a:bodyPr>
          <a:lstStyle>
            <a:lvl1pPr marL="0" indent="0">
              <a:buNone/>
              <a:defRPr sz="5143" b="1">
                <a:solidFill>
                  <a:schemeClr val="accent1"/>
                </a:solidFill>
              </a:defRPr>
            </a:lvl1pPr>
            <a:lvl2pPr marL="1880373" indent="0">
              <a:buNone/>
              <a:defRPr b="1"/>
            </a:lvl2pPr>
            <a:lvl3pPr marL="3760746" indent="0">
              <a:buNone/>
              <a:defRPr b="1"/>
            </a:lvl3pPr>
            <a:lvl4pPr marL="5642479" indent="0">
              <a:buNone/>
              <a:defRPr b="1"/>
            </a:lvl4pPr>
            <a:lvl5pPr marL="7522852" indent="0">
              <a:buNone/>
              <a:defRPr b="1"/>
            </a:lvl5pPr>
          </a:lstStyle>
          <a:p>
            <a:pPr lvl="0">
              <a:buNone/>
            </a:pPr>
            <a:r>
              <a:t>Section Title</a:t>
            </a:r>
          </a:p>
        </p:txBody>
      </p:sp>
      <p:sp>
        <p:nvSpPr>
          <p:cNvPr id="18" name="Picture Placeholder 17">
            <a:extLst>
              <a:ext uri="{FF2B5EF4-FFF2-40B4-BE49-F238E27FC236}">
                <a16:creationId xmlns:a16="http://schemas.microsoft.com/office/drawing/2014/main" id="{5B38F37B-A365-D340-9E17-94460AE9945C}"/>
              </a:ext>
            </a:extLst>
          </p:cNvPr>
          <p:cNvSpPr>
            <a:spLocks noGrp="1"/>
          </p:cNvSpPr>
          <p:nvPr>
            <p:ph type="pic" idx="17" hasCustomPrompt="1"/>
          </p:nvPr>
        </p:nvSpPr>
        <p:spPr>
          <a:xfrm>
            <a:off x="29384993" y="8507609"/>
            <a:ext cx="13167632" cy="10829925"/>
          </a:xfrm>
          <a:prstGeom prst="rect">
            <a:avLst/>
          </a:prstGeom>
          <a:solidFill>
            <a:schemeClr val="bg2"/>
          </a:solidFill>
        </p:spPr>
        <p:txBody>
          <a:bodyPr anchor="ctr"/>
          <a:lstStyle>
            <a:lvl1pPr marL="0" indent="0" algn="ctr">
              <a:buNone/>
              <a:defRPr sz="6857"/>
            </a:lvl1pPr>
          </a:lstStyle>
          <a:p>
            <a:r>
              <a:t>Add Photo or Chart Here</a:t>
            </a:r>
          </a:p>
        </p:txBody>
      </p:sp>
      <p:sp>
        <p:nvSpPr>
          <p:cNvPr id="19" name="Text Placeholder 11">
            <a:extLst>
              <a:ext uri="{FF2B5EF4-FFF2-40B4-BE49-F238E27FC236}">
                <a16:creationId xmlns:a16="http://schemas.microsoft.com/office/drawing/2014/main" id="{A1EF653F-256D-9340-AAF5-4065778B9C67}"/>
              </a:ext>
            </a:extLst>
          </p:cNvPr>
          <p:cNvSpPr>
            <a:spLocks noGrp="1"/>
          </p:cNvSpPr>
          <p:nvPr>
            <p:ph type="body" idx="18" hasCustomPrompt="1"/>
          </p:nvPr>
        </p:nvSpPr>
        <p:spPr>
          <a:xfrm>
            <a:off x="1536085" y="21809056"/>
            <a:ext cx="13167633" cy="9516932"/>
          </a:xfrm>
          <a:prstGeom prst="rect">
            <a:avLst/>
          </a:prstGeom>
          <a:solidFill>
            <a:schemeClr val="bg1"/>
          </a:solidFill>
          <a:ln w="25400" cmpd="sng">
            <a:solidFill>
              <a:schemeClr val="tx1"/>
            </a:solidFill>
            <a:prstDash val="solid"/>
          </a:ln>
        </p:spPr>
        <p:txBody>
          <a:bodyPr lIns="457200" tIns="274320" rIns="457200" bIns="274320" anchor="ctr"/>
          <a:lstStyle>
            <a:lvl1pPr marL="0" indent="0">
              <a:buFont typeface="Arial"/>
              <a:buNone/>
              <a:defRPr sz="3428" b="0"/>
            </a:lvl1pPr>
            <a:lvl2pPr marL="1880373" indent="0">
              <a:buNone/>
              <a:defRPr sz="3428"/>
            </a:lvl2pPr>
            <a:lvl3pPr>
              <a:buNone/>
              <a:defRPr sz="3428"/>
            </a:lvl3pPr>
            <a:lvl4pPr>
              <a:buNone/>
              <a:defRPr sz="3428"/>
            </a:lvl4pPr>
            <a:lvl5pPr>
              <a:buNone/>
              <a:defRPr sz="3428"/>
            </a:lvl5pPr>
          </a:lstStyle>
          <a:p>
            <a:pPr lvl="0">
              <a:buNone/>
            </a:pPr>
            <a:r>
              <a:t>Content goes here</a:t>
            </a:r>
          </a:p>
        </p:txBody>
      </p:sp>
      <p:sp>
        <p:nvSpPr>
          <p:cNvPr id="20" name="Text Placeholder 13">
            <a:extLst>
              <a:ext uri="{FF2B5EF4-FFF2-40B4-BE49-F238E27FC236}">
                <a16:creationId xmlns:a16="http://schemas.microsoft.com/office/drawing/2014/main" id="{389C3CE1-8D46-6B44-BC63-3484D3378EF0}"/>
              </a:ext>
            </a:extLst>
          </p:cNvPr>
          <p:cNvSpPr>
            <a:spLocks noGrp="1"/>
          </p:cNvSpPr>
          <p:nvPr>
            <p:ph type="body" idx="19" hasCustomPrompt="1"/>
          </p:nvPr>
        </p:nvSpPr>
        <p:spPr>
          <a:xfrm>
            <a:off x="1470248" y="20508532"/>
            <a:ext cx="5007213" cy="1234579"/>
          </a:xfrm>
          <a:prstGeom prst="rect">
            <a:avLst/>
          </a:prstGeom>
          <a:solidFill>
            <a:schemeClr val="tx1"/>
          </a:solidFill>
        </p:spPr>
        <p:txBody>
          <a:bodyPr wrap="none" rIns="640080" anchor="ctr">
            <a:spAutoFit/>
          </a:bodyPr>
          <a:lstStyle>
            <a:lvl1pPr marL="0" indent="0">
              <a:buNone/>
              <a:defRPr sz="5143" b="1">
                <a:solidFill>
                  <a:schemeClr val="accent1"/>
                </a:solidFill>
              </a:defRPr>
            </a:lvl1pPr>
            <a:lvl2pPr marL="1880373" indent="0">
              <a:buNone/>
              <a:defRPr b="1"/>
            </a:lvl2pPr>
            <a:lvl3pPr marL="3760746" indent="0">
              <a:buNone/>
              <a:defRPr b="1"/>
            </a:lvl3pPr>
            <a:lvl4pPr marL="5642479" indent="0">
              <a:buNone/>
              <a:defRPr b="1"/>
            </a:lvl4pPr>
            <a:lvl5pPr marL="7522852" indent="0">
              <a:buNone/>
              <a:defRPr b="1"/>
            </a:lvl5pPr>
          </a:lstStyle>
          <a:p>
            <a:pPr lvl="0">
              <a:buNone/>
            </a:pPr>
            <a:r>
              <a:t>Section Title</a:t>
            </a:r>
          </a:p>
        </p:txBody>
      </p:sp>
      <p:sp>
        <p:nvSpPr>
          <p:cNvPr id="21" name="Text Placeholder 11">
            <a:extLst>
              <a:ext uri="{FF2B5EF4-FFF2-40B4-BE49-F238E27FC236}">
                <a16:creationId xmlns:a16="http://schemas.microsoft.com/office/drawing/2014/main" id="{B4425165-ED1A-3249-88AC-51F16E4A58B5}"/>
              </a:ext>
            </a:extLst>
          </p:cNvPr>
          <p:cNvSpPr>
            <a:spLocks noGrp="1"/>
          </p:cNvSpPr>
          <p:nvPr>
            <p:ph type="body" idx="20" hasCustomPrompt="1"/>
          </p:nvPr>
        </p:nvSpPr>
        <p:spPr>
          <a:xfrm>
            <a:off x="29384994" y="21809057"/>
            <a:ext cx="13167633" cy="5211519"/>
          </a:xfrm>
          <a:prstGeom prst="rect">
            <a:avLst/>
          </a:prstGeom>
          <a:solidFill>
            <a:schemeClr val="bg1"/>
          </a:solidFill>
          <a:ln w="25400" cmpd="sng">
            <a:solidFill>
              <a:schemeClr val="tx1"/>
            </a:solidFill>
            <a:prstDash val="solid"/>
          </a:ln>
        </p:spPr>
        <p:txBody>
          <a:bodyPr lIns="457200" tIns="274320" rIns="457200" bIns="274320" anchor="ctr"/>
          <a:lstStyle>
            <a:lvl1pPr marL="0" indent="0">
              <a:buFont typeface="Arial"/>
              <a:buNone/>
              <a:defRPr sz="3428" b="0"/>
            </a:lvl1pPr>
            <a:lvl2pPr marL="1880373" indent="0">
              <a:buNone/>
              <a:defRPr sz="3428"/>
            </a:lvl2pPr>
            <a:lvl3pPr>
              <a:buNone/>
              <a:defRPr sz="3428"/>
            </a:lvl3pPr>
            <a:lvl4pPr>
              <a:buNone/>
              <a:defRPr sz="3428"/>
            </a:lvl4pPr>
            <a:lvl5pPr>
              <a:buNone/>
              <a:defRPr sz="3428"/>
            </a:lvl5pPr>
          </a:lstStyle>
          <a:p>
            <a:pPr lvl="0">
              <a:buNone/>
            </a:pPr>
            <a:r>
              <a:t>Content goes here</a:t>
            </a:r>
          </a:p>
        </p:txBody>
      </p:sp>
      <p:sp>
        <p:nvSpPr>
          <p:cNvPr id="22" name="Text Placeholder 13">
            <a:extLst>
              <a:ext uri="{FF2B5EF4-FFF2-40B4-BE49-F238E27FC236}">
                <a16:creationId xmlns:a16="http://schemas.microsoft.com/office/drawing/2014/main" id="{E4F8847B-CDB6-4642-87F9-8BAEAFE11D64}"/>
              </a:ext>
            </a:extLst>
          </p:cNvPr>
          <p:cNvSpPr>
            <a:spLocks noGrp="1"/>
          </p:cNvSpPr>
          <p:nvPr>
            <p:ph type="body" idx="21" hasCustomPrompt="1"/>
          </p:nvPr>
        </p:nvSpPr>
        <p:spPr>
          <a:xfrm>
            <a:off x="29319156" y="20508532"/>
            <a:ext cx="5007213" cy="1234579"/>
          </a:xfrm>
          <a:prstGeom prst="rect">
            <a:avLst/>
          </a:prstGeom>
          <a:solidFill>
            <a:schemeClr val="tx1"/>
          </a:solidFill>
        </p:spPr>
        <p:txBody>
          <a:bodyPr wrap="none" rIns="640080" anchor="ctr">
            <a:spAutoFit/>
          </a:bodyPr>
          <a:lstStyle>
            <a:lvl1pPr marL="0" indent="0">
              <a:buNone/>
              <a:defRPr sz="5143" b="1">
                <a:solidFill>
                  <a:schemeClr val="accent1"/>
                </a:solidFill>
              </a:defRPr>
            </a:lvl1pPr>
            <a:lvl2pPr marL="1880373" indent="0">
              <a:buNone/>
              <a:defRPr b="1"/>
            </a:lvl2pPr>
            <a:lvl3pPr marL="3760746" indent="0">
              <a:buNone/>
              <a:defRPr b="1"/>
            </a:lvl3pPr>
            <a:lvl4pPr marL="5642479" indent="0">
              <a:buNone/>
              <a:defRPr b="1"/>
            </a:lvl4pPr>
            <a:lvl5pPr marL="7522852" indent="0">
              <a:buNone/>
              <a:defRPr b="1"/>
            </a:lvl5pPr>
          </a:lstStyle>
          <a:p>
            <a:pPr lvl="0">
              <a:buNone/>
            </a:pPr>
            <a:r>
              <a:t>Section Title</a:t>
            </a:r>
          </a:p>
        </p:txBody>
      </p:sp>
      <p:sp>
        <p:nvSpPr>
          <p:cNvPr id="24" name="Text Placeholder 11">
            <a:extLst>
              <a:ext uri="{FF2B5EF4-FFF2-40B4-BE49-F238E27FC236}">
                <a16:creationId xmlns:a16="http://schemas.microsoft.com/office/drawing/2014/main" id="{86A93835-2EB4-9049-9D97-C921E91DB699}"/>
              </a:ext>
            </a:extLst>
          </p:cNvPr>
          <p:cNvSpPr>
            <a:spLocks noGrp="1"/>
          </p:cNvSpPr>
          <p:nvPr>
            <p:ph type="body" idx="22" hasCustomPrompt="1"/>
          </p:nvPr>
        </p:nvSpPr>
        <p:spPr>
          <a:xfrm>
            <a:off x="15710807" y="21809056"/>
            <a:ext cx="12455979" cy="9516932"/>
          </a:xfrm>
          <a:prstGeom prst="rect">
            <a:avLst/>
          </a:prstGeom>
          <a:solidFill>
            <a:schemeClr val="bg1"/>
          </a:solidFill>
          <a:ln w="25400" cmpd="sng">
            <a:solidFill>
              <a:schemeClr val="tx1"/>
            </a:solidFill>
            <a:prstDash val="solid"/>
          </a:ln>
        </p:spPr>
        <p:txBody>
          <a:bodyPr lIns="457200" tIns="274320" rIns="457200" bIns="274320" anchor="ctr"/>
          <a:lstStyle>
            <a:lvl1pPr marL="0" indent="0">
              <a:buFont typeface="Arial"/>
              <a:buNone/>
              <a:defRPr sz="3428" b="0"/>
            </a:lvl1pPr>
            <a:lvl2pPr marL="1880373" indent="0">
              <a:buNone/>
              <a:defRPr sz="3428"/>
            </a:lvl2pPr>
            <a:lvl3pPr>
              <a:buNone/>
              <a:defRPr sz="3428"/>
            </a:lvl3pPr>
            <a:lvl4pPr>
              <a:buNone/>
              <a:defRPr sz="3428"/>
            </a:lvl4pPr>
            <a:lvl5pPr>
              <a:buNone/>
              <a:defRPr sz="3428"/>
            </a:lvl5pPr>
          </a:lstStyle>
          <a:p>
            <a:pPr lvl="0">
              <a:buNone/>
            </a:pPr>
            <a:r>
              <a:t>Content goes here</a:t>
            </a:r>
          </a:p>
        </p:txBody>
      </p:sp>
      <p:sp>
        <p:nvSpPr>
          <p:cNvPr id="25" name="Text Placeholder 13">
            <a:extLst>
              <a:ext uri="{FF2B5EF4-FFF2-40B4-BE49-F238E27FC236}">
                <a16:creationId xmlns:a16="http://schemas.microsoft.com/office/drawing/2014/main" id="{1913F29A-9C65-B648-B4C2-1F85C76CF31C}"/>
              </a:ext>
            </a:extLst>
          </p:cNvPr>
          <p:cNvSpPr>
            <a:spLocks noGrp="1"/>
          </p:cNvSpPr>
          <p:nvPr>
            <p:ph type="body" idx="23" hasCustomPrompt="1"/>
          </p:nvPr>
        </p:nvSpPr>
        <p:spPr>
          <a:xfrm>
            <a:off x="15644970" y="20508532"/>
            <a:ext cx="5007213" cy="1234579"/>
          </a:xfrm>
          <a:prstGeom prst="rect">
            <a:avLst/>
          </a:prstGeom>
          <a:solidFill>
            <a:schemeClr val="tx1"/>
          </a:solidFill>
        </p:spPr>
        <p:txBody>
          <a:bodyPr wrap="none" rIns="640080" anchor="ctr">
            <a:spAutoFit/>
          </a:bodyPr>
          <a:lstStyle>
            <a:lvl1pPr marL="0" indent="0">
              <a:buNone/>
              <a:defRPr sz="5143" b="1">
                <a:solidFill>
                  <a:schemeClr val="accent1"/>
                </a:solidFill>
              </a:defRPr>
            </a:lvl1pPr>
            <a:lvl2pPr marL="1880373" indent="0">
              <a:buNone/>
              <a:defRPr b="1"/>
            </a:lvl2pPr>
            <a:lvl3pPr marL="3760746" indent="0">
              <a:buNone/>
              <a:defRPr b="1"/>
            </a:lvl3pPr>
            <a:lvl4pPr marL="5642479" indent="0">
              <a:buNone/>
              <a:defRPr b="1"/>
            </a:lvl4pPr>
            <a:lvl5pPr marL="7522852" indent="0">
              <a:buNone/>
              <a:defRPr b="1"/>
            </a:lvl5pPr>
          </a:lstStyle>
          <a:p>
            <a:pPr lvl="0">
              <a:buNone/>
            </a:pPr>
            <a:r>
              <a:t>Section Title</a:t>
            </a:r>
          </a:p>
        </p:txBody>
      </p:sp>
      <p:sp>
        <p:nvSpPr>
          <p:cNvPr id="27" name="Text Placeholder 26">
            <a:extLst>
              <a:ext uri="{FF2B5EF4-FFF2-40B4-BE49-F238E27FC236}">
                <a16:creationId xmlns:a16="http://schemas.microsoft.com/office/drawing/2014/main" id="{93CA91E0-CFA2-B043-8238-4C9B2E58E0F0}"/>
              </a:ext>
            </a:extLst>
          </p:cNvPr>
          <p:cNvSpPr>
            <a:spLocks noGrp="1"/>
          </p:cNvSpPr>
          <p:nvPr>
            <p:ph type="body" idx="24" hasCustomPrompt="1"/>
          </p:nvPr>
        </p:nvSpPr>
        <p:spPr>
          <a:xfrm>
            <a:off x="29384993" y="28186330"/>
            <a:ext cx="13167632" cy="3073400"/>
          </a:xfrm>
          <a:prstGeom prst="rect">
            <a:avLst/>
          </a:prstGeom>
          <a:solidFill>
            <a:schemeClr val="bg1"/>
          </a:solidFill>
        </p:spPr>
        <p:txBody>
          <a:bodyPr anchor="ctr"/>
          <a:lstStyle>
            <a:lvl1pPr marL="0" indent="0">
              <a:buNone/>
              <a:defRPr sz="2571"/>
            </a:lvl1pPr>
            <a:lvl2pPr marL="1880373" indent="0">
              <a:buNone/>
              <a:defRPr sz="2571"/>
            </a:lvl2pPr>
            <a:lvl3pPr marL="3760746" indent="0">
              <a:buNone/>
              <a:defRPr sz="2571"/>
            </a:lvl3pPr>
            <a:lvl4pPr marL="5642479" indent="0">
              <a:buNone/>
              <a:defRPr sz="2571"/>
            </a:lvl4pPr>
            <a:lvl5pPr marL="7522852" indent="0">
              <a:buNone/>
              <a:defRPr sz="2571"/>
            </a:lvl5pPr>
          </a:lstStyle>
          <a:p>
            <a:pPr lvl="0">
              <a:buNone/>
            </a:pPr>
            <a:r>
              <a:t>Add literature cited and/or acknowledgements here</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1">
          <a:gsLst>
            <a:gs pos="57000">
              <a:schemeClr val="accent3">
                <a:lumMod val="75000"/>
              </a:schemeClr>
            </a:gs>
            <a:gs pos="4000">
              <a:schemeClr val="accent1">
                <a:lumMod val="5000"/>
                <a:lumOff val="95000"/>
              </a:schemeClr>
            </a:gs>
            <a:gs pos="60000">
              <a:schemeClr val="accent1">
                <a:lumMod val="45000"/>
                <a:lumOff val="55000"/>
              </a:schemeClr>
            </a:gs>
            <a:gs pos="38000">
              <a:schemeClr val="accent1">
                <a:lumMod val="45000"/>
                <a:lumOff val="55000"/>
              </a:schemeClr>
            </a:gs>
            <a:gs pos="49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1029" name="Picture 2"/>
          <p:cNvPicPr>
            <a:picLocks noChangeAspect="1"/>
          </p:cNvPicPr>
          <p:nvPr/>
        </p:nvPicPr>
        <p:blipFill>
          <a:blip r:embed="rId3"/>
          <a:stretch>
            <a:fillRect/>
          </a:stretch>
        </p:blipFill>
        <p:spPr>
          <a:xfrm flipV="1">
            <a:off x="2" y="0"/>
            <a:ext cx="43891199" cy="32918400"/>
          </a:xfrm>
          <a:prstGeom prst="rect">
            <a:avLst/>
          </a:prstGeom>
        </p:spPr>
      </p:pic>
      <p:sp>
        <p:nvSpPr>
          <p:cNvPr id="1026" name="Rectangle 2">
            <a:extLst>
              <a:ext uri="{FF2B5EF4-FFF2-40B4-BE49-F238E27FC236}">
                <a16:creationId xmlns:a16="http://schemas.microsoft.com/office/drawing/2014/main" id="{633A97BC-F274-2441-82D1-431972DC15AC}"/>
              </a:ext>
            </a:extLst>
          </p:cNvPr>
          <p:cNvSpPr>
            <a:spLocks noGrp="1"/>
          </p:cNvSpPr>
          <p:nvPr>
            <p:ph type="title"/>
          </p:nvPr>
        </p:nvSpPr>
        <p:spPr>
          <a:xfrm>
            <a:off x="2193472" y="1317625"/>
            <a:ext cx="39504257" cy="5486400"/>
          </a:xfrm>
          <a:prstGeom prst="rect">
            <a:avLst/>
          </a:prstGeom>
          <a:noFill/>
          <a:ln>
            <a:noFill/>
          </a:ln>
        </p:spPr>
        <p:txBody>
          <a:bodyPr vert="horz" wrap="square" lIns="438857" tIns="219429" rIns="438857" bIns="219429" anchor="ctr"/>
          <a:lstStyle/>
          <a:p>
            <a:pPr lvl="0">
              <a:buNone/>
            </a:pPr>
            <a:r>
              <a:t>Click to edit Master title style</a:t>
            </a:r>
          </a:p>
        </p:txBody>
      </p:sp>
      <p:sp>
        <p:nvSpPr>
          <p:cNvPr id="1027" name="Rectangle 3">
            <a:extLst>
              <a:ext uri="{FF2B5EF4-FFF2-40B4-BE49-F238E27FC236}">
                <a16:creationId xmlns:a16="http://schemas.microsoft.com/office/drawing/2014/main" id="{CDAE5FD3-9E51-0E4B-9533-77AEEA45EA26}"/>
              </a:ext>
            </a:extLst>
          </p:cNvPr>
          <p:cNvSpPr>
            <a:spLocks noGrp="1"/>
          </p:cNvSpPr>
          <p:nvPr>
            <p:ph type="body" idx="1"/>
          </p:nvPr>
        </p:nvSpPr>
        <p:spPr>
          <a:xfrm>
            <a:off x="2193472" y="7680325"/>
            <a:ext cx="39504257" cy="21724938"/>
          </a:xfrm>
          <a:prstGeom prst="rect">
            <a:avLst/>
          </a:prstGeom>
          <a:noFill/>
          <a:ln>
            <a:noFill/>
          </a:ln>
        </p:spPr>
        <p:txBody>
          <a:bodyPr vert="horz" wrap="square" lIns="438857" tIns="219429" rIns="438857" bIns="219429" ancho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3760746">
        <a:spcBef>
          <a:spcPct val="0"/>
        </a:spcBef>
        <a:spcAft>
          <a:spcPct val="0"/>
        </a:spcAft>
        <a:buNone/>
        <a:defRPr sz="18085">
          <a:solidFill>
            <a:schemeClr val="tx1"/>
          </a:solidFill>
          <a:latin typeface="+mj-lt"/>
          <a:ea typeface="+mj-lt"/>
          <a:cs typeface="+mj-lt"/>
        </a:defRPr>
      </a:lvl1pPr>
      <a:lvl2pPr algn="ctr" defTabSz="3760746">
        <a:spcBef>
          <a:spcPct val="0"/>
        </a:spcBef>
        <a:spcAft>
          <a:spcPct val="0"/>
        </a:spcAft>
        <a:buNone/>
        <a:defRPr sz="18085">
          <a:solidFill>
            <a:schemeClr val="tx2"/>
          </a:solidFill>
          <a:latin typeface="Arial"/>
          <a:ea typeface="Arial"/>
          <a:cs typeface="Arial"/>
        </a:defRPr>
      </a:lvl2pPr>
      <a:lvl3pPr algn="ctr" defTabSz="3760746">
        <a:spcBef>
          <a:spcPct val="0"/>
        </a:spcBef>
        <a:spcAft>
          <a:spcPct val="0"/>
        </a:spcAft>
        <a:buNone/>
        <a:defRPr sz="18085">
          <a:solidFill>
            <a:schemeClr val="tx2"/>
          </a:solidFill>
          <a:latin typeface="Arial"/>
          <a:ea typeface="Arial"/>
          <a:cs typeface="Arial"/>
        </a:defRPr>
      </a:lvl3pPr>
      <a:lvl4pPr algn="ctr" defTabSz="3760746">
        <a:spcBef>
          <a:spcPct val="0"/>
        </a:spcBef>
        <a:spcAft>
          <a:spcPct val="0"/>
        </a:spcAft>
        <a:buNone/>
        <a:defRPr sz="18085">
          <a:solidFill>
            <a:schemeClr val="tx2"/>
          </a:solidFill>
          <a:latin typeface="Arial"/>
          <a:ea typeface="Arial"/>
          <a:cs typeface="Arial"/>
        </a:defRPr>
      </a:lvl4pPr>
      <a:lvl5pPr algn="ctr" defTabSz="3760746">
        <a:spcBef>
          <a:spcPct val="0"/>
        </a:spcBef>
        <a:spcAft>
          <a:spcPct val="0"/>
        </a:spcAft>
        <a:buNone/>
        <a:defRPr sz="18085">
          <a:solidFill>
            <a:schemeClr val="tx2"/>
          </a:solidFill>
          <a:latin typeface="Arial"/>
          <a:ea typeface="Arial"/>
          <a:cs typeface="Arial"/>
        </a:defRPr>
      </a:lvl5pPr>
      <a:lvl6pPr marL="391858" algn="ctr" defTabSz="3760746">
        <a:spcBef>
          <a:spcPct val="0"/>
        </a:spcBef>
        <a:spcAft>
          <a:spcPct val="0"/>
        </a:spcAft>
        <a:buNone/>
        <a:defRPr sz="18085">
          <a:solidFill>
            <a:schemeClr val="tx2"/>
          </a:solidFill>
          <a:latin typeface="Arial"/>
          <a:ea typeface="Arial"/>
          <a:cs typeface="Arial"/>
        </a:defRPr>
      </a:lvl6pPr>
      <a:lvl7pPr marL="783715" algn="ctr" defTabSz="3760746">
        <a:spcBef>
          <a:spcPct val="0"/>
        </a:spcBef>
        <a:spcAft>
          <a:spcPct val="0"/>
        </a:spcAft>
        <a:buNone/>
        <a:defRPr sz="18085">
          <a:solidFill>
            <a:schemeClr val="tx2"/>
          </a:solidFill>
          <a:latin typeface="Arial"/>
          <a:ea typeface="Arial"/>
          <a:cs typeface="Arial"/>
        </a:defRPr>
      </a:lvl7pPr>
      <a:lvl8pPr marL="1175573" algn="ctr" defTabSz="3760746">
        <a:spcBef>
          <a:spcPct val="0"/>
        </a:spcBef>
        <a:spcAft>
          <a:spcPct val="0"/>
        </a:spcAft>
        <a:buNone/>
        <a:defRPr sz="18085">
          <a:solidFill>
            <a:schemeClr val="tx2"/>
          </a:solidFill>
          <a:latin typeface="Arial"/>
          <a:ea typeface="Arial"/>
          <a:cs typeface="Arial"/>
        </a:defRPr>
      </a:lvl8pPr>
      <a:lvl9pPr marL="1567430" algn="ctr" defTabSz="3760746">
        <a:spcBef>
          <a:spcPct val="0"/>
        </a:spcBef>
        <a:spcAft>
          <a:spcPct val="0"/>
        </a:spcAft>
        <a:buNone/>
        <a:defRPr sz="18085">
          <a:solidFill>
            <a:schemeClr val="tx2"/>
          </a:solidFill>
          <a:latin typeface="Arial"/>
          <a:ea typeface="Arial"/>
          <a:cs typeface="Arial"/>
        </a:defRPr>
      </a:lvl9pPr>
    </p:titleStyle>
    <p:bodyStyle>
      <a:lvl1pPr marL="979644" indent="-979644" algn="l" defTabSz="3760746">
        <a:spcBef>
          <a:spcPct val="20000"/>
        </a:spcBef>
        <a:spcAft>
          <a:spcPct val="0"/>
        </a:spcAft>
        <a:buFont typeface="Arial"/>
        <a:buChar char="•"/>
        <a:defRPr sz="13198">
          <a:solidFill>
            <a:schemeClr val="tx1"/>
          </a:solidFill>
          <a:latin typeface="+mn-lt"/>
          <a:ea typeface="+mn-lt"/>
          <a:cs typeface="+mn-lt"/>
        </a:defRPr>
      </a:lvl1pPr>
      <a:lvl2pPr marL="2860017" indent="-979644" algn="l" defTabSz="3760746">
        <a:spcBef>
          <a:spcPct val="20000"/>
        </a:spcBef>
        <a:spcAft>
          <a:spcPct val="0"/>
        </a:spcAft>
        <a:buFont typeface="Arial"/>
        <a:buChar char="•"/>
        <a:defRPr sz="11485">
          <a:solidFill>
            <a:schemeClr val="tx1"/>
          </a:solidFill>
          <a:latin typeface="+mn-lt"/>
          <a:ea typeface="+mn-lt"/>
          <a:cs typeface="+mn-lt"/>
        </a:defRPr>
      </a:lvl2pPr>
      <a:lvl3pPr marL="4740390" indent="-979644" algn="l" defTabSz="3760746">
        <a:spcBef>
          <a:spcPct val="20000"/>
        </a:spcBef>
        <a:spcAft>
          <a:spcPct val="0"/>
        </a:spcAft>
        <a:buFont typeface="Arial"/>
        <a:buChar char="•"/>
        <a:defRPr sz="9857">
          <a:solidFill>
            <a:schemeClr val="tx1"/>
          </a:solidFill>
          <a:latin typeface="+mn-lt"/>
          <a:ea typeface="+mn-lt"/>
          <a:cs typeface="+mn-lt"/>
        </a:defRPr>
      </a:lvl3pPr>
      <a:lvl4pPr marL="6622124" indent="-979644" algn="l" defTabSz="3760746">
        <a:spcBef>
          <a:spcPct val="20000"/>
        </a:spcBef>
        <a:spcAft>
          <a:spcPct val="0"/>
        </a:spcAft>
        <a:buFont typeface="Arial"/>
        <a:buChar char="•"/>
        <a:defRPr sz="8228">
          <a:solidFill>
            <a:schemeClr val="tx1"/>
          </a:solidFill>
          <a:latin typeface="+mn-lt"/>
          <a:ea typeface="+mn-lt"/>
          <a:cs typeface="+mn-lt"/>
        </a:defRPr>
      </a:lvl4pPr>
      <a:lvl5pPr marL="8502495" indent="-979644" algn="l" defTabSz="3760746">
        <a:spcBef>
          <a:spcPct val="20000"/>
        </a:spcBef>
        <a:spcAft>
          <a:spcPct val="0"/>
        </a:spcAft>
        <a:buFont typeface="Arial"/>
        <a:buChar char="•"/>
        <a:defRPr sz="8228">
          <a:solidFill>
            <a:schemeClr val="tx1"/>
          </a:solidFill>
          <a:latin typeface="+mn-lt"/>
          <a:ea typeface="+mn-lt"/>
          <a:cs typeface="+mn-lt"/>
        </a:defRPr>
      </a:lvl5pPr>
      <a:lvl6pPr marL="8854896" indent="-940187" algn="l" defTabSz="3760746">
        <a:spcBef>
          <a:spcPct val="20000"/>
        </a:spcBef>
        <a:spcAft>
          <a:spcPct val="0"/>
        </a:spcAft>
        <a:buChar char="»"/>
        <a:defRPr sz="8228">
          <a:solidFill>
            <a:schemeClr val="tx1"/>
          </a:solidFill>
          <a:latin typeface="+mn-lt"/>
          <a:ea typeface="+mn-lt"/>
          <a:cs typeface="+mn-lt"/>
        </a:defRPr>
      </a:lvl6pPr>
      <a:lvl7pPr marL="9246754" indent="-940187" algn="l" defTabSz="3760746">
        <a:spcBef>
          <a:spcPct val="20000"/>
        </a:spcBef>
        <a:spcAft>
          <a:spcPct val="0"/>
        </a:spcAft>
        <a:buChar char="»"/>
        <a:defRPr sz="8228">
          <a:solidFill>
            <a:schemeClr val="tx1"/>
          </a:solidFill>
          <a:latin typeface="+mn-lt"/>
          <a:ea typeface="+mn-lt"/>
          <a:cs typeface="+mn-lt"/>
        </a:defRPr>
      </a:lvl7pPr>
      <a:lvl8pPr marL="9638611" indent="-940187" algn="l" defTabSz="3760746">
        <a:spcBef>
          <a:spcPct val="20000"/>
        </a:spcBef>
        <a:spcAft>
          <a:spcPct val="0"/>
        </a:spcAft>
        <a:buChar char="»"/>
        <a:defRPr sz="8228">
          <a:solidFill>
            <a:schemeClr val="tx1"/>
          </a:solidFill>
          <a:latin typeface="+mn-lt"/>
          <a:ea typeface="+mn-lt"/>
          <a:cs typeface="+mn-lt"/>
        </a:defRPr>
      </a:lvl8pPr>
      <a:lvl9pPr marL="10030469" indent="-940187" algn="l" defTabSz="3760746">
        <a:spcBef>
          <a:spcPct val="20000"/>
        </a:spcBef>
        <a:spcAft>
          <a:spcPct val="0"/>
        </a:spcAft>
        <a:buChar char="»"/>
        <a:defRPr sz="8228">
          <a:solidFill>
            <a:schemeClr val="tx1"/>
          </a:solidFill>
          <a:latin typeface="+mn-lt"/>
          <a:ea typeface="+mn-lt"/>
          <a:cs typeface="+mn-lt"/>
        </a:defRPr>
      </a:lvl9pPr>
    </p:bodyStyle>
    <p:otherStyle>
      <a:lvl1pPr marL="0" algn="l" defTabSz="783715">
        <a:buNone/>
        <a:defRPr sz="1543" kern="1200">
          <a:solidFill>
            <a:schemeClr val="tx1"/>
          </a:solidFill>
          <a:latin typeface="+mn-lt"/>
          <a:ea typeface="+mn-lt"/>
          <a:cs typeface="+mn-lt"/>
        </a:defRPr>
      </a:lvl1pPr>
      <a:lvl2pPr marL="391858" algn="l" defTabSz="783715">
        <a:buNone/>
        <a:defRPr sz="1543" kern="1200">
          <a:solidFill>
            <a:schemeClr val="tx1"/>
          </a:solidFill>
          <a:latin typeface="+mn-lt"/>
          <a:ea typeface="+mn-lt"/>
          <a:cs typeface="+mn-lt"/>
        </a:defRPr>
      </a:lvl2pPr>
      <a:lvl3pPr marL="783715" algn="l" defTabSz="783715">
        <a:buNone/>
        <a:defRPr sz="1543" kern="1200">
          <a:solidFill>
            <a:schemeClr val="tx1"/>
          </a:solidFill>
          <a:latin typeface="+mn-lt"/>
          <a:ea typeface="+mn-lt"/>
          <a:cs typeface="+mn-lt"/>
        </a:defRPr>
      </a:lvl3pPr>
      <a:lvl4pPr marL="1175573" algn="l" defTabSz="783715">
        <a:buNone/>
        <a:defRPr sz="1543" kern="1200">
          <a:solidFill>
            <a:schemeClr val="tx1"/>
          </a:solidFill>
          <a:latin typeface="+mn-lt"/>
          <a:ea typeface="+mn-lt"/>
          <a:cs typeface="+mn-lt"/>
        </a:defRPr>
      </a:lvl4pPr>
      <a:lvl5pPr marL="1567430" algn="l" defTabSz="783715">
        <a:buNone/>
        <a:defRPr sz="1543" kern="1200">
          <a:solidFill>
            <a:schemeClr val="tx1"/>
          </a:solidFill>
          <a:latin typeface="+mn-lt"/>
          <a:ea typeface="+mn-lt"/>
          <a:cs typeface="+mn-lt"/>
        </a:defRPr>
      </a:lvl5pPr>
      <a:lvl6pPr marL="1959289" algn="l" defTabSz="783715">
        <a:buNone/>
        <a:defRPr sz="1543" kern="1200">
          <a:solidFill>
            <a:schemeClr val="tx1"/>
          </a:solidFill>
          <a:latin typeface="+mn-lt"/>
          <a:ea typeface="+mn-lt"/>
          <a:cs typeface="+mn-lt"/>
        </a:defRPr>
      </a:lvl6pPr>
      <a:lvl7pPr marL="2351147" algn="l" defTabSz="783715">
        <a:buNone/>
        <a:defRPr sz="1543" kern="1200">
          <a:solidFill>
            <a:schemeClr val="tx1"/>
          </a:solidFill>
          <a:latin typeface="+mn-lt"/>
          <a:ea typeface="+mn-lt"/>
          <a:cs typeface="+mn-lt"/>
        </a:defRPr>
      </a:lvl7pPr>
      <a:lvl8pPr marL="2743005" algn="l" defTabSz="783715">
        <a:buNone/>
        <a:defRPr sz="1543" kern="1200">
          <a:solidFill>
            <a:schemeClr val="tx1"/>
          </a:solidFill>
          <a:latin typeface="+mn-lt"/>
          <a:ea typeface="+mn-lt"/>
          <a:cs typeface="+mn-lt"/>
        </a:defRPr>
      </a:lvl8pPr>
      <a:lvl9pPr marL="3134862" algn="l" defTabSz="783715">
        <a:buNone/>
        <a:defRPr sz="1543"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chart" Target="../charts/chart3.xml"/><Relationship Id="rId5" Type="http://schemas.openxmlformats.org/officeDocument/2006/relationships/chart" Target="../charts/chart2.xml"/><Relationship Id="rId4"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1" name="Picture Placeholder 16"/>
          <p:cNvPicPr>
            <a:picLocks noGrp="1" noChangeAspect="1"/>
          </p:cNvPicPr>
          <p:nvPr>
            <p:ph type="pic" idx="10"/>
          </p:nvPr>
        </p:nvPicPr>
        <p:blipFill>
          <a:blip r:embed="rId3"/>
          <a:srcRect l="1893" r="1893"/>
          <a:stretch>
            <a:fillRect/>
          </a:stretch>
        </p:blipFill>
        <p:spPr>
          <a:xfrm>
            <a:off x="32198343" y="659577"/>
            <a:ext cx="9328722" cy="2399816"/>
          </a:xfrm>
          <a:prstGeom prst="rect">
            <a:avLst/>
          </a:prstGeom>
        </p:spPr>
      </p:pic>
      <p:sp>
        <p:nvSpPr>
          <p:cNvPr id="39" name="Poster title">
            <a:extLst>
              <a:ext uri="{FF2B5EF4-FFF2-40B4-BE49-F238E27FC236}">
                <a16:creationId xmlns:a16="http://schemas.microsoft.com/office/drawing/2014/main" id="{693C05BF-D5D6-4A6E-8256-935C325DBE0A}"/>
              </a:ext>
            </a:extLst>
          </p:cNvPr>
          <p:cNvSpPr>
            <a:spLocks noGrp="1"/>
          </p:cNvSpPr>
          <p:nvPr/>
        </p:nvSpPr>
        <p:spPr>
          <a:xfrm>
            <a:off x="904874" y="781050"/>
            <a:ext cx="30756225" cy="1613549"/>
          </a:xfrm>
          <a:prstGeom prst="rect">
            <a:avLst/>
          </a:prstGeom>
          <a:solidFill>
            <a:srgbClr val="000000"/>
          </a:solidFill>
          <a:ln w="9525">
            <a:solidFill>
              <a:srgbClr val="000000"/>
            </a:solidFill>
            <a:prstDash val="solid"/>
          </a:ln>
        </p:spPr>
        <p:txBody>
          <a:bodyPr anchor="ctr">
            <a:normAutofit/>
          </a:bodyPr>
          <a:lstStyle/>
          <a:p>
            <a:r>
              <a:rPr lang="en-US" sz="5400" dirty="0">
                <a:solidFill>
                  <a:schemeClr val="accent1"/>
                </a:solidFill>
                <a:latin typeface="+mj-lt"/>
              </a:rPr>
              <a:t>A Semi-Automated Approach to Analyzing Natural Conversations in Autistic Youth: A Pilot Study</a:t>
            </a:r>
            <a:endParaRPr lang="en-US" sz="5400" b="1" dirty="0">
              <a:solidFill>
                <a:schemeClr val="accent1"/>
              </a:solidFill>
              <a:latin typeface="+mj-lt"/>
            </a:endParaRPr>
          </a:p>
        </p:txBody>
      </p:sp>
      <p:sp>
        <p:nvSpPr>
          <p:cNvPr id="41" name="Why it matters heading">
            <a:extLst>
              <a:ext uri="{FF2B5EF4-FFF2-40B4-BE49-F238E27FC236}">
                <a16:creationId xmlns:a16="http://schemas.microsoft.com/office/drawing/2014/main" id="{1BA00660-BB03-4232-BC20-26E402AF3FDC}"/>
              </a:ext>
            </a:extLst>
          </p:cNvPr>
          <p:cNvSpPr>
            <a:spLocks noGrp="1"/>
          </p:cNvSpPr>
          <p:nvPr/>
        </p:nvSpPr>
        <p:spPr>
          <a:xfrm>
            <a:off x="333375" y="5810250"/>
            <a:ext cx="13192125" cy="1123950"/>
          </a:xfrm>
          <a:prstGeom prst="rect">
            <a:avLst/>
          </a:prstGeom>
          <a:solidFill>
            <a:srgbClr val="000000"/>
          </a:solidFill>
          <a:ln w="9525">
            <a:solidFill>
              <a:srgbClr val="000000"/>
            </a:solidFill>
            <a:prstDash val="solid"/>
          </a:ln>
        </p:spPr>
        <p:txBody>
          <a:bodyPr anchor="ctr">
            <a:normAutofit/>
          </a:bodyPr>
          <a:lstStyle/>
          <a:p>
            <a:pPr algn="l">
              <a:defRPr sz="4350" b="1">
                <a:solidFill>
                  <a:srgbClr val="F8C323"/>
                </a:solidFill>
                <a:latin typeface="Arial"/>
                <a:ea typeface="Arial"/>
                <a:cs typeface="Arial"/>
              </a:defRPr>
            </a:pPr>
            <a:r>
              <a:rPr lang="en-US" sz="4350" b="1" dirty="0">
                <a:solidFill>
                  <a:srgbClr val="F8C323"/>
                </a:solidFill>
                <a:latin typeface="Arial"/>
                <a:ea typeface="Arial"/>
                <a:cs typeface="Arial"/>
              </a:rPr>
              <a:t>Introduction</a:t>
            </a:r>
            <a:endParaRPr sz="4350" b="1" dirty="0">
              <a:solidFill>
                <a:srgbClr val="F8C323"/>
              </a:solidFill>
              <a:latin typeface="Arial"/>
              <a:ea typeface="Arial"/>
              <a:cs typeface="Arial"/>
            </a:endParaRPr>
          </a:p>
        </p:txBody>
      </p:sp>
      <p:sp>
        <p:nvSpPr>
          <p:cNvPr id="42" name="Why it matters">
            <a:extLst>
              <a:ext uri="{FF2B5EF4-FFF2-40B4-BE49-F238E27FC236}">
                <a16:creationId xmlns:a16="http://schemas.microsoft.com/office/drawing/2014/main" id="{98306AE5-D8E7-407E-ADF2-E705883878A1}"/>
              </a:ext>
            </a:extLst>
          </p:cNvPr>
          <p:cNvSpPr>
            <a:spLocks noGrp="1"/>
          </p:cNvSpPr>
          <p:nvPr/>
        </p:nvSpPr>
        <p:spPr>
          <a:xfrm>
            <a:off x="333375" y="6953250"/>
            <a:ext cx="13192125" cy="4714875"/>
          </a:xfrm>
          <a:prstGeom prst="rect">
            <a:avLst/>
          </a:prstGeom>
          <a:solidFill>
            <a:srgbClr val="FFFFFF"/>
          </a:solidFill>
          <a:ln w="13335">
            <a:solidFill>
              <a:srgbClr val="000000"/>
            </a:solidFill>
            <a:prstDash val="solid"/>
          </a:ln>
        </p:spPr>
        <p:txBody>
          <a:bodyPr anchor="ctr">
            <a:normAutofit/>
          </a:bodyPr>
          <a:lstStyle/>
          <a:p>
            <a:pPr algn="l">
              <a:buNone/>
              <a:defRPr sz="3225" b="0">
                <a:solidFill>
                  <a:srgbClr val="191919"/>
                </a:solidFill>
                <a:latin typeface="Arial"/>
                <a:ea typeface="Arial"/>
                <a:cs typeface="Arial"/>
              </a:defRPr>
            </a:pPr>
            <a:endParaRPr sz="3225" b="0">
              <a:solidFill>
                <a:srgbClr val="191919"/>
              </a:solidFill>
              <a:latin typeface="Arial"/>
              <a:ea typeface="Arial"/>
              <a:cs typeface="Arial"/>
            </a:endParaRPr>
          </a:p>
        </p:txBody>
      </p:sp>
      <p:sp>
        <p:nvSpPr>
          <p:cNvPr id="43" name="Study at a glance heading">
            <a:extLst>
              <a:ext uri="{FF2B5EF4-FFF2-40B4-BE49-F238E27FC236}">
                <a16:creationId xmlns:a16="http://schemas.microsoft.com/office/drawing/2014/main" id="{45860385-9385-4AEB-89A4-661B26169CB9}"/>
              </a:ext>
            </a:extLst>
          </p:cNvPr>
          <p:cNvSpPr>
            <a:spLocks noGrp="1"/>
          </p:cNvSpPr>
          <p:nvPr/>
        </p:nvSpPr>
        <p:spPr>
          <a:xfrm>
            <a:off x="333374" y="12034838"/>
            <a:ext cx="13192125" cy="1123950"/>
          </a:xfrm>
          <a:prstGeom prst="rect">
            <a:avLst/>
          </a:prstGeom>
          <a:solidFill>
            <a:srgbClr val="000000"/>
          </a:solidFill>
          <a:ln w="9525">
            <a:solidFill>
              <a:srgbClr val="000000"/>
            </a:solidFill>
            <a:prstDash val="solid"/>
          </a:ln>
        </p:spPr>
        <p:txBody>
          <a:bodyPr anchor="ctr">
            <a:normAutofit/>
          </a:bodyPr>
          <a:lstStyle/>
          <a:p>
            <a:pPr algn="l">
              <a:defRPr sz="4350" b="1">
                <a:solidFill>
                  <a:srgbClr val="F8C323"/>
                </a:solidFill>
                <a:latin typeface="Arial"/>
                <a:ea typeface="Arial"/>
                <a:cs typeface="Arial"/>
              </a:defRPr>
            </a:pPr>
            <a:r>
              <a:rPr lang="en-US" sz="4350" b="1" dirty="0">
                <a:solidFill>
                  <a:srgbClr val="F8C323"/>
                </a:solidFill>
                <a:latin typeface="Arial"/>
                <a:ea typeface="Arial"/>
                <a:cs typeface="Arial"/>
              </a:rPr>
              <a:t>Methodology</a:t>
            </a:r>
            <a:endParaRPr sz="4350" b="1" dirty="0">
              <a:solidFill>
                <a:srgbClr val="F8C323"/>
              </a:solidFill>
              <a:latin typeface="Arial"/>
              <a:ea typeface="Arial"/>
              <a:cs typeface="Arial"/>
            </a:endParaRPr>
          </a:p>
        </p:txBody>
      </p:sp>
      <p:sp>
        <p:nvSpPr>
          <p:cNvPr id="44" name="Study at a glance">
            <a:extLst>
              <a:ext uri="{FF2B5EF4-FFF2-40B4-BE49-F238E27FC236}">
                <a16:creationId xmlns:a16="http://schemas.microsoft.com/office/drawing/2014/main" id="{079DA20A-79AD-4B1F-B1AC-1EC76DD64236}"/>
              </a:ext>
            </a:extLst>
          </p:cNvPr>
          <p:cNvSpPr>
            <a:spLocks noGrp="1"/>
          </p:cNvSpPr>
          <p:nvPr/>
        </p:nvSpPr>
        <p:spPr>
          <a:xfrm>
            <a:off x="333375" y="13287374"/>
            <a:ext cx="13192125" cy="9891633"/>
          </a:xfrm>
          <a:prstGeom prst="rect">
            <a:avLst/>
          </a:prstGeom>
          <a:solidFill>
            <a:srgbClr val="FFFFFF"/>
          </a:solidFill>
          <a:ln w="13335">
            <a:solidFill>
              <a:srgbClr val="000000"/>
            </a:solidFill>
            <a:prstDash val="solid"/>
          </a:ln>
        </p:spPr>
        <p:txBody>
          <a:bodyPr anchor="ctr">
            <a:normAutofit/>
          </a:bodyPr>
          <a:lstStyle/>
          <a:p>
            <a:pPr algn="l">
              <a:buNone/>
              <a:defRPr sz="3375" b="0">
                <a:solidFill>
                  <a:srgbClr val="191919"/>
                </a:solidFill>
                <a:latin typeface="Arial"/>
                <a:ea typeface="Arial"/>
                <a:cs typeface="Arial"/>
              </a:defRPr>
            </a:pPr>
            <a:endParaRPr sz="3375" b="0">
              <a:solidFill>
                <a:srgbClr val="191919"/>
              </a:solidFill>
              <a:latin typeface="Arial"/>
              <a:ea typeface="Arial"/>
              <a:cs typeface="Arial"/>
            </a:endParaRPr>
          </a:p>
        </p:txBody>
      </p:sp>
      <p:sp>
        <p:nvSpPr>
          <p:cNvPr id="45" name="Measures heading">
            <a:extLst>
              <a:ext uri="{FF2B5EF4-FFF2-40B4-BE49-F238E27FC236}">
                <a16:creationId xmlns:a16="http://schemas.microsoft.com/office/drawing/2014/main" id="{B3820B96-4AF1-4358-B9C1-3B2BF628C51F}"/>
              </a:ext>
            </a:extLst>
          </p:cNvPr>
          <p:cNvSpPr>
            <a:spLocks noGrp="1"/>
          </p:cNvSpPr>
          <p:nvPr/>
        </p:nvSpPr>
        <p:spPr>
          <a:xfrm>
            <a:off x="333373" y="23479125"/>
            <a:ext cx="13192125" cy="1123950"/>
          </a:xfrm>
          <a:prstGeom prst="rect">
            <a:avLst/>
          </a:prstGeom>
          <a:solidFill>
            <a:srgbClr val="000000"/>
          </a:solidFill>
          <a:ln w="9525">
            <a:solidFill>
              <a:srgbClr val="000000"/>
            </a:solidFill>
            <a:prstDash val="solid"/>
          </a:ln>
        </p:spPr>
        <p:txBody>
          <a:bodyPr anchor="ctr">
            <a:normAutofit/>
          </a:bodyPr>
          <a:lstStyle/>
          <a:p>
            <a:pPr algn="l">
              <a:defRPr sz="4350" b="1">
                <a:solidFill>
                  <a:srgbClr val="F8C323"/>
                </a:solidFill>
                <a:latin typeface="Arial"/>
                <a:ea typeface="Arial"/>
                <a:cs typeface="Arial"/>
              </a:defRPr>
            </a:pPr>
            <a:r>
              <a:rPr lang="en-US" sz="4350" b="1" dirty="0">
                <a:solidFill>
                  <a:srgbClr val="F8C323"/>
                </a:solidFill>
                <a:latin typeface="Arial"/>
                <a:ea typeface="Arial"/>
                <a:cs typeface="Arial"/>
              </a:rPr>
              <a:t>System Diagram</a:t>
            </a:r>
            <a:endParaRPr sz="4350" b="1" dirty="0">
              <a:solidFill>
                <a:srgbClr val="F8C323"/>
              </a:solidFill>
              <a:latin typeface="Arial"/>
              <a:ea typeface="Arial"/>
              <a:cs typeface="Arial"/>
            </a:endParaRPr>
          </a:p>
        </p:txBody>
      </p:sp>
      <p:sp>
        <p:nvSpPr>
          <p:cNvPr id="47" name="Workflow heading">
            <a:extLst>
              <a:ext uri="{FF2B5EF4-FFF2-40B4-BE49-F238E27FC236}">
                <a16:creationId xmlns:a16="http://schemas.microsoft.com/office/drawing/2014/main" id="{8B2C3836-A467-464E-862A-82ED55FCCE5D}"/>
              </a:ext>
            </a:extLst>
          </p:cNvPr>
          <p:cNvSpPr>
            <a:spLocks noGrp="1"/>
          </p:cNvSpPr>
          <p:nvPr/>
        </p:nvSpPr>
        <p:spPr>
          <a:xfrm>
            <a:off x="14239875" y="5638800"/>
            <a:ext cx="13668375" cy="1123950"/>
          </a:xfrm>
          <a:prstGeom prst="rect">
            <a:avLst/>
          </a:prstGeom>
          <a:solidFill>
            <a:srgbClr val="000000"/>
          </a:solidFill>
          <a:ln w="9525">
            <a:solidFill>
              <a:srgbClr val="000000"/>
            </a:solidFill>
            <a:prstDash val="solid"/>
          </a:ln>
        </p:spPr>
        <p:txBody>
          <a:bodyPr anchor="ctr">
            <a:normAutofit/>
          </a:bodyPr>
          <a:lstStyle/>
          <a:p>
            <a:pPr>
              <a:defRPr sz="4350" b="1">
                <a:solidFill>
                  <a:srgbClr val="F8C323"/>
                </a:solidFill>
                <a:latin typeface="Arial"/>
                <a:ea typeface="Arial"/>
                <a:cs typeface="Arial"/>
              </a:defRPr>
            </a:pPr>
            <a:r>
              <a:rPr lang="en-US" sz="4350" b="1" dirty="0">
                <a:solidFill>
                  <a:srgbClr val="F8C323"/>
                </a:solidFill>
                <a:latin typeface="Arial"/>
                <a:ea typeface="Arial"/>
                <a:cs typeface="Arial"/>
              </a:rPr>
              <a:t>Comparison against TAALED and CLAN</a:t>
            </a:r>
          </a:p>
        </p:txBody>
      </p:sp>
      <p:sp>
        <p:nvSpPr>
          <p:cNvPr id="48" name="Workflow">
            <a:extLst>
              <a:ext uri="{FF2B5EF4-FFF2-40B4-BE49-F238E27FC236}">
                <a16:creationId xmlns:a16="http://schemas.microsoft.com/office/drawing/2014/main" id="{D2FFC74A-10A8-4518-AE1A-78206BA68997}"/>
              </a:ext>
            </a:extLst>
          </p:cNvPr>
          <p:cNvSpPr>
            <a:spLocks noGrp="1"/>
          </p:cNvSpPr>
          <p:nvPr/>
        </p:nvSpPr>
        <p:spPr>
          <a:xfrm>
            <a:off x="14239875" y="6953250"/>
            <a:ext cx="13668375" cy="8048625"/>
          </a:xfrm>
          <a:prstGeom prst="rect">
            <a:avLst/>
          </a:prstGeom>
          <a:solidFill>
            <a:srgbClr val="FFFFFF"/>
          </a:solidFill>
          <a:ln w="13335">
            <a:solidFill>
              <a:srgbClr val="000000"/>
            </a:solidFill>
            <a:prstDash val="solid"/>
          </a:ln>
        </p:spPr>
        <p:txBody>
          <a:bodyPr anchor="ctr">
            <a:normAutofit/>
          </a:bodyPr>
          <a:lstStyle/>
          <a:p>
            <a:pPr algn="l">
              <a:buNone/>
              <a:defRPr sz="3225" b="0">
                <a:solidFill>
                  <a:srgbClr val="191919"/>
                </a:solidFill>
                <a:latin typeface="Arial"/>
                <a:ea typeface="Arial"/>
                <a:cs typeface="Arial"/>
              </a:defRPr>
            </a:pPr>
            <a:endParaRPr sz="3225" b="0">
              <a:solidFill>
                <a:srgbClr val="191919"/>
              </a:solidFill>
              <a:latin typeface="Arial"/>
              <a:ea typeface="Arial"/>
              <a:cs typeface="Arial"/>
            </a:endParaRPr>
          </a:p>
        </p:txBody>
      </p:sp>
      <p:sp>
        <p:nvSpPr>
          <p:cNvPr id="49" name="Validation heading">
            <a:extLst>
              <a:ext uri="{FF2B5EF4-FFF2-40B4-BE49-F238E27FC236}">
                <a16:creationId xmlns:a16="http://schemas.microsoft.com/office/drawing/2014/main" id="{39678B3A-927E-46B4-AC2B-3AD4BBF60AAF}"/>
              </a:ext>
            </a:extLst>
          </p:cNvPr>
          <p:cNvSpPr>
            <a:spLocks noGrp="1"/>
          </p:cNvSpPr>
          <p:nvPr/>
        </p:nvSpPr>
        <p:spPr>
          <a:xfrm>
            <a:off x="14239875" y="15478125"/>
            <a:ext cx="13668375" cy="1123950"/>
          </a:xfrm>
          <a:prstGeom prst="rect">
            <a:avLst/>
          </a:prstGeom>
          <a:solidFill>
            <a:srgbClr val="000000"/>
          </a:solidFill>
          <a:ln w="9525">
            <a:solidFill>
              <a:srgbClr val="000000"/>
            </a:solidFill>
            <a:prstDash val="solid"/>
          </a:ln>
        </p:spPr>
        <p:txBody>
          <a:bodyPr anchor="ctr">
            <a:normAutofit/>
          </a:bodyPr>
          <a:lstStyle/>
          <a:p>
            <a:pPr algn="l">
              <a:buNone/>
              <a:defRPr sz="4350" b="1">
                <a:solidFill>
                  <a:srgbClr val="F8C323"/>
                </a:solidFill>
                <a:latin typeface="Arial"/>
                <a:ea typeface="Arial"/>
                <a:cs typeface="Arial"/>
              </a:defRPr>
            </a:pPr>
            <a:r>
              <a:rPr sz="4350" b="1">
                <a:solidFill>
                  <a:srgbClr val="F8C323"/>
                </a:solidFill>
                <a:latin typeface="Arial"/>
                <a:ea typeface="Arial"/>
                <a:cs typeface="Arial"/>
              </a:rPr>
              <a:t>Comparison with 100-utterance samples</a:t>
            </a:r>
          </a:p>
        </p:txBody>
      </p:sp>
      <p:sp>
        <p:nvSpPr>
          <p:cNvPr id="50" name="Validation">
            <a:extLst>
              <a:ext uri="{FF2B5EF4-FFF2-40B4-BE49-F238E27FC236}">
                <a16:creationId xmlns:a16="http://schemas.microsoft.com/office/drawing/2014/main" id="{81EBDDC1-A844-46B2-B0B4-70DCC3A4102B}"/>
              </a:ext>
            </a:extLst>
          </p:cNvPr>
          <p:cNvSpPr>
            <a:spLocks noGrp="1"/>
          </p:cNvSpPr>
          <p:nvPr/>
        </p:nvSpPr>
        <p:spPr>
          <a:xfrm>
            <a:off x="14239875" y="16783622"/>
            <a:ext cx="13668375" cy="7981950"/>
          </a:xfrm>
          <a:prstGeom prst="rect">
            <a:avLst/>
          </a:prstGeom>
          <a:solidFill>
            <a:srgbClr val="FFFFFF"/>
          </a:solidFill>
          <a:ln w="13335">
            <a:solidFill>
              <a:srgbClr val="000000"/>
            </a:solidFill>
            <a:prstDash val="solid"/>
          </a:ln>
        </p:spPr>
        <p:txBody>
          <a:bodyPr anchor="ctr">
            <a:normAutofit/>
          </a:bodyPr>
          <a:lstStyle/>
          <a:p>
            <a:pPr algn="l">
              <a:buNone/>
              <a:defRPr sz="3150" b="0">
                <a:solidFill>
                  <a:srgbClr val="191919"/>
                </a:solidFill>
                <a:latin typeface="Arial"/>
                <a:ea typeface="Arial"/>
                <a:cs typeface="Arial"/>
              </a:defRPr>
            </a:pPr>
            <a:endParaRPr sz="3150" b="0">
              <a:solidFill>
                <a:srgbClr val="191919"/>
              </a:solidFill>
              <a:latin typeface="Arial"/>
              <a:ea typeface="Arial"/>
              <a:cs typeface="Arial"/>
            </a:endParaRPr>
          </a:p>
        </p:txBody>
      </p:sp>
      <p:sp>
        <p:nvSpPr>
          <p:cNvPr id="53" name="Results heading">
            <a:extLst>
              <a:ext uri="{FF2B5EF4-FFF2-40B4-BE49-F238E27FC236}">
                <a16:creationId xmlns:a16="http://schemas.microsoft.com/office/drawing/2014/main" id="{20C672B3-31DC-4FC8-A6BB-6325A9C5B44E}"/>
              </a:ext>
            </a:extLst>
          </p:cNvPr>
          <p:cNvSpPr>
            <a:spLocks noGrp="1"/>
          </p:cNvSpPr>
          <p:nvPr/>
        </p:nvSpPr>
        <p:spPr>
          <a:xfrm>
            <a:off x="28622625" y="5810250"/>
            <a:ext cx="12906375" cy="1123950"/>
          </a:xfrm>
          <a:prstGeom prst="rect">
            <a:avLst/>
          </a:prstGeom>
          <a:solidFill>
            <a:srgbClr val="000000"/>
          </a:solidFill>
          <a:ln w="9525">
            <a:solidFill>
              <a:srgbClr val="000000"/>
            </a:solidFill>
            <a:prstDash val="solid"/>
          </a:ln>
        </p:spPr>
        <p:txBody>
          <a:bodyPr anchor="ctr">
            <a:normAutofit/>
          </a:bodyPr>
          <a:lstStyle/>
          <a:p>
            <a:pPr algn="l">
              <a:buNone/>
              <a:defRPr sz="4350" b="1">
                <a:solidFill>
                  <a:srgbClr val="F8C323"/>
                </a:solidFill>
                <a:latin typeface="Arial"/>
                <a:ea typeface="Arial"/>
                <a:cs typeface="Arial"/>
              </a:defRPr>
            </a:pPr>
            <a:r>
              <a:rPr sz="4350" b="1">
                <a:solidFill>
                  <a:srgbClr val="F8C323"/>
                </a:solidFill>
                <a:latin typeface="Arial"/>
                <a:ea typeface="Arial"/>
                <a:cs typeface="Arial"/>
              </a:rPr>
              <a:t>Boundary Agreement</a:t>
            </a:r>
          </a:p>
        </p:txBody>
      </p:sp>
      <p:sp>
        <p:nvSpPr>
          <p:cNvPr id="54" name="Reference comparison panel">
            <a:extLst>
              <a:ext uri="{FF2B5EF4-FFF2-40B4-BE49-F238E27FC236}">
                <a16:creationId xmlns:a16="http://schemas.microsoft.com/office/drawing/2014/main" id="{62E1DAF2-FBFF-4742-BC7B-F29204D50E13}"/>
              </a:ext>
            </a:extLst>
          </p:cNvPr>
          <p:cNvSpPr>
            <a:spLocks noGrp="1"/>
          </p:cNvSpPr>
          <p:nvPr/>
        </p:nvSpPr>
        <p:spPr>
          <a:xfrm>
            <a:off x="28622625" y="6953250"/>
            <a:ext cx="12906375" cy="9286875"/>
          </a:xfrm>
          <a:prstGeom prst="rect">
            <a:avLst/>
          </a:prstGeom>
          <a:solidFill>
            <a:srgbClr val="FFFFFF"/>
          </a:solidFill>
          <a:ln w="13335">
            <a:solidFill>
              <a:srgbClr val="000000"/>
            </a:solidFill>
            <a:prstDash val="solid"/>
          </a:ln>
        </p:spPr>
        <p:txBody>
          <a:bodyPr anchor="t">
            <a:normAutofit/>
          </a:bodyPr>
          <a:lstStyle/>
          <a:p>
            <a:endParaRPr/>
          </a:p>
        </p:txBody>
      </p:sp>
      <p:sp>
        <p:nvSpPr>
          <p:cNvPr id="58" name="Manual sample heading">
            <a:extLst>
              <a:ext uri="{FF2B5EF4-FFF2-40B4-BE49-F238E27FC236}">
                <a16:creationId xmlns:a16="http://schemas.microsoft.com/office/drawing/2014/main" id="{D71E24E3-9C23-4CCA-AF04-A969C1A61A9F}"/>
              </a:ext>
            </a:extLst>
          </p:cNvPr>
          <p:cNvSpPr>
            <a:spLocks noGrp="1"/>
          </p:cNvSpPr>
          <p:nvPr/>
        </p:nvSpPr>
        <p:spPr>
          <a:xfrm>
            <a:off x="28622625" y="16716375"/>
            <a:ext cx="12906375" cy="1123950"/>
          </a:xfrm>
          <a:prstGeom prst="rect">
            <a:avLst/>
          </a:prstGeom>
          <a:solidFill>
            <a:srgbClr val="000000"/>
          </a:solidFill>
          <a:ln w="9525">
            <a:solidFill>
              <a:srgbClr val="000000"/>
            </a:solidFill>
            <a:prstDash val="solid"/>
          </a:ln>
        </p:spPr>
        <p:txBody>
          <a:bodyPr anchor="ctr">
            <a:normAutofit/>
          </a:bodyPr>
          <a:lstStyle/>
          <a:p>
            <a:pPr algn="l">
              <a:defRPr sz="4350" b="1">
                <a:solidFill>
                  <a:srgbClr val="F8C323"/>
                </a:solidFill>
                <a:latin typeface="Arial"/>
                <a:ea typeface="Arial"/>
                <a:cs typeface="Arial"/>
              </a:defRPr>
            </a:pPr>
            <a:r>
              <a:rPr lang="en-US" sz="4350" b="1" dirty="0">
                <a:solidFill>
                  <a:srgbClr val="F8C323"/>
                </a:solidFill>
                <a:latin typeface="Arial"/>
                <a:ea typeface="Arial"/>
                <a:cs typeface="Arial"/>
              </a:rPr>
              <a:t>Discussion</a:t>
            </a:r>
            <a:endParaRPr sz="4350" b="1" dirty="0">
              <a:solidFill>
                <a:srgbClr val="F8C323"/>
              </a:solidFill>
              <a:latin typeface="Arial"/>
              <a:ea typeface="Arial"/>
              <a:cs typeface="Arial"/>
            </a:endParaRPr>
          </a:p>
        </p:txBody>
      </p:sp>
      <p:sp>
        <p:nvSpPr>
          <p:cNvPr id="59" name="Manual sample results">
            <a:extLst>
              <a:ext uri="{FF2B5EF4-FFF2-40B4-BE49-F238E27FC236}">
                <a16:creationId xmlns:a16="http://schemas.microsoft.com/office/drawing/2014/main" id="{5DA50676-5CD5-497A-BD16-3A3396AC03A8}"/>
              </a:ext>
            </a:extLst>
          </p:cNvPr>
          <p:cNvSpPr>
            <a:spLocks noGrp="1"/>
          </p:cNvSpPr>
          <p:nvPr/>
        </p:nvSpPr>
        <p:spPr>
          <a:xfrm>
            <a:off x="28620690" y="18030825"/>
            <a:ext cx="12906375" cy="6572250"/>
          </a:xfrm>
          <a:prstGeom prst="rect">
            <a:avLst/>
          </a:prstGeom>
          <a:solidFill>
            <a:srgbClr val="FFFFFF"/>
          </a:solidFill>
          <a:ln w="13335">
            <a:solidFill>
              <a:srgbClr val="000000"/>
            </a:solidFill>
            <a:prstDash val="solid"/>
          </a:ln>
        </p:spPr>
        <p:txBody>
          <a:bodyPr anchor="ctr">
            <a:normAutofit/>
          </a:bodyPr>
          <a:lstStyle/>
          <a:p>
            <a:pPr algn="l">
              <a:buNone/>
              <a:defRPr sz="2850" b="0">
                <a:solidFill>
                  <a:srgbClr val="191919"/>
                </a:solidFill>
                <a:latin typeface="Arial"/>
                <a:ea typeface="Arial"/>
                <a:cs typeface="Arial"/>
              </a:defRPr>
            </a:pPr>
            <a:endParaRPr sz="2850" b="0">
              <a:solidFill>
                <a:srgbClr val="191919"/>
              </a:solidFill>
              <a:latin typeface="Arial"/>
              <a:ea typeface="Arial"/>
              <a:cs typeface="Arial"/>
            </a:endParaRPr>
          </a:p>
        </p:txBody>
      </p:sp>
      <p:sp>
        <p:nvSpPr>
          <p:cNvPr id="63" name="Footnote">
            <a:extLst>
              <a:ext uri="{FF2B5EF4-FFF2-40B4-BE49-F238E27FC236}">
                <a16:creationId xmlns:a16="http://schemas.microsoft.com/office/drawing/2014/main" id="{77405AC2-B735-4282-89E1-536AFE8CC9BD}"/>
              </a:ext>
            </a:extLst>
          </p:cNvPr>
          <p:cNvSpPr>
            <a:spLocks noGrp="1"/>
          </p:cNvSpPr>
          <p:nvPr/>
        </p:nvSpPr>
        <p:spPr>
          <a:xfrm>
            <a:off x="26765250" y="32004000"/>
            <a:ext cx="14573250" cy="714375"/>
          </a:xfrm>
          <a:prstGeom prst="rect">
            <a:avLst/>
          </a:prstGeom>
          <a:noFill/>
          <a:ln w="0">
            <a:noFill/>
            <a:prstDash val="solid"/>
          </a:ln>
        </p:spPr>
        <p:txBody>
          <a:bodyPr anchor="ctr">
            <a:noAutofit/>
          </a:bodyPr>
          <a:lstStyle/>
          <a:p>
            <a:pPr algn="l">
              <a:buNone/>
              <a:defRPr sz="1725" b="0">
                <a:solidFill>
                  <a:srgbClr val="444444"/>
                </a:solidFill>
                <a:latin typeface="Arial"/>
                <a:ea typeface="Arial"/>
                <a:cs typeface="Arial"/>
              </a:defRPr>
            </a:pPr>
            <a:r>
              <a:rPr sz="1725" b="0">
                <a:solidFill>
                  <a:srgbClr val="444444"/>
                </a:solidFill>
                <a:latin typeface="Arial"/>
                <a:ea typeface="Arial"/>
                <a:cs typeface="Arial"/>
              </a:rPr>
              <a:t>Error is MAPE, calculated within each participant, then averaged equally across participants.</a:t>
            </a:r>
          </a:p>
        </p:txBody>
      </p:sp>
      <p:sp>
        <p:nvSpPr>
          <p:cNvPr id="6" name="TextBox 5">
            <a:extLst>
              <a:ext uri="{FF2B5EF4-FFF2-40B4-BE49-F238E27FC236}">
                <a16:creationId xmlns:a16="http://schemas.microsoft.com/office/drawing/2014/main" id="{B5DA288B-BA61-13B4-C2A9-9CB7D934EFB1}"/>
              </a:ext>
            </a:extLst>
          </p:cNvPr>
          <p:cNvSpPr>
            <a:spLocks noGrp="1"/>
          </p:cNvSpPr>
          <p:nvPr/>
        </p:nvSpPr>
        <p:spPr>
          <a:xfrm>
            <a:off x="333375" y="30213300"/>
            <a:ext cx="22860000" cy="386988"/>
          </a:xfrm>
          <a:prstGeom prst="rect">
            <a:avLst/>
          </a:prstGeom>
          <a:noFill/>
        </p:spPr>
        <p:txBody>
          <a:bodyPr rot="0" spcFirstLastPara="0" vert="horz" wrap="square" lIns="78377" tIns="39189" rIns="78377" bIns="39189" anchor="t">
            <a:noAutofit/>
          </a:bodyPr>
          <a:lstStyle/>
          <a:p>
            <a:pPr algn="ctr">
              <a:buNone/>
              <a:defRPr sz="2025" b="1">
                <a:solidFill>
                  <a:srgbClr val="111111"/>
                </a:solidFill>
                <a:latin typeface="Arial"/>
                <a:ea typeface="Arial"/>
                <a:cs typeface="Arial"/>
              </a:defRPr>
            </a:pPr>
            <a:r>
              <a:rPr sz="2025" b="1">
                <a:solidFill>
                  <a:srgbClr val="111111"/>
                </a:solidFill>
                <a:latin typeface="Arial"/>
                <a:ea typeface="Arial"/>
                <a:cs typeface="Arial"/>
              </a:rPr>
              <a:t>References</a:t>
            </a:r>
            <a:endParaRPr/>
          </a:p>
        </p:txBody>
      </p:sp>
      <p:sp>
        <p:nvSpPr>
          <p:cNvPr id="7" name="TextBox 6">
            <a:extLst>
              <a:ext uri="{FF2B5EF4-FFF2-40B4-BE49-F238E27FC236}">
                <a16:creationId xmlns:a16="http://schemas.microsoft.com/office/drawing/2014/main" id="{244DA011-5E1E-17C2-7523-786254C746B6}"/>
              </a:ext>
            </a:extLst>
          </p:cNvPr>
          <p:cNvSpPr>
            <a:spLocks noGrp="1"/>
          </p:cNvSpPr>
          <p:nvPr/>
        </p:nvSpPr>
        <p:spPr>
          <a:xfrm>
            <a:off x="333375" y="30622875"/>
            <a:ext cx="25669875" cy="1924050"/>
          </a:xfrm>
          <a:prstGeom prst="rect">
            <a:avLst/>
          </a:prstGeom>
          <a:noFill/>
        </p:spPr>
        <p:txBody>
          <a:bodyPr rot="0" spcFirstLastPara="0" vert="horz" wrap="square" lIns="78377" tIns="39189" rIns="78377" bIns="39189" anchor="t">
            <a:noAutofit/>
          </a:bodyPr>
          <a:lstStyle/>
          <a:p>
            <a:pPr>
              <a:defRPr sz="1500">
                <a:solidFill>
                  <a:srgbClr val="111111"/>
                </a:solidFill>
                <a:latin typeface="Arial"/>
                <a:ea typeface="Arial"/>
                <a:cs typeface="Arial"/>
              </a:defRPr>
            </a:pPr>
            <a:r>
              <a:rPr sz="1500">
                <a:solidFill>
                  <a:srgbClr val="111111"/>
                </a:solidFill>
                <a:latin typeface="Arial"/>
                <a:ea typeface="Arial"/>
                <a:cs typeface="Arial"/>
              </a:rPr>
              <a:t>[1] Fox CB, Israelsen-Augenstein M, Jones S, Gillam SL. An evaluation of expedited transcription methods for school-age children’s narrative language: Automatic speech recognition and real-time transcription. J Speech Lang Hear Res. 2021;64:3533–3548. doi:10.1044/2021_JSLHR-21-00096.</a:t>
            </a:r>
            <a:endParaRPr sz="1500">
              <a:latin typeface="Montserrat"/>
              <a:ea typeface="Montserrat"/>
              <a:cs typeface="Montserrat"/>
            </a:endParaRPr>
          </a:p>
          <a:p>
            <a:pPr>
              <a:defRPr sz="1500">
                <a:solidFill>
                  <a:srgbClr val="111111"/>
                </a:solidFill>
                <a:latin typeface="Arial"/>
                <a:ea typeface="Arial"/>
                <a:cs typeface="Arial"/>
              </a:defRPr>
            </a:pPr>
            <a:r>
              <a:rPr sz="1500">
                <a:solidFill>
                  <a:srgbClr val="111111"/>
                </a:solidFill>
                <a:latin typeface="Arial"/>
                <a:ea typeface="Arial"/>
                <a:cs typeface="Arial"/>
              </a:rPr>
              <a:t>[2] Kyle K, Crossley SA, Jarvis S. Assessing the validity of lexical diversity indices using direct judgements. Lang Assess Q. 2021;18:154–170. doi:10.1080/15434303.2020.1844205.</a:t>
            </a:r>
          </a:p>
          <a:p>
            <a:pPr>
              <a:defRPr sz="1500">
                <a:solidFill>
                  <a:srgbClr val="111111"/>
                </a:solidFill>
                <a:latin typeface="Arial"/>
                <a:ea typeface="Arial"/>
                <a:cs typeface="Arial"/>
              </a:defRPr>
            </a:pPr>
            <a:r>
              <a:rPr sz="1500">
                <a:solidFill>
                  <a:srgbClr val="111111"/>
                </a:solidFill>
                <a:latin typeface="Arial"/>
                <a:ea typeface="Arial"/>
                <a:cs typeface="Arial"/>
              </a:rPr>
              <a:t>[3] MacWhinney B. The CHILDES Project: Tools for Analyzing Talk. 3rd ed. Lawrence Erlbaum Associates; 2000.</a:t>
            </a:r>
            <a:endParaRPr sz="1500">
              <a:latin typeface="Montserrat"/>
              <a:ea typeface="Montserrat"/>
              <a:cs typeface="Montserrat"/>
            </a:endParaRPr>
          </a:p>
          <a:p>
            <a:pPr>
              <a:defRPr sz="1500">
                <a:solidFill>
                  <a:srgbClr val="111111"/>
                </a:solidFill>
                <a:latin typeface="Arial"/>
                <a:ea typeface="Arial"/>
                <a:cs typeface="Arial"/>
              </a:defRPr>
            </a:pPr>
            <a:r>
              <a:rPr sz="1500">
                <a:solidFill>
                  <a:srgbClr val="111111"/>
                </a:solidFill>
                <a:latin typeface="Arial"/>
                <a:ea typeface="Arial"/>
                <a:cs typeface="Arial"/>
              </a:rPr>
              <a:t>[4] Cohen J. A coefficient of agreement for nominal scales. Educ Psychol Meas. 1960;20:37–46. doi:10.1177/001316446002000104.</a:t>
            </a:r>
            <a:endParaRPr sz="1500">
              <a:latin typeface="Montserrat"/>
              <a:ea typeface="Montserrat"/>
              <a:cs typeface="Montserrat"/>
            </a:endParaRPr>
          </a:p>
        </p:txBody>
      </p:sp>
      <p:sp>
        <p:nvSpPr>
          <p:cNvPr id="8" name="Text Placeholder 11">
            <a:extLst>
              <a:ext uri="{FF2B5EF4-FFF2-40B4-BE49-F238E27FC236}">
                <a16:creationId xmlns:a16="http://schemas.microsoft.com/office/drawing/2014/main" id="{45378B0D-8489-5529-395D-D73095C86902}"/>
              </a:ext>
            </a:extLst>
          </p:cNvPr>
          <p:cNvSpPr txBox="1">
            <a:spLocks/>
          </p:cNvSpPr>
          <p:nvPr/>
        </p:nvSpPr>
        <p:spPr>
          <a:xfrm>
            <a:off x="26766513" y="30467223"/>
            <a:ext cx="16791312" cy="1302476"/>
          </a:xfrm>
          <a:prstGeom prst="rect">
            <a:avLst/>
          </a:prstGeom>
          <a:ln w="76200" cap="rnd" cmpd="sng">
            <a:noFill/>
            <a:prstDash val="solid"/>
            <a:extLst>
              <a:ext uri="{C807C97D-BFC1-408E-A445-0C87EB9F89A2}">
                <ask:lineSketchStyleProps xmlns:ask="http://schemas.microsoft.com/office/drawing/2018/sketchyshapes" sd="1219033472">
                  <a:custGeom>
                    <a:avLst/>
                    <a:gdLst>
                      <a:gd name="connsiteX0" fmla="*/ 0 w 15362238"/>
                      <a:gd name="connsiteY0" fmla="*/ 0 h 10830332"/>
                      <a:gd name="connsiteX1" fmla="*/ 15362238 w 15362238"/>
                      <a:gd name="connsiteY1" fmla="*/ 0 h 10830332"/>
                      <a:gd name="connsiteX2" fmla="*/ 15362238 w 15362238"/>
                      <a:gd name="connsiteY2" fmla="*/ 10830332 h 10830332"/>
                      <a:gd name="connsiteX3" fmla="*/ 0 w 15362238"/>
                      <a:gd name="connsiteY3" fmla="*/ 10830332 h 10830332"/>
                      <a:gd name="connsiteX4" fmla="*/ 0 w 15362238"/>
                      <a:gd name="connsiteY4" fmla="*/ 0 h 10830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62238" h="10830332" extrusionOk="0">
                        <a:moveTo>
                          <a:pt x="0" y="0"/>
                        </a:moveTo>
                        <a:cubicBezTo>
                          <a:pt x="3079308" y="118645"/>
                          <a:pt x="11775218" y="116012"/>
                          <a:pt x="15362238" y="0"/>
                        </a:cubicBezTo>
                        <a:cubicBezTo>
                          <a:pt x="15229356" y="3694253"/>
                          <a:pt x="15447189" y="9163965"/>
                          <a:pt x="15362238" y="10830332"/>
                        </a:cubicBezTo>
                        <a:cubicBezTo>
                          <a:pt x="11037558" y="10964932"/>
                          <a:pt x="4703400" y="10673136"/>
                          <a:pt x="0" y="10830332"/>
                        </a:cubicBezTo>
                        <a:cubicBezTo>
                          <a:pt x="-20187" y="8000586"/>
                          <a:pt x="-152480" y="3070887"/>
                          <a:pt x="0" y="0"/>
                        </a:cubicBezTo>
                        <a:close/>
                      </a:path>
                    </a:pathLst>
                  </a:custGeom>
                  <ask:type>
                    <ask:lineSketchNone/>
                  </ask:type>
                </ask:lineSketchStyleProps>
              </a:ext>
            </a:extLst>
          </a:ln>
          <a:effectLst/>
        </p:spPr>
        <p:txBody>
          <a:bodyPr vert="horz" lIns="391886" tIns="235131" rIns="391886" bIns="235131" rtlCol="0" anchor="t">
            <a:noAutofit/>
          </a:bodyPr>
          <a:lstStyle>
            <a:lvl1pPr marL="0" indent="0" algn="l" defTabSz="1907755" rtl="0" eaLnBrk="1" latinLnBrk="0" hangingPunct="1">
              <a:lnSpc>
                <a:spcPct val="90000"/>
              </a:lnSpc>
              <a:spcBef>
                <a:spcPts val="2400"/>
              </a:spcBef>
              <a:buFont typeface="Arial" panose="020B0604020202020204" pitchFamily="34" charset="0"/>
              <a:buNone/>
              <a:defRPr sz="4000" b="0" i="0" kern="1200">
                <a:solidFill>
                  <a:schemeClr val="tx1"/>
                </a:solidFill>
                <a:latin typeface="Montserrat" pitchFamily="2" charset="77"/>
                <a:ea typeface="+mn-ea"/>
                <a:cs typeface="+mn-cs"/>
              </a:defRPr>
            </a:lvl1pPr>
            <a:lvl2pPr marL="2193925" indent="0" algn="l" defTabSz="1907755" rtl="0" eaLnBrk="1" latinLnBrk="0" hangingPunct="1">
              <a:lnSpc>
                <a:spcPct val="90000"/>
              </a:lnSpc>
              <a:spcBef>
                <a:spcPts val="1044"/>
              </a:spcBef>
              <a:buFont typeface="Arial" panose="020B0604020202020204" pitchFamily="34" charset="0"/>
              <a:buNone/>
              <a:defRPr sz="4000" b="0" i="0" kern="1200">
                <a:solidFill>
                  <a:schemeClr val="tx1"/>
                </a:solidFill>
                <a:latin typeface="Satoshi" pitchFamily="2" charset="77"/>
                <a:ea typeface="+mn-ea"/>
                <a:cs typeface="+mn-cs"/>
              </a:defRPr>
            </a:lvl2pPr>
            <a:lvl3pPr marL="2384695" indent="-476940" algn="l" defTabSz="1907755" rtl="0" eaLnBrk="1" latinLnBrk="0" hangingPunct="1">
              <a:lnSpc>
                <a:spcPct val="90000"/>
              </a:lnSpc>
              <a:spcBef>
                <a:spcPts val="1044"/>
              </a:spcBef>
              <a:buFont typeface="Arial" panose="020B0604020202020204" pitchFamily="34" charset="0"/>
              <a:buChar char="•"/>
              <a:defRPr sz="4000" b="0" i="0" kern="1200">
                <a:solidFill>
                  <a:schemeClr val="tx1"/>
                </a:solidFill>
                <a:latin typeface="Satoshi" pitchFamily="2" charset="77"/>
                <a:ea typeface="+mn-ea"/>
                <a:cs typeface="+mn-cs"/>
              </a:defRPr>
            </a:lvl3pPr>
            <a:lvl4pPr marL="3338573" indent="-476940" algn="l" defTabSz="1907755" rtl="0" eaLnBrk="1" latinLnBrk="0" hangingPunct="1">
              <a:lnSpc>
                <a:spcPct val="90000"/>
              </a:lnSpc>
              <a:spcBef>
                <a:spcPts val="1044"/>
              </a:spcBef>
              <a:buFont typeface="Arial" panose="020B0604020202020204" pitchFamily="34" charset="0"/>
              <a:buChar char="•"/>
              <a:defRPr sz="4000" b="0" i="0" kern="1200">
                <a:solidFill>
                  <a:schemeClr val="tx1"/>
                </a:solidFill>
                <a:latin typeface="Satoshi" pitchFamily="2" charset="77"/>
                <a:ea typeface="+mn-ea"/>
                <a:cs typeface="+mn-cs"/>
              </a:defRPr>
            </a:lvl4pPr>
            <a:lvl5pPr marL="4292450" indent="-476940" algn="l" defTabSz="1907755" rtl="0" eaLnBrk="1" latinLnBrk="0" hangingPunct="1">
              <a:lnSpc>
                <a:spcPct val="90000"/>
              </a:lnSpc>
              <a:spcBef>
                <a:spcPts val="1044"/>
              </a:spcBef>
              <a:buFont typeface="Arial" panose="020B0604020202020204" pitchFamily="34" charset="0"/>
              <a:buChar char="•"/>
              <a:defRPr sz="4000" b="0" i="0" kern="1200">
                <a:solidFill>
                  <a:schemeClr val="tx1"/>
                </a:solidFill>
                <a:latin typeface="Satoshi" pitchFamily="2" charset="77"/>
                <a:ea typeface="+mn-ea"/>
                <a:cs typeface="+mn-cs"/>
              </a:defRPr>
            </a:lvl5pPr>
            <a:lvl6pPr marL="5246328" indent="-476940" algn="l" defTabSz="1907755" rtl="0" eaLnBrk="1" latinLnBrk="0" hangingPunct="1">
              <a:lnSpc>
                <a:spcPct val="90000"/>
              </a:lnSpc>
              <a:spcBef>
                <a:spcPts val="1044"/>
              </a:spcBef>
              <a:buFont typeface="Arial" panose="020B0604020202020204" pitchFamily="34" charset="0"/>
              <a:buChar char="•"/>
              <a:defRPr sz="3757" kern="1200">
                <a:solidFill>
                  <a:schemeClr val="tx1"/>
                </a:solidFill>
                <a:latin typeface="+mn-lt"/>
                <a:ea typeface="+mn-ea"/>
                <a:cs typeface="+mn-cs"/>
              </a:defRPr>
            </a:lvl6pPr>
            <a:lvl7pPr marL="6200205" indent="-476940" algn="l" defTabSz="1907755" rtl="0" eaLnBrk="1" latinLnBrk="0" hangingPunct="1">
              <a:lnSpc>
                <a:spcPct val="90000"/>
              </a:lnSpc>
              <a:spcBef>
                <a:spcPts val="1044"/>
              </a:spcBef>
              <a:buFont typeface="Arial" panose="020B0604020202020204" pitchFamily="34" charset="0"/>
              <a:buChar char="•"/>
              <a:defRPr sz="3757" kern="1200">
                <a:solidFill>
                  <a:schemeClr val="tx1"/>
                </a:solidFill>
                <a:latin typeface="+mn-lt"/>
                <a:ea typeface="+mn-ea"/>
                <a:cs typeface="+mn-cs"/>
              </a:defRPr>
            </a:lvl7pPr>
            <a:lvl8pPr marL="7154083" indent="-476940" algn="l" defTabSz="1907755" rtl="0" eaLnBrk="1" latinLnBrk="0" hangingPunct="1">
              <a:lnSpc>
                <a:spcPct val="90000"/>
              </a:lnSpc>
              <a:spcBef>
                <a:spcPts val="1044"/>
              </a:spcBef>
              <a:buFont typeface="Arial" panose="020B0604020202020204" pitchFamily="34" charset="0"/>
              <a:buChar char="•"/>
              <a:defRPr sz="3757" kern="1200">
                <a:solidFill>
                  <a:schemeClr val="tx1"/>
                </a:solidFill>
                <a:latin typeface="+mn-lt"/>
                <a:ea typeface="+mn-ea"/>
                <a:cs typeface="+mn-cs"/>
              </a:defRPr>
            </a:lvl8pPr>
            <a:lvl9pPr marL="8107960" indent="-476940" algn="l" defTabSz="1907755" rtl="0" eaLnBrk="1" latinLnBrk="0" hangingPunct="1">
              <a:lnSpc>
                <a:spcPct val="90000"/>
              </a:lnSpc>
              <a:spcBef>
                <a:spcPts val="1044"/>
              </a:spcBef>
              <a:buFont typeface="Arial" panose="020B0604020202020204" pitchFamily="34" charset="0"/>
              <a:buChar char="•"/>
              <a:defRPr sz="3757" kern="1200">
                <a:solidFill>
                  <a:schemeClr val="tx1"/>
                </a:solidFill>
                <a:latin typeface="+mn-lt"/>
                <a:ea typeface="+mn-ea"/>
                <a:cs typeface="+mn-cs"/>
              </a:defRPr>
            </a:lvl9pPr>
          </a:lstStyle>
          <a:p>
            <a:r>
              <a:rPr lang="en-US" sz="2057" b="1" dirty="0">
                <a:latin typeface="Montserrat"/>
                <a:cs typeface="Times New Roman"/>
              </a:rPr>
              <a:t>Acknowledgments: </a:t>
            </a:r>
            <a:r>
              <a:rPr lang="en-US" sz="2057" dirty="0">
                <a:latin typeface="Montserrat"/>
                <a:cs typeface="Times New Roman"/>
              </a:rPr>
              <a:t> Thompson Center for Autism &amp; Neurodevelopment</a:t>
            </a:r>
            <a:endParaRPr lang="en-US" sz="2057" dirty="0">
              <a:cs typeface="Times New Roman"/>
            </a:endParaRPr>
          </a:p>
          <a:p>
            <a:r>
              <a:rPr lang="en-US" sz="2057" b="1" dirty="0">
                <a:latin typeface="Montserrat"/>
                <a:cs typeface="Times New Roman"/>
              </a:rPr>
              <a:t>Funding sources</a:t>
            </a:r>
            <a:r>
              <a:rPr lang="en-US" sz="2057" dirty="0">
                <a:latin typeface="Montserrat"/>
                <a:cs typeface="Times New Roman"/>
              </a:rPr>
              <a:t>: Coulter Biomedical Accelerator Program at the University of Missouri;  Autism Research Institute (ARI). </a:t>
            </a:r>
            <a:endParaRPr lang="en-US" sz="2057" dirty="0"/>
          </a:p>
        </p:txBody>
      </p:sp>
      <p:sp>
        <p:nvSpPr>
          <p:cNvPr id="2" name="Text Placeholder 3">
            <a:extLst>
              <a:ext uri="{FF2B5EF4-FFF2-40B4-BE49-F238E27FC236}">
                <a16:creationId xmlns:a16="http://schemas.microsoft.com/office/drawing/2014/main" id="{22FEA4E3-A603-3774-F5D7-54B12AED79F0}"/>
              </a:ext>
            </a:extLst>
          </p:cNvPr>
          <p:cNvSpPr txBox="1">
            <a:spLocks/>
          </p:cNvSpPr>
          <p:nvPr/>
        </p:nvSpPr>
        <p:spPr>
          <a:xfrm>
            <a:off x="904873" y="2541643"/>
            <a:ext cx="30756226" cy="1560781"/>
          </a:xfrm>
          <a:prstGeom prst="rect">
            <a:avLst/>
          </a:prstGeom>
          <a:noFill/>
          <a:ln>
            <a:noFill/>
          </a:ln>
        </p:spPr>
        <p:txBody>
          <a:bodyPr vert="horz" wrap="square" lIns="1828800" tIns="219429" rIns="438912" bIns="219429" anchor="ctr">
            <a:noAutofit/>
          </a:bodyPr>
          <a:lstStyle>
            <a:lvl1pPr marL="0" marR="0" indent="0" algn="l" defTabSz="3760746">
              <a:lnSpc>
                <a:spcPct val="100000"/>
              </a:lnSpc>
              <a:spcBef>
                <a:spcPct val="20000"/>
              </a:spcBef>
              <a:spcAft>
                <a:spcPct val="0"/>
              </a:spcAft>
              <a:buClrTx/>
              <a:buSzTx/>
              <a:buFontTx/>
              <a:buNone/>
              <a:defRPr sz="4627">
                <a:solidFill>
                  <a:schemeClr val="tx1"/>
                </a:solidFill>
                <a:latin typeface="+mn-lt"/>
                <a:ea typeface="+mn-lt"/>
                <a:cs typeface="+mn-lt"/>
              </a:defRPr>
            </a:lvl1pPr>
            <a:lvl2pPr marL="2860017" indent="-979644" algn="l" defTabSz="3760746">
              <a:spcBef>
                <a:spcPct val="20000"/>
              </a:spcBef>
              <a:spcAft>
                <a:spcPct val="0"/>
              </a:spcAft>
              <a:buFont typeface="Arial"/>
              <a:buNone/>
              <a:defRPr sz="11485">
                <a:solidFill>
                  <a:schemeClr val="bg1"/>
                </a:solidFill>
                <a:latin typeface="+mn-lt"/>
                <a:ea typeface="+mn-lt"/>
                <a:cs typeface="+mn-lt"/>
              </a:defRPr>
            </a:lvl2pPr>
            <a:lvl3pPr marL="4740390" indent="-979644" algn="l" defTabSz="3760746">
              <a:spcBef>
                <a:spcPct val="20000"/>
              </a:spcBef>
              <a:spcAft>
                <a:spcPct val="0"/>
              </a:spcAft>
              <a:buFont typeface="Arial"/>
              <a:buNone/>
              <a:defRPr sz="9857">
                <a:solidFill>
                  <a:schemeClr val="bg1"/>
                </a:solidFill>
                <a:latin typeface="+mn-lt"/>
                <a:ea typeface="+mn-lt"/>
                <a:cs typeface="+mn-lt"/>
              </a:defRPr>
            </a:lvl3pPr>
            <a:lvl4pPr marL="6622124" indent="-979644" algn="l" defTabSz="3760746">
              <a:spcBef>
                <a:spcPct val="20000"/>
              </a:spcBef>
              <a:spcAft>
                <a:spcPct val="0"/>
              </a:spcAft>
              <a:buFont typeface="Arial"/>
              <a:buNone/>
              <a:defRPr sz="8228">
                <a:solidFill>
                  <a:schemeClr val="bg1"/>
                </a:solidFill>
                <a:latin typeface="+mn-lt"/>
                <a:ea typeface="+mn-lt"/>
                <a:cs typeface="+mn-lt"/>
              </a:defRPr>
            </a:lvl4pPr>
            <a:lvl5pPr marL="8502495" indent="-979644" algn="l" defTabSz="3760746">
              <a:spcBef>
                <a:spcPct val="20000"/>
              </a:spcBef>
              <a:spcAft>
                <a:spcPct val="0"/>
              </a:spcAft>
              <a:buFont typeface="Arial"/>
              <a:buNone/>
              <a:defRPr sz="8228">
                <a:solidFill>
                  <a:schemeClr val="bg1"/>
                </a:solidFill>
                <a:latin typeface="+mn-lt"/>
                <a:ea typeface="+mn-lt"/>
                <a:cs typeface="+mn-lt"/>
              </a:defRPr>
            </a:lvl5pPr>
            <a:lvl6pPr marL="8854896" indent="-940187" algn="l" defTabSz="3760746">
              <a:spcBef>
                <a:spcPct val="20000"/>
              </a:spcBef>
              <a:spcAft>
                <a:spcPct val="0"/>
              </a:spcAft>
              <a:buChar char="»"/>
              <a:defRPr sz="8228">
                <a:solidFill>
                  <a:schemeClr val="tx1"/>
                </a:solidFill>
                <a:latin typeface="+mn-lt"/>
                <a:ea typeface="+mn-lt"/>
                <a:cs typeface="+mn-lt"/>
              </a:defRPr>
            </a:lvl6pPr>
            <a:lvl7pPr marL="9246754" indent="-940187" algn="l" defTabSz="3760746">
              <a:spcBef>
                <a:spcPct val="20000"/>
              </a:spcBef>
              <a:spcAft>
                <a:spcPct val="0"/>
              </a:spcAft>
              <a:buChar char="»"/>
              <a:defRPr sz="8228">
                <a:solidFill>
                  <a:schemeClr val="tx1"/>
                </a:solidFill>
                <a:latin typeface="+mn-lt"/>
                <a:ea typeface="+mn-lt"/>
                <a:cs typeface="+mn-lt"/>
              </a:defRPr>
            </a:lvl7pPr>
            <a:lvl8pPr marL="9638611" indent="-940187" algn="l" defTabSz="3760746">
              <a:spcBef>
                <a:spcPct val="20000"/>
              </a:spcBef>
              <a:spcAft>
                <a:spcPct val="0"/>
              </a:spcAft>
              <a:buChar char="»"/>
              <a:defRPr sz="8228">
                <a:solidFill>
                  <a:schemeClr val="tx1"/>
                </a:solidFill>
                <a:latin typeface="+mn-lt"/>
                <a:ea typeface="+mn-lt"/>
                <a:cs typeface="+mn-lt"/>
              </a:defRPr>
            </a:lvl8pPr>
            <a:lvl9pPr marL="10030469" indent="-940187" algn="l" defTabSz="3760746">
              <a:spcBef>
                <a:spcPct val="20000"/>
              </a:spcBef>
              <a:spcAft>
                <a:spcPct val="0"/>
              </a:spcAft>
              <a:buChar char="»"/>
              <a:defRPr sz="8228">
                <a:solidFill>
                  <a:schemeClr val="tx1"/>
                </a:solidFill>
                <a:latin typeface="+mn-lt"/>
                <a:ea typeface="+mn-lt"/>
                <a:cs typeface="+mn-lt"/>
              </a:defRPr>
            </a:lvl9pPr>
          </a:lstStyle>
          <a:p>
            <a:pPr algn="ctr"/>
            <a:r>
              <a:rPr lang="en-US" sz="4630" kern="0" dirty="0">
                <a:latin typeface="Montserrat" pitchFamily="2" charset="77"/>
              </a:rPr>
              <a:t>Kazi Sameer Nafee</a:t>
            </a:r>
            <a:r>
              <a:rPr lang="en-US" sz="4630" kern="0" baseline="30000" dirty="0">
                <a:latin typeface="Montserrat" pitchFamily="2" charset="77"/>
              </a:rPr>
              <a:t>1,</a:t>
            </a:r>
            <a:r>
              <a:rPr lang="en-US" sz="4630" kern="0" dirty="0">
                <a:latin typeface="Montserrat" pitchFamily="2" charset="77"/>
              </a:rPr>
              <a:t>, Fang Wang, PhD.</a:t>
            </a:r>
            <a:r>
              <a:rPr lang="en-US" sz="4630" kern="0" baseline="30000" dirty="0">
                <a:latin typeface="Montserrat" pitchFamily="2" charset="77"/>
              </a:rPr>
              <a:t>1</a:t>
            </a:r>
            <a:r>
              <a:rPr lang="en-US" sz="4630" kern="0" dirty="0">
                <a:latin typeface="Montserrat" pitchFamily="2" charset="77"/>
              </a:rPr>
              <a:t>, Yamen Ziadeh</a:t>
            </a:r>
            <a:r>
              <a:rPr lang="en-US" sz="4630" kern="0" baseline="30000" dirty="0">
                <a:latin typeface="Montserrat" pitchFamily="2" charset="77"/>
              </a:rPr>
              <a:t>1</a:t>
            </a:r>
            <a:r>
              <a:rPr lang="en-US" sz="4630" kern="0" dirty="0">
                <a:latin typeface="Montserrat" pitchFamily="2" charset="77"/>
              </a:rPr>
              <a:t>, Jade Jiaxuan Dang</a:t>
            </a:r>
            <a:r>
              <a:rPr lang="en-US" sz="4630" kern="0" baseline="30000" dirty="0">
                <a:latin typeface="Montserrat" pitchFamily="2" charset="77"/>
              </a:rPr>
              <a:t>2</a:t>
            </a:r>
            <a:r>
              <a:rPr lang="en-US" sz="4630" kern="0" dirty="0">
                <a:latin typeface="Montserrat" pitchFamily="2" charset="77"/>
              </a:rPr>
              <a:t>, Katelyn </a:t>
            </a:r>
            <a:r>
              <a:rPr lang="en-US" sz="4630" dirty="0">
                <a:latin typeface="Montserrat" pitchFamily="2" charset="77"/>
              </a:rPr>
              <a:t>Matzdorf</a:t>
            </a:r>
            <a:r>
              <a:rPr lang="en-US" sz="4630" kern="0" baseline="30000" dirty="0">
                <a:latin typeface="Montserrat" pitchFamily="2" charset="77"/>
              </a:rPr>
              <a:t>2</a:t>
            </a:r>
            <a:r>
              <a:rPr lang="en-US" sz="4630" dirty="0">
                <a:latin typeface="Montserrat" pitchFamily="2" charset="77"/>
              </a:rPr>
              <a:t>, Emily Hawkins</a:t>
            </a:r>
            <a:r>
              <a:rPr lang="en-US" sz="4630" kern="0" baseline="30000" dirty="0">
                <a:latin typeface="Montserrat" pitchFamily="2" charset="77"/>
              </a:rPr>
              <a:t>2</a:t>
            </a:r>
            <a:r>
              <a:rPr lang="en-US" sz="4630" dirty="0">
                <a:latin typeface="Montserrat" pitchFamily="2" charset="77"/>
              </a:rPr>
              <a:t>,</a:t>
            </a:r>
            <a:r>
              <a:rPr lang="en-US" sz="4630" kern="0" dirty="0">
                <a:latin typeface="Montserrat" pitchFamily="2" charset="77"/>
              </a:rPr>
              <a:t> David Q. Beversdorf, MD.</a:t>
            </a:r>
            <a:r>
              <a:rPr lang="en-US" sz="4630" kern="0" baseline="30000" dirty="0">
                <a:latin typeface="Montserrat" pitchFamily="2" charset="77"/>
              </a:rPr>
              <a:t>2</a:t>
            </a:r>
            <a:r>
              <a:rPr lang="en-US" sz="4630" kern="0" dirty="0">
                <a:latin typeface="Montserrat" pitchFamily="2" charset="77"/>
              </a:rPr>
              <a:t>, &amp; Bradley J. Ferguson, PhD</a:t>
            </a:r>
            <a:r>
              <a:rPr lang="en-US" sz="4630" kern="0" baseline="30000" dirty="0">
                <a:latin typeface="Montserrat" pitchFamily="2" charset="77"/>
              </a:rPr>
              <a:t>2</a:t>
            </a:r>
          </a:p>
        </p:txBody>
      </p:sp>
      <p:sp>
        <p:nvSpPr>
          <p:cNvPr id="3" name="TextBox 2">
            <a:extLst>
              <a:ext uri="{FF2B5EF4-FFF2-40B4-BE49-F238E27FC236}">
                <a16:creationId xmlns:a16="http://schemas.microsoft.com/office/drawing/2014/main" id="{5AEB8CB7-0BD5-1EF0-3B40-C3AF678960F8}"/>
              </a:ext>
            </a:extLst>
          </p:cNvPr>
          <p:cNvSpPr txBox="1"/>
          <p:nvPr/>
        </p:nvSpPr>
        <p:spPr>
          <a:xfrm>
            <a:off x="904873" y="4150049"/>
            <a:ext cx="31764735" cy="1028891"/>
          </a:xfrm>
          <a:prstGeom prst="rect">
            <a:avLst/>
          </a:prstGeom>
          <a:noFill/>
        </p:spPr>
        <p:txBody>
          <a:bodyPr rot="0" spcFirstLastPara="0" vertOverflow="overflow" horzOverflow="overflow" vert="horz" wrap="square" lIns="78377" tIns="39189" rIns="78377" bIns="39189" numCol="1" spcCol="0" rtlCol="0" fromWordArt="0" anchor="t" anchorCtr="0" forceAA="0" compatLnSpc="1">
            <a:prstTxWarp prst="textNoShape">
              <a:avLst/>
            </a:prstTxWarp>
            <a:spAutoFit/>
          </a:bodyPr>
          <a:lstStyle/>
          <a:p>
            <a:pPr algn="ctr"/>
            <a:r>
              <a:rPr lang="en-US" sz="3090" baseline="30000" dirty="0">
                <a:latin typeface="Montserrat" pitchFamily="2" charset="77"/>
              </a:rPr>
              <a:t>1</a:t>
            </a:r>
            <a:r>
              <a:rPr lang="en-US" sz="3090" dirty="0">
                <a:latin typeface="Montserrat" pitchFamily="2" charset="77"/>
              </a:rPr>
              <a:t>Department of Electrical Engineering and Computer Science, College of Engineering, University of Missouri </a:t>
            </a:r>
          </a:p>
          <a:p>
            <a:pPr algn="ctr"/>
            <a:r>
              <a:rPr lang="en-US" sz="3090" baseline="30000" dirty="0">
                <a:latin typeface="Montserrat" pitchFamily="2" charset="77"/>
              </a:rPr>
              <a:t>2</a:t>
            </a:r>
            <a:r>
              <a:rPr lang="en-US" sz="3090" dirty="0">
                <a:latin typeface="Montserrat" pitchFamily="2" charset="77"/>
              </a:rPr>
              <a:t>Department of Neurology, School of Medicine, University of Missouri; Thompson Center for Autism &amp; Neurodevelopment</a:t>
            </a:r>
          </a:p>
        </p:txBody>
      </p:sp>
      <p:sp>
        <p:nvSpPr>
          <p:cNvPr id="66" name="Panel content sh/14fyhgbe">
            <a:extLst>
              <a:ext uri="{FF2B5EF4-FFF2-40B4-BE49-F238E27FC236}">
                <a16:creationId xmlns:a16="http://schemas.microsoft.com/office/drawing/2014/main" id="{F1CBDDE4-2AB9-4A90-BB31-D61120CCC385}"/>
              </a:ext>
            </a:extLst>
          </p:cNvPr>
          <p:cNvSpPr>
            <a:spLocks noGrp="1"/>
          </p:cNvSpPr>
          <p:nvPr/>
        </p:nvSpPr>
        <p:spPr>
          <a:xfrm>
            <a:off x="714375" y="7334250"/>
            <a:ext cx="12430125" cy="4000500"/>
          </a:xfrm>
          <a:prstGeom prst="rect">
            <a:avLst/>
          </a:prstGeom>
          <a:noFill/>
          <a:ln w="0">
            <a:noFill/>
            <a:prstDash val="solid"/>
          </a:ln>
        </p:spPr>
        <p:txBody>
          <a:bodyPr anchor="t">
            <a:noAutofit/>
          </a:bodyPr>
          <a:lstStyle/>
          <a:p>
            <a:pPr algn="l">
              <a:defRPr sz="2775" b="0">
                <a:solidFill>
                  <a:srgbClr val="111111"/>
                </a:solidFill>
                <a:latin typeface="Arial"/>
                <a:ea typeface="Arial"/>
                <a:cs typeface="Arial"/>
              </a:defRPr>
            </a:pPr>
            <a:r>
              <a:rPr sz="2775" b="0" dirty="0">
                <a:solidFill>
                  <a:srgbClr val="111111"/>
                </a:solidFill>
                <a:latin typeface="Arial"/>
                <a:ea typeface="Arial"/>
                <a:cs typeface="Arial"/>
              </a:rPr>
              <a:t>Natural conversations can show how autistic youth communicate through the words they use and the length of their spoken phrases and sentences. Manual transcription and scoring take considerable time, while automated transcription can introduce errors [1].</a:t>
            </a:r>
          </a:p>
          <a:p>
            <a:endParaRPr sz="2775" b="0" dirty="0">
              <a:solidFill>
                <a:srgbClr val="111111"/>
              </a:solidFill>
              <a:latin typeface="Arial"/>
              <a:ea typeface="Arial"/>
              <a:cs typeface="Arial"/>
            </a:endParaRPr>
          </a:p>
          <a:p>
            <a:pPr>
              <a:defRPr sz="2775" b="0">
                <a:solidFill>
                  <a:srgbClr val="111111"/>
                </a:solidFill>
                <a:latin typeface="Arial"/>
                <a:ea typeface="Arial"/>
                <a:cs typeface="Arial"/>
              </a:defRPr>
            </a:pPr>
            <a:r>
              <a:rPr sz="2775" b="0" dirty="0">
                <a:solidFill>
                  <a:srgbClr val="111111"/>
                </a:solidFill>
                <a:latin typeface="Arial"/>
                <a:ea typeface="Arial"/>
                <a:cs typeface="Arial"/>
              </a:rPr>
              <a:t>This pilot </a:t>
            </a:r>
            <a:r>
              <a:rPr lang="en-US" sz="2775" b="0" dirty="0">
                <a:solidFill>
                  <a:srgbClr val="111111"/>
                </a:solidFill>
                <a:latin typeface="Arial"/>
                <a:ea typeface="Arial"/>
                <a:cs typeface="Arial"/>
              </a:rPr>
              <a:t>explored</a:t>
            </a:r>
            <a:r>
              <a:rPr sz="2775" b="0" dirty="0">
                <a:solidFill>
                  <a:srgbClr val="111111"/>
                </a:solidFill>
                <a:latin typeface="Arial"/>
                <a:ea typeface="Arial"/>
                <a:cs typeface="Arial"/>
              </a:rPr>
              <a:t> whether </a:t>
            </a:r>
            <a:r>
              <a:rPr lang="en-US" sz="2775" dirty="0">
                <a:solidFill>
                  <a:srgbClr val="111111"/>
                </a:solidFill>
                <a:latin typeface="Arial"/>
              </a:rPr>
              <a:t>a semi-automated software system with brief human review </a:t>
            </a:r>
            <a:r>
              <a:rPr sz="2775" b="0" dirty="0">
                <a:solidFill>
                  <a:srgbClr val="111111"/>
                </a:solidFill>
                <a:latin typeface="Arial"/>
                <a:ea typeface="Arial"/>
                <a:cs typeface="Arial"/>
              </a:rPr>
              <a:t>could </a:t>
            </a:r>
            <a:r>
              <a:rPr lang="en-US" sz="2775" dirty="0">
                <a:solidFill>
                  <a:srgbClr val="111111"/>
                </a:solidFill>
                <a:latin typeface="Arial"/>
              </a:rPr>
              <a:t>reliably measure language characteristics from natural conversations with autistic youth while reducing the amount of manual analysis required.</a:t>
            </a:r>
          </a:p>
        </p:txBody>
      </p:sp>
      <p:sp>
        <p:nvSpPr>
          <p:cNvPr id="67" name="Participants subhead">
            <a:extLst>
              <a:ext uri="{FF2B5EF4-FFF2-40B4-BE49-F238E27FC236}">
                <a16:creationId xmlns:a16="http://schemas.microsoft.com/office/drawing/2014/main" id="{5A88FC54-2FEB-4F49-AEC8-17D0AFD2D615}"/>
              </a:ext>
            </a:extLst>
          </p:cNvPr>
          <p:cNvSpPr>
            <a:spLocks noGrp="1"/>
          </p:cNvSpPr>
          <p:nvPr/>
        </p:nvSpPr>
        <p:spPr>
          <a:xfrm>
            <a:off x="714375" y="13668375"/>
            <a:ext cx="12334875" cy="552450"/>
          </a:xfrm>
          <a:prstGeom prst="rect">
            <a:avLst/>
          </a:prstGeom>
          <a:noFill/>
          <a:ln w="0">
            <a:noFill/>
            <a:prstDash val="solid"/>
          </a:ln>
        </p:spPr>
        <p:txBody>
          <a:bodyPr anchor="t">
            <a:noAutofit/>
          </a:bodyPr>
          <a:lstStyle/>
          <a:p>
            <a:pPr algn="l">
              <a:defRPr sz="3225" b="1">
                <a:solidFill>
                  <a:srgbClr val="111111"/>
                </a:solidFill>
                <a:latin typeface="Arial"/>
                <a:ea typeface="Arial"/>
                <a:cs typeface="Arial"/>
              </a:defRPr>
            </a:pPr>
            <a:r>
              <a:rPr sz="3225" b="1">
                <a:solidFill>
                  <a:srgbClr val="111111"/>
                </a:solidFill>
                <a:latin typeface="Arial"/>
                <a:ea typeface="Arial"/>
                <a:cs typeface="Arial"/>
              </a:rPr>
              <a:t>Participants and recordings</a:t>
            </a:r>
          </a:p>
        </p:txBody>
      </p:sp>
      <p:sp>
        <p:nvSpPr>
          <p:cNvPr id="68" name="Participants description">
            <a:extLst>
              <a:ext uri="{FF2B5EF4-FFF2-40B4-BE49-F238E27FC236}">
                <a16:creationId xmlns:a16="http://schemas.microsoft.com/office/drawing/2014/main" id="{4E3C3D20-009A-48EA-9B0E-128A57F5F9F8}"/>
              </a:ext>
            </a:extLst>
          </p:cNvPr>
          <p:cNvSpPr>
            <a:spLocks noGrp="1"/>
          </p:cNvSpPr>
          <p:nvPr/>
        </p:nvSpPr>
        <p:spPr>
          <a:xfrm>
            <a:off x="714375" y="14382750"/>
            <a:ext cx="12334875" cy="1762125"/>
          </a:xfrm>
          <a:prstGeom prst="rect">
            <a:avLst/>
          </a:prstGeom>
          <a:noFill/>
          <a:ln w="0">
            <a:noFill/>
            <a:prstDash val="solid"/>
          </a:ln>
        </p:spPr>
        <p:txBody>
          <a:bodyPr anchor="t">
            <a:noAutofit/>
          </a:bodyPr>
          <a:lstStyle/>
          <a:p>
            <a:pPr algn="l">
              <a:defRPr sz="2850" b="0">
                <a:solidFill>
                  <a:srgbClr val="111111"/>
                </a:solidFill>
                <a:latin typeface="Arial"/>
                <a:ea typeface="Arial"/>
                <a:cs typeface="Arial"/>
              </a:defRPr>
            </a:pPr>
            <a:r>
              <a:rPr sz="2850" b="0">
                <a:solidFill>
                  <a:srgbClr val="111111"/>
                </a:solidFill>
                <a:latin typeface="Arial"/>
                <a:ea typeface="Arial"/>
                <a:cs typeface="Arial"/>
              </a:rPr>
              <a:t>10 autistic participants, ages 8–17</a:t>
            </a:r>
          </a:p>
          <a:p>
            <a:pPr algn="l">
              <a:defRPr sz="2850" b="0">
                <a:solidFill>
                  <a:srgbClr val="111111"/>
                </a:solidFill>
                <a:latin typeface="Arial"/>
                <a:ea typeface="Arial"/>
                <a:cs typeface="Arial"/>
              </a:defRPr>
            </a:pPr>
            <a:r>
              <a:rPr sz="2850" b="0">
                <a:solidFill>
                  <a:srgbClr val="111111"/>
                </a:solidFill>
                <a:latin typeface="Arial"/>
                <a:ea typeface="Arial"/>
                <a:cs typeface="Arial"/>
              </a:rPr>
              <a:t>37 conversations, about 8 minutes each</a:t>
            </a:r>
          </a:p>
          <a:p>
            <a:pPr algn="l">
              <a:defRPr sz="2850" b="0">
                <a:solidFill>
                  <a:srgbClr val="111111"/>
                </a:solidFill>
                <a:latin typeface="Arial"/>
                <a:ea typeface="Arial"/>
                <a:cs typeface="Arial"/>
              </a:defRPr>
            </a:pPr>
            <a:r>
              <a:rPr sz="2850" b="0">
                <a:solidFill>
                  <a:srgbClr val="111111"/>
                </a:solidFill>
                <a:latin typeface="Arial"/>
                <a:ea typeface="Arial"/>
                <a:cs typeface="Arial"/>
              </a:rPr>
              <a:t>2–4 recordings per participant</a:t>
            </a:r>
          </a:p>
        </p:txBody>
      </p:sp>
      <p:sp>
        <p:nvSpPr>
          <p:cNvPr id="69" name="Measures subhead">
            <a:extLst>
              <a:ext uri="{FF2B5EF4-FFF2-40B4-BE49-F238E27FC236}">
                <a16:creationId xmlns:a16="http://schemas.microsoft.com/office/drawing/2014/main" id="{3399E607-3C08-40D6-96C5-F58CC1F92684}"/>
              </a:ext>
            </a:extLst>
          </p:cNvPr>
          <p:cNvSpPr>
            <a:spLocks noGrp="1"/>
          </p:cNvSpPr>
          <p:nvPr/>
        </p:nvSpPr>
        <p:spPr>
          <a:xfrm>
            <a:off x="714375" y="16478250"/>
            <a:ext cx="12334875" cy="552450"/>
          </a:xfrm>
          <a:prstGeom prst="rect">
            <a:avLst/>
          </a:prstGeom>
          <a:noFill/>
          <a:ln w="0">
            <a:noFill/>
            <a:prstDash val="solid"/>
          </a:ln>
        </p:spPr>
        <p:txBody>
          <a:bodyPr anchor="t">
            <a:noAutofit/>
          </a:bodyPr>
          <a:lstStyle/>
          <a:p>
            <a:pPr algn="l">
              <a:defRPr sz="3225" b="1">
                <a:solidFill>
                  <a:srgbClr val="111111"/>
                </a:solidFill>
                <a:latin typeface="Arial"/>
                <a:ea typeface="Arial"/>
                <a:cs typeface="Arial"/>
              </a:defRPr>
            </a:pPr>
            <a:r>
              <a:rPr sz="3225" b="1">
                <a:solidFill>
                  <a:srgbClr val="111111"/>
                </a:solidFill>
                <a:latin typeface="Arial"/>
                <a:ea typeface="Arial"/>
                <a:cs typeface="Arial"/>
              </a:rPr>
              <a:t>What we measured</a:t>
            </a:r>
          </a:p>
        </p:txBody>
      </p:sp>
      <p:sp>
        <p:nvSpPr>
          <p:cNvPr id="70" name="Measures description">
            <a:extLst>
              <a:ext uri="{FF2B5EF4-FFF2-40B4-BE49-F238E27FC236}">
                <a16:creationId xmlns:a16="http://schemas.microsoft.com/office/drawing/2014/main" id="{3B44DD0E-1CB8-449C-8147-9AE13E23785B}"/>
              </a:ext>
            </a:extLst>
          </p:cNvPr>
          <p:cNvSpPr>
            <a:spLocks noGrp="1"/>
          </p:cNvSpPr>
          <p:nvPr/>
        </p:nvSpPr>
        <p:spPr>
          <a:xfrm>
            <a:off x="714375" y="17145000"/>
            <a:ext cx="12334875" cy="2143125"/>
          </a:xfrm>
          <a:prstGeom prst="rect">
            <a:avLst/>
          </a:prstGeom>
          <a:noFill/>
          <a:ln w="0">
            <a:noFill/>
            <a:prstDash val="solid"/>
          </a:ln>
        </p:spPr>
        <p:txBody>
          <a:bodyPr anchor="t">
            <a:noAutofit/>
          </a:bodyPr>
          <a:lstStyle/>
          <a:p>
            <a:pPr algn="l">
              <a:defRPr sz="2775" b="0">
                <a:solidFill>
                  <a:srgbClr val="111111"/>
                </a:solidFill>
                <a:latin typeface="Arial"/>
                <a:ea typeface="Arial"/>
                <a:cs typeface="Arial"/>
              </a:defRPr>
            </a:pPr>
            <a:r>
              <a:rPr sz="2775" b="0">
                <a:solidFill>
                  <a:srgbClr val="111111"/>
                </a:solidFill>
                <a:latin typeface="Arial"/>
                <a:ea typeface="Arial"/>
                <a:cs typeface="Arial"/>
              </a:rPr>
              <a:t>The system calculated 11 measures of vocabulary use, diversity, and utterance length. These included type–token ratio (TTR), moving-average TTR over 50 words (MATTR-50), and mean words per utterance (MLUw).</a:t>
            </a:r>
          </a:p>
        </p:txBody>
      </p:sp>
      <p:sp>
        <p:nvSpPr>
          <p:cNvPr id="71" name="Checks subhead">
            <a:extLst>
              <a:ext uri="{FF2B5EF4-FFF2-40B4-BE49-F238E27FC236}">
                <a16:creationId xmlns:a16="http://schemas.microsoft.com/office/drawing/2014/main" id="{A05C06BF-E30B-488D-9137-B81A578902BD}"/>
              </a:ext>
            </a:extLst>
          </p:cNvPr>
          <p:cNvSpPr>
            <a:spLocks noGrp="1"/>
          </p:cNvSpPr>
          <p:nvPr/>
        </p:nvSpPr>
        <p:spPr>
          <a:xfrm>
            <a:off x="714375" y="19526250"/>
            <a:ext cx="12334875" cy="552450"/>
          </a:xfrm>
          <a:prstGeom prst="rect">
            <a:avLst/>
          </a:prstGeom>
          <a:noFill/>
          <a:ln w="0">
            <a:noFill/>
            <a:prstDash val="solid"/>
          </a:ln>
        </p:spPr>
        <p:txBody>
          <a:bodyPr anchor="t">
            <a:noAutofit/>
          </a:bodyPr>
          <a:lstStyle/>
          <a:p>
            <a:pPr algn="l">
              <a:defRPr sz="3225" b="1">
                <a:solidFill>
                  <a:srgbClr val="111111"/>
                </a:solidFill>
                <a:latin typeface="Arial"/>
                <a:ea typeface="Arial"/>
                <a:cs typeface="Arial"/>
              </a:defRPr>
            </a:pPr>
            <a:r>
              <a:rPr sz="3225" b="1">
                <a:solidFill>
                  <a:srgbClr val="111111"/>
                </a:solidFill>
                <a:latin typeface="Arial"/>
                <a:ea typeface="Arial"/>
                <a:cs typeface="Arial"/>
              </a:rPr>
              <a:t>How we checked accuracy</a:t>
            </a:r>
          </a:p>
        </p:txBody>
      </p:sp>
      <p:sp>
        <p:nvSpPr>
          <p:cNvPr id="72" name="Checks description">
            <a:extLst>
              <a:ext uri="{FF2B5EF4-FFF2-40B4-BE49-F238E27FC236}">
                <a16:creationId xmlns:a16="http://schemas.microsoft.com/office/drawing/2014/main" id="{6F769140-08F9-4C7C-8F3A-1627D36AFCDA}"/>
              </a:ext>
            </a:extLst>
          </p:cNvPr>
          <p:cNvSpPr>
            <a:spLocks noGrp="1"/>
          </p:cNvSpPr>
          <p:nvPr/>
        </p:nvSpPr>
        <p:spPr>
          <a:xfrm>
            <a:off x="714375" y="20193000"/>
            <a:ext cx="12334875" cy="2333625"/>
          </a:xfrm>
          <a:prstGeom prst="rect">
            <a:avLst/>
          </a:prstGeom>
          <a:noFill/>
          <a:ln w="0">
            <a:noFill/>
            <a:prstDash val="solid"/>
          </a:ln>
        </p:spPr>
        <p:txBody>
          <a:bodyPr anchor="t">
            <a:noAutofit/>
          </a:bodyPr>
          <a:lstStyle/>
          <a:p>
            <a:pPr algn="l">
              <a:buNone/>
              <a:defRPr sz="2775" b="0">
                <a:solidFill>
                  <a:srgbClr val="111111"/>
                </a:solidFill>
                <a:latin typeface="Arial"/>
                <a:ea typeface="Arial"/>
                <a:cs typeface="Arial"/>
              </a:defRPr>
            </a:pPr>
            <a:r>
              <a:rPr sz="2775" b="0">
                <a:solidFill>
                  <a:srgbClr val="111111"/>
                </a:solidFill>
                <a:latin typeface="Arial"/>
                <a:ea typeface="Arial"/>
                <a:cs typeface="Arial"/>
              </a:rPr>
              <a:t>We compared uncorrected pipeline measures with TAALED and CLAN measures from corrected text using the same utterance rules [2,3], and with about 100 human-labeled utterances per participant (14 recordings). Two additional reviewers each labeled two recordings to assess boundary agreement.</a:t>
            </a:r>
          </a:p>
        </p:txBody>
      </p:sp>
      <p:sp>
        <p:nvSpPr>
          <p:cNvPr id="73" name="Panel content sh/xsfy5grm">
            <a:extLst>
              <a:ext uri="{FF2B5EF4-FFF2-40B4-BE49-F238E27FC236}">
                <a16:creationId xmlns:a16="http://schemas.microsoft.com/office/drawing/2014/main" id="{52FE776A-E48F-4705-8684-EE78A2D9ABA0}"/>
              </a:ext>
            </a:extLst>
          </p:cNvPr>
          <p:cNvSpPr>
            <a:spLocks noGrp="1"/>
          </p:cNvSpPr>
          <p:nvPr/>
        </p:nvSpPr>
        <p:spPr>
          <a:xfrm>
            <a:off x="29003625" y="18411825"/>
            <a:ext cx="12144375" cy="5810250"/>
          </a:xfrm>
          <a:prstGeom prst="rect">
            <a:avLst/>
          </a:prstGeom>
          <a:noFill/>
          <a:ln w="0">
            <a:noFill/>
            <a:prstDash val="solid"/>
          </a:ln>
        </p:spPr>
        <p:txBody>
          <a:bodyPr anchor="t">
            <a:noAutofit/>
          </a:bodyPr>
          <a:lstStyle/>
          <a:p>
            <a:pPr algn="l">
              <a:buNone/>
              <a:defRPr sz="2775" b="0">
                <a:solidFill>
                  <a:srgbClr val="111111"/>
                </a:solidFill>
                <a:latin typeface="Arial"/>
                <a:ea typeface="Arial"/>
                <a:cs typeface="Arial"/>
              </a:defRPr>
            </a:pPr>
            <a:r>
              <a:rPr sz="2775" b="0">
                <a:solidFill>
                  <a:srgbClr val="111111"/>
                </a:solidFill>
                <a:latin typeface="Arial"/>
                <a:ea typeface="Arial"/>
                <a:cs typeface="Arial"/>
              </a:rPr>
              <a:t>Vocabulary MAPE was 1.11–4.38% against TAALED and 0.00–1.03% against the labeled samples.</a:t>
            </a:r>
          </a:p>
          <a:p>
            <a:endParaRPr sz="2775" b="0">
              <a:solidFill>
                <a:srgbClr val="111111"/>
              </a:solidFill>
              <a:latin typeface="Arial"/>
              <a:ea typeface="Arial"/>
              <a:cs typeface="Arial"/>
            </a:endParaRPr>
          </a:p>
          <a:p>
            <a:pPr algn="l">
              <a:buNone/>
              <a:defRPr sz="2775" b="0">
                <a:solidFill>
                  <a:srgbClr val="111111"/>
                </a:solidFill>
                <a:latin typeface="Arial"/>
                <a:ea typeface="Arial"/>
                <a:cs typeface="Arial"/>
              </a:defRPr>
            </a:pPr>
            <a:r>
              <a:rPr sz="2775" b="0">
                <a:solidFill>
                  <a:srgbClr val="111111"/>
                </a:solidFill>
                <a:latin typeface="Arial"/>
                <a:ea typeface="Arial"/>
                <a:cs typeface="Arial"/>
              </a:rPr>
              <a:t>Both transcript versions used the same utterance rules. MLUw error was 4.68% against corrected CLAN transcripts and 9.12% against the labeled samples.</a:t>
            </a:r>
          </a:p>
          <a:p>
            <a:endParaRPr sz="2775" b="0">
              <a:solidFill>
                <a:srgbClr val="111111"/>
              </a:solidFill>
              <a:latin typeface="Arial"/>
              <a:ea typeface="Arial"/>
              <a:cs typeface="Arial"/>
            </a:endParaRPr>
          </a:p>
          <a:p>
            <a:pPr algn="l">
              <a:buNone/>
              <a:defRPr sz="2775" b="0">
                <a:solidFill>
                  <a:srgbClr val="111111"/>
                </a:solidFill>
                <a:latin typeface="Arial"/>
                <a:ea typeface="Arial"/>
                <a:cs typeface="Arial"/>
              </a:defRPr>
            </a:pPr>
            <a:r>
              <a:rPr sz="2775" b="0">
                <a:solidFill>
                  <a:srgbClr val="111111"/>
                </a:solidFill>
                <a:latin typeface="Arial"/>
                <a:ea typeface="Arial"/>
                <a:cs typeface="Arial"/>
              </a:rPr>
              <a:t>Fillers remain in utterance counts and boundary comparisons. Word metrics exclude fillers. CLAN and our MLU calculator agreed on identical inputs.</a:t>
            </a:r>
          </a:p>
          <a:p>
            <a:endParaRPr sz="2775" b="0">
              <a:solidFill>
                <a:srgbClr val="111111"/>
              </a:solidFill>
              <a:latin typeface="Arial"/>
              <a:ea typeface="Arial"/>
              <a:cs typeface="Arial"/>
            </a:endParaRPr>
          </a:p>
          <a:p>
            <a:pPr algn="l">
              <a:buNone/>
              <a:defRPr sz="2775" b="0">
                <a:solidFill>
                  <a:srgbClr val="111111"/>
                </a:solidFill>
                <a:latin typeface="Arial"/>
                <a:ea typeface="Arial"/>
                <a:cs typeface="Arial"/>
              </a:defRPr>
            </a:pPr>
            <a:r>
              <a:rPr sz="2775" b="0">
                <a:solidFill>
                  <a:srgbClr val="111111"/>
                </a:solidFill>
                <a:latin typeface="Arial"/>
                <a:ea typeface="Arial"/>
                <a:cs typeface="Arial"/>
              </a:rPr>
              <a:t>This descriptive pilot supports further research with independent samples and recording review. It does not establish diagnostic or clinical validity.</a:t>
            </a:r>
          </a:p>
        </p:txBody>
      </p:sp>
      <p:sp>
        <p:nvSpPr>
          <p:cNvPr id="74" name="TAALED comparison description">
            <a:extLst>
              <a:ext uri="{FF2B5EF4-FFF2-40B4-BE49-F238E27FC236}">
                <a16:creationId xmlns:a16="http://schemas.microsoft.com/office/drawing/2014/main" id="{A7437F04-95DC-4251-98B9-8131E826258C}"/>
              </a:ext>
            </a:extLst>
          </p:cNvPr>
          <p:cNvSpPr>
            <a:spLocks noGrp="1"/>
          </p:cNvSpPr>
          <p:nvPr/>
        </p:nvSpPr>
        <p:spPr>
          <a:xfrm>
            <a:off x="14573250" y="7286625"/>
            <a:ext cx="13115925" cy="619125"/>
          </a:xfrm>
          <a:prstGeom prst="rect">
            <a:avLst/>
          </a:prstGeom>
          <a:noFill/>
          <a:ln w="0">
            <a:noFill/>
            <a:prstDash val="solid"/>
          </a:ln>
        </p:spPr>
        <p:txBody>
          <a:bodyPr anchor="t">
            <a:noAutofit/>
          </a:bodyPr>
          <a:lstStyle/>
          <a:p>
            <a:pPr algn="l">
              <a:defRPr sz="2325" b="0">
                <a:solidFill>
                  <a:srgbClr val="111111"/>
                </a:solidFill>
                <a:latin typeface="Arial"/>
                <a:ea typeface="Arial"/>
                <a:cs typeface="Arial"/>
              </a:defRPr>
            </a:pPr>
            <a:r>
              <a:rPr sz="2325" b="0" dirty="0">
                <a:solidFill>
                  <a:srgbClr val="111111"/>
                </a:solidFill>
                <a:latin typeface="Arial"/>
                <a:ea typeface="Arial"/>
                <a:cs typeface="Arial"/>
              </a:rPr>
              <a:t>37 recordings </a:t>
            </a:r>
            <a:r>
              <a:rPr lang="en-US" sz="2325" b="0" dirty="0">
                <a:solidFill>
                  <a:srgbClr val="111111"/>
                </a:solidFill>
                <a:latin typeface="Arial"/>
                <a:ea typeface="Arial"/>
                <a:cs typeface="Arial"/>
              </a:rPr>
              <a:t>(</a:t>
            </a:r>
            <a:r>
              <a:rPr lang="en-US" sz="2325" dirty="0">
                <a:solidFill>
                  <a:srgbClr val="111111"/>
                </a:solidFill>
                <a:latin typeface="Arial"/>
                <a:ea typeface="Arial"/>
                <a:cs typeface="Arial"/>
              </a:rPr>
              <a:t>Mean Absolute Percentage Error): O</a:t>
            </a:r>
            <a:r>
              <a:rPr sz="2325" b="0" dirty="0">
                <a:solidFill>
                  <a:srgbClr val="111111"/>
                </a:solidFill>
                <a:latin typeface="Arial"/>
                <a:ea typeface="Arial"/>
                <a:cs typeface="Arial"/>
              </a:rPr>
              <a:t>ur system vs. corrected TAALED/CLAN results.</a:t>
            </a:r>
          </a:p>
        </p:txBody>
      </p:sp>
      <p:sp>
        <p:nvSpPr>
          <p:cNvPr id="76" name="TAALED figure caption">
            <a:extLst>
              <a:ext uri="{FF2B5EF4-FFF2-40B4-BE49-F238E27FC236}">
                <a16:creationId xmlns:a16="http://schemas.microsoft.com/office/drawing/2014/main" id="{811DB994-930D-401D-B128-12B1E8694E83}"/>
              </a:ext>
            </a:extLst>
          </p:cNvPr>
          <p:cNvSpPr>
            <a:spLocks noGrp="1"/>
          </p:cNvSpPr>
          <p:nvPr/>
        </p:nvSpPr>
        <p:spPr>
          <a:xfrm>
            <a:off x="14573250" y="14287500"/>
            <a:ext cx="12811125" cy="552450"/>
          </a:xfrm>
          <a:prstGeom prst="rect">
            <a:avLst/>
          </a:prstGeom>
          <a:noFill/>
          <a:ln w="0">
            <a:noFill/>
            <a:prstDash val="solid"/>
          </a:ln>
        </p:spPr>
        <p:txBody>
          <a:bodyPr anchor="t">
            <a:noAutofit/>
          </a:bodyPr>
          <a:lstStyle/>
          <a:p>
            <a:pPr algn="l">
              <a:buNone/>
              <a:defRPr sz="2025" b="0">
                <a:solidFill>
                  <a:srgbClr val="111111"/>
                </a:solidFill>
                <a:latin typeface="Arial"/>
                <a:ea typeface="Arial"/>
                <a:cs typeface="Arial"/>
              </a:defRPr>
            </a:pPr>
            <a:r>
              <a:rPr sz="2025" b="0">
                <a:solidFill>
                  <a:srgbClr val="111111"/>
                </a:solidFill>
                <a:latin typeface="Arial"/>
                <a:ea typeface="Arial"/>
                <a:cs typeface="Arial"/>
              </a:rPr>
              <a:t>MAPE. Blue: vocabulary measures. Orange: utterance measures.</a:t>
            </a:r>
          </a:p>
        </p:txBody>
      </p:sp>
      <p:sp>
        <p:nvSpPr>
          <p:cNvPr id="77" name="Manual comparison description">
            <a:extLst>
              <a:ext uri="{FF2B5EF4-FFF2-40B4-BE49-F238E27FC236}">
                <a16:creationId xmlns:a16="http://schemas.microsoft.com/office/drawing/2014/main" id="{E327B270-0827-4A3C-8911-14EC9DBA7062}"/>
              </a:ext>
            </a:extLst>
          </p:cNvPr>
          <p:cNvSpPr>
            <a:spLocks noGrp="1"/>
          </p:cNvSpPr>
          <p:nvPr/>
        </p:nvSpPr>
        <p:spPr>
          <a:xfrm>
            <a:off x="14449426" y="17087850"/>
            <a:ext cx="13239750" cy="619125"/>
          </a:xfrm>
          <a:prstGeom prst="rect">
            <a:avLst/>
          </a:prstGeom>
          <a:noFill/>
          <a:ln w="0">
            <a:noFill/>
            <a:prstDash val="solid"/>
          </a:ln>
        </p:spPr>
        <p:txBody>
          <a:bodyPr anchor="t">
            <a:noAutofit/>
          </a:bodyPr>
          <a:lstStyle/>
          <a:p>
            <a:pPr>
              <a:defRPr sz="2325" b="0">
                <a:solidFill>
                  <a:srgbClr val="111111"/>
                </a:solidFill>
                <a:latin typeface="Arial"/>
                <a:ea typeface="Arial"/>
                <a:cs typeface="Arial"/>
              </a:defRPr>
            </a:pPr>
            <a:r>
              <a:rPr sz="2200" b="0" dirty="0">
                <a:solidFill>
                  <a:srgbClr val="111111"/>
                </a:solidFill>
                <a:latin typeface="Arial"/>
                <a:ea typeface="Arial"/>
                <a:cs typeface="Arial"/>
              </a:rPr>
              <a:t>14 recordings</a:t>
            </a:r>
            <a:r>
              <a:rPr lang="en-US" sz="2200" dirty="0">
                <a:solidFill>
                  <a:srgbClr val="111111"/>
                </a:solidFill>
                <a:latin typeface="Arial"/>
                <a:ea typeface="Arial"/>
                <a:cs typeface="Arial"/>
              </a:rPr>
              <a:t> (Mean Absolute Percentage Error):</a:t>
            </a:r>
            <a:r>
              <a:rPr sz="2200" b="0" dirty="0">
                <a:solidFill>
                  <a:srgbClr val="111111"/>
                </a:solidFill>
                <a:latin typeface="Arial"/>
                <a:ea typeface="Arial"/>
                <a:cs typeface="Arial"/>
              </a:rPr>
              <a:t> About 100 manually labeled utterances per participant.</a:t>
            </a:r>
          </a:p>
        </p:txBody>
      </p:sp>
      <p:sp>
        <p:nvSpPr>
          <p:cNvPr id="79" name="Manual figure caption">
            <a:extLst>
              <a:ext uri="{FF2B5EF4-FFF2-40B4-BE49-F238E27FC236}">
                <a16:creationId xmlns:a16="http://schemas.microsoft.com/office/drawing/2014/main" id="{50655B5F-1259-4975-9617-82FEB4E5679A}"/>
              </a:ext>
            </a:extLst>
          </p:cNvPr>
          <p:cNvSpPr>
            <a:spLocks noGrp="1"/>
          </p:cNvSpPr>
          <p:nvPr/>
        </p:nvSpPr>
        <p:spPr>
          <a:xfrm>
            <a:off x="14573250" y="24164925"/>
            <a:ext cx="12811125" cy="504825"/>
          </a:xfrm>
          <a:prstGeom prst="rect">
            <a:avLst/>
          </a:prstGeom>
          <a:noFill/>
          <a:ln w="0">
            <a:noFill/>
            <a:prstDash val="solid"/>
          </a:ln>
        </p:spPr>
        <p:txBody>
          <a:bodyPr anchor="t">
            <a:noAutofit/>
          </a:bodyPr>
          <a:lstStyle/>
          <a:p>
            <a:pPr algn="l">
              <a:buNone/>
              <a:defRPr sz="2025" b="0">
                <a:solidFill>
                  <a:srgbClr val="111111"/>
                </a:solidFill>
                <a:latin typeface="Arial"/>
                <a:ea typeface="Arial"/>
                <a:cs typeface="Arial"/>
              </a:defRPr>
            </a:pPr>
            <a:r>
              <a:rPr sz="2025" b="0" dirty="0">
                <a:solidFill>
                  <a:srgbClr val="111111"/>
                </a:solidFill>
                <a:latin typeface="Arial"/>
                <a:ea typeface="Arial"/>
                <a:cs typeface="Arial"/>
              </a:rPr>
              <a:t>Lower error means closer agreement.</a:t>
            </a:r>
          </a:p>
        </p:txBody>
      </p:sp>
      <p:graphicFrame>
        <p:nvGraphicFramePr>
          <p:cNvPr id="208" name="Chart"/>
          <p:cNvGraphicFramePr/>
          <p:nvPr/>
        </p:nvGraphicFramePr>
        <p:xfrm>
          <a:off x="14449425" y="7953375"/>
          <a:ext cx="13239750" cy="619125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09" name="Chart"/>
          <p:cNvGraphicFramePr/>
          <p:nvPr/>
        </p:nvGraphicFramePr>
        <p:xfrm>
          <a:off x="14449425" y="17811750"/>
          <a:ext cx="13239750" cy="6191250"/>
        </p:xfrm>
        <a:graphic>
          <a:graphicData uri="http://schemas.openxmlformats.org/drawingml/2006/chart">
            <c:chart xmlns:c="http://schemas.openxmlformats.org/drawingml/2006/chart" xmlns:r="http://schemas.openxmlformats.org/officeDocument/2006/relationships" r:id="rId5"/>
          </a:graphicData>
        </a:graphic>
      </p:graphicFrame>
      <p:sp>
        <p:nvSpPr>
          <p:cNvPr id="226" name="Oct4 Reliability description">
            <a:extLst>
              <a:ext uri="{FF2B5EF4-FFF2-40B4-BE49-F238E27FC236}">
                <a16:creationId xmlns:a16="http://schemas.microsoft.com/office/drawing/2014/main" id="{6A9B27BC-E194-4680-A16C-88FA5A363B2E}"/>
              </a:ext>
            </a:extLst>
          </p:cNvPr>
          <p:cNvSpPr>
            <a:spLocks noGrp="1"/>
          </p:cNvSpPr>
          <p:nvPr/>
        </p:nvSpPr>
        <p:spPr>
          <a:xfrm>
            <a:off x="29003625" y="7334250"/>
            <a:ext cx="12096750" cy="914400"/>
          </a:xfrm>
          <a:prstGeom prst="rect">
            <a:avLst/>
          </a:prstGeom>
          <a:noFill/>
          <a:ln w="0">
            <a:noFill/>
          </a:ln>
        </p:spPr>
        <p:txBody>
          <a:bodyPr lIns="0" tIns="0" rIns="0" bIns="0" anchor="ctr">
            <a:noAutofit/>
          </a:bodyPr>
          <a:lstStyle/>
          <a:p>
            <a:pPr algn="l">
              <a:defRPr sz="2475" b="0">
                <a:solidFill>
                  <a:srgbClr val="222222"/>
                </a:solidFill>
                <a:latin typeface="Arial"/>
                <a:ea typeface="Arial"/>
                <a:cs typeface="Arial"/>
              </a:defRPr>
            </a:pPr>
            <a:r>
              <a:rPr sz="2475" b="0">
                <a:solidFill>
                  <a:srgbClr val="222222"/>
                </a:solidFill>
                <a:latin typeface="Arial"/>
                <a:ea typeface="Arial"/>
                <a:cs typeface="Arial"/>
              </a:rPr>
              <a:t>Reviewer 1 and Reviewer 2 each labeled two recordings. We compared</a:t>
            </a:r>
          </a:p>
          <a:p>
            <a:pPr algn="l">
              <a:defRPr sz="2475" b="0">
                <a:solidFill>
                  <a:srgbClr val="222222"/>
                </a:solidFill>
                <a:latin typeface="Arial"/>
                <a:ea typeface="Arial"/>
                <a:cs typeface="Arial"/>
              </a:defRPr>
            </a:pPr>
            <a:r>
              <a:rPr sz="2475" b="0">
                <a:solidFill>
                  <a:srgbClr val="222222"/>
                </a:solidFill>
                <a:latin typeface="Arial"/>
                <a:ea typeface="Arial"/>
                <a:cs typeface="Arial"/>
              </a:rPr>
              <a:t>utterance boundaries at aligned word gaps, retaining fillers [4].</a:t>
            </a:r>
          </a:p>
        </p:txBody>
      </p:sp>
      <p:sp>
        <p:nvSpPr>
          <p:cNvPr id="227" name="Oct4 Pooled kappa">
            <a:extLst>
              <a:ext uri="{FF2B5EF4-FFF2-40B4-BE49-F238E27FC236}">
                <a16:creationId xmlns:a16="http://schemas.microsoft.com/office/drawing/2014/main" id="{C2829136-AE13-4F46-8B32-3A5CED52E3AE}"/>
              </a:ext>
            </a:extLst>
          </p:cNvPr>
          <p:cNvSpPr>
            <a:spLocks noGrp="1"/>
          </p:cNvSpPr>
          <p:nvPr/>
        </p:nvSpPr>
        <p:spPr>
          <a:xfrm>
            <a:off x="29146500" y="8286750"/>
            <a:ext cx="5476875" cy="1190625"/>
          </a:xfrm>
          <a:prstGeom prst="rect">
            <a:avLst/>
          </a:prstGeom>
          <a:noFill/>
          <a:ln w="0">
            <a:noFill/>
          </a:ln>
        </p:spPr>
        <p:txBody>
          <a:bodyPr lIns="0" tIns="0" rIns="0" bIns="0" anchor="ctr">
            <a:noAutofit/>
          </a:bodyPr>
          <a:lstStyle/>
          <a:p>
            <a:pPr algn="l">
              <a:defRPr sz="8250" b="1">
                <a:solidFill>
                  <a:srgbClr val="222222"/>
                </a:solidFill>
                <a:latin typeface="Arial"/>
                <a:ea typeface="Arial"/>
                <a:cs typeface="Arial"/>
              </a:defRPr>
            </a:pPr>
            <a:r>
              <a:rPr sz="8250" b="1">
                <a:solidFill>
                  <a:srgbClr val="222222"/>
                </a:solidFill>
                <a:latin typeface="Arial"/>
                <a:ea typeface="Arial"/>
                <a:cs typeface="Arial"/>
              </a:rPr>
              <a:t>0.935</a:t>
            </a:r>
          </a:p>
        </p:txBody>
      </p:sp>
      <p:sp>
        <p:nvSpPr>
          <p:cNvPr id="228" name="Oct4 Kappa label">
            <a:extLst>
              <a:ext uri="{FF2B5EF4-FFF2-40B4-BE49-F238E27FC236}">
                <a16:creationId xmlns:a16="http://schemas.microsoft.com/office/drawing/2014/main" id="{F16A55CF-1084-411B-A08E-50300AB39405}"/>
              </a:ext>
            </a:extLst>
          </p:cNvPr>
          <p:cNvSpPr>
            <a:spLocks noGrp="1"/>
          </p:cNvSpPr>
          <p:nvPr/>
        </p:nvSpPr>
        <p:spPr>
          <a:xfrm>
            <a:off x="29146500" y="9477375"/>
            <a:ext cx="5476875" cy="457200"/>
          </a:xfrm>
          <a:prstGeom prst="rect">
            <a:avLst/>
          </a:prstGeom>
          <a:noFill/>
          <a:ln w="0">
            <a:noFill/>
          </a:ln>
        </p:spPr>
        <p:txBody>
          <a:bodyPr lIns="0" tIns="0" rIns="0" bIns="0" anchor="ctr">
            <a:noAutofit/>
          </a:bodyPr>
          <a:lstStyle/>
          <a:p>
            <a:pPr algn="l">
              <a:defRPr sz="2625" b="1">
                <a:solidFill>
                  <a:srgbClr val="222222"/>
                </a:solidFill>
                <a:latin typeface="Arial"/>
                <a:ea typeface="Arial"/>
                <a:cs typeface="Arial"/>
              </a:defRPr>
            </a:pPr>
            <a:r>
              <a:rPr sz="2625" b="1">
                <a:solidFill>
                  <a:srgbClr val="222222"/>
                </a:solidFill>
                <a:latin typeface="Arial"/>
                <a:ea typeface="Arial"/>
                <a:cs typeface="Arial"/>
              </a:rPr>
              <a:t>Cohen’s κ</a:t>
            </a:r>
          </a:p>
        </p:txBody>
      </p:sp>
      <p:sp>
        <p:nvSpPr>
          <p:cNvPr id="229" name="Oct4 Agreement value">
            <a:extLst>
              <a:ext uri="{FF2B5EF4-FFF2-40B4-BE49-F238E27FC236}">
                <a16:creationId xmlns:a16="http://schemas.microsoft.com/office/drawing/2014/main" id="{3D40F8A9-C488-4CA1-8F9E-E82B91E375A7}"/>
              </a:ext>
            </a:extLst>
          </p:cNvPr>
          <p:cNvSpPr>
            <a:spLocks noGrp="1"/>
          </p:cNvSpPr>
          <p:nvPr/>
        </p:nvSpPr>
        <p:spPr>
          <a:xfrm>
            <a:off x="35433000" y="8286750"/>
            <a:ext cx="5524500" cy="1190625"/>
          </a:xfrm>
          <a:prstGeom prst="rect">
            <a:avLst/>
          </a:prstGeom>
          <a:noFill/>
          <a:ln w="0">
            <a:noFill/>
          </a:ln>
        </p:spPr>
        <p:txBody>
          <a:bodyPr lIns="0" tIns="0" rIns="0" bIns="0" anchor="ctr">
            <a:noAutofit/>
          </a:bodyPr>
          <a:lstStyle/>
          <a:p>
            <a:pPr algn="l">
              <a:defRPr sz="8250" b="1">
                <a:solidFill>
                  <a:srgbClr val="222222"/>
                </a:solidFill>
                <a:latin typeface="Arial"/>
                <a:ea typeface="Arial"/>
                <a:cs typeface="Arial"/>
              </a:defRPr>
            </a:pPr>
            <a:r>
              <a:rPr sz="8250" b="1">
                <a:solidFill>
                  <a:srgbClr val="222222"/>
                </a:solidFill>
                <a:latin typeface="Arial"/>
                <a:ea typeface="Arial"/>
                <a:cs typeface="Arial"/>
              </a:rPr>
              <a:t>98.70%</a:t>
            </a:r>
          </a:p>
        </p:txBody>
      </p:sp>
      <p:sp>
        <p:nvSpPr>
          <p:cNvPr id="230" name="Oct4 Agreement label">
            <a:extLst>
              <a:ext uri="{FF2B5EF4-FFF2-40B4-BE49-F238E27FC236}">
                <a16:creationId xmlns:a16="http://schemas.microsoft.com/office/drawing/2014/main" id="{0883ED6E-C55C-4CA7-9F4B-C25C148BA318}"/>
              </a:ext>
            </a:extLst>
          </p:cNvPr>
          <p:cNvSpPr>
            <a:spLocks noGrp="1"/>
          </p:cNvSpPr>
          <p:nvPr/>
        </p:nvSpPr>
        <p:spPr>
          <a:xfrm>
            <a:off x="35433000" y="9477375"/>
            <a:ext cx="5524500" cy="457200"/>
          </a:xfrm>
          <a:prstGeom prst="rect">
            <a:avLst/>
          </a:prstGeom>
          <a:noFill/>
          <a:ln w="0">
            <a:noFill/>
          </a:ln>
        </p:spPr>
        <p:txBody>
          <a:bodyPr lIns="0" tIns="0" rIns="0" bIns="0" anchor="ctr">
            <a:noAutofit/>
          </a:bodyPr>
          <a:lstStyle/>
          <a:p>
            <a:pPr algn="l">
              <a:defRPr sz="2625" b="1">
                <a:solidFill>
                  <a:srgbClr val="222222"/>
                </a:solidFill>
                <a:latin typeface="Arial"/>
                <a:ea typeface="Arial"/>
                <a:cs typeface="Arial"/>
              </a:defRPr>
            </a:pPr>
            <a:r>
              <a:rPr sz="2625" b="1">
                <a:solidFill>
                  <a:srgbClr val="222222"/>
                </a:solidFill>
                <a:latin typeface="Arial"/>
                <a:ea typeface="Arial"/>
                <a:cs typeface="Arial"/>
              </a:rPr>
              <a:t>Boundary agreement</a:t>
            </a:r>
          </a:p>
        </p:txBody>
      </p:sp>
      <p:sp>
        <p:nvSpPr>
          <p:cNvPr id="231" name="Oct4 Pooled scope">
            <a:extLst>
              <a:ext uri="{FF2B5EF4-FFF2-40B4-BE49-F238E27FC236}">
                <a16:creationId xmlns:a16="http://schemas.microsoft.com/office/drawing/2014/main" id="{A7FECC62-10D6-4FB6-8239-2891FF66C4C6}"/>
              </a:ext>
            </a:extLst>
          </p:cNvPr>
          <p:cNvSpPr>
            <a:spLocks noGrp="1"/>
          </p:cNvSpPr>
          <p:nvPr/>
        </p:nvSpPr>
        <p:spPr>
          <a:xfrm>
            <a:off x="29146500" y="10096500"/>
            <a:ext cx="11620500" cy="476250"/>
          </a:xfrm>
          <a:prstGeom prst="rect">
            <a:avLst/>
          </a:prstGeom>
          <a:noFill/>
          <a:ln w="0">
            <a:noFill/>
          </a:ln>
        </p:spPr>
        <p:txBody>
          <a:bodyPr lIns="0" tIns="0" rIns="0" bIns="0" anchor="ctr">
            <a:noAutofit/>
          </a:bodyPr>
          <a:lstStyle/>
          <a:p>
            <a:pPr algn="l">
              <a:defRPr sz="2325" b="0">
                <a:solidFill>
                  <a:srgbClr val="222222"/>
                </a:solidFill>
                <a:latin typeface="Arial"/>
                <a:ea typeface="Arial"/>
                <a:cs typeface="Arial"/>
              </a:defRPr>
            </a:pPr>
            <a:r>
              <a:rPr sz="2325" b="0">
                <a:solidFill>
                  <a:srgbClr val="222222"/>
                </a:solidFill>
                <a:latin typeface="Arial"/>
                <a:ea typeface="Arial"/>
                <a:cs typeface="Arial"/>
              </a:rPr>
              <a:t>Pooled across 2,777 evaluated word gaps</a:t>
            </a:r>
          </a:p>
        </p:txBody>
      </p:sp>
      <p:sp>
        <p:nvSpPr>
          <p:cNvPr id="232" name="Oct4 Meaning">
            <a:extLst>
              <a:ext uri="{FF2B5EF4-FFF2-40B4-BE49-F238E27FC236}">
                <a16:creationId xmlns:a16="http://schemas.microsoft.com/office/drawing/2014/main" id="{0BD9AD8C-760D-4287-BBD4-D588B78B732D}"/>
              </a:ext>
            </a:extLst>
          </p:cNvPr>
          <p:cNvSpPr>
            <a:spLocks noGrp="1"/>
          </p:cNvSpPr>
          <p:nvPr/>
        </p:nvSpPr>
        <p:spPr>
          <a:xfrm>
            <a:off x="29146500" y="10877550"/>
            <a:ext cx="11811000" cy="971550"/>
          </a:xfrm>
          <a:prstGeom prst="rect">
            <a:avLst/>
          </a:prstGeom>
          <a:noFill/>
          <a:ln w="0">
            <a:noFill/>
          </a:ln>
        </p:spPr>
        <p:txBody>
          <a:bodyPr lIns="0" tIns="0" rIns="0" bIns="0" anchor="ctr">
            <a:noAutofit/>
          </a:bodyPr>
          <a:lstStyle/>
          <a:p>
            <a:pPr algn="l">
              <a:defRPr sz="2550" b="0">
                <a:solidFill>
                  <a:srgbClr val="222222"/>
                </a:solidFill>
                <a:latin typeface="Arial"/>
                <a:ea typeface="Arial"/>
                <a:cs typeface="Arial"/>
              </a:defRPr>
            </a:pPr>
            <a:r>
              <a:rPr sz="2550" b="0">
                <a:solidFill>
                  <a:srgbClr val="222222"/>
                </a:solidFill>
                <a:latin typeface="Arial"/>
                <a:ea typeface="Arial"/>
                <a:cs typeface="Arial"/>
              </a:rPr>
              <a:t>Cohen’s κ adjusts agreement for chance.</a:t>
            </a:r>
          </a:p>
          <a:p>
            <a:pPr algn="l">
              <a:defRPr sz="2550" b="0">
                <a:solidFill>
                  <a:srgbClr val="222222"/>
                </a:solidFill>
                <a:latin typeface="Arial"/>
                <a:ea typeface="Arial"/>
                <a:cs typeface="Arial"/>
              </a:defRPr>
            </a:pPr>
            <a:r>
              <a:rPr sz="2550" b="0">
                <a:solidFill>
                  <a:srgbClr val="222222"/>
                </a:solidFill>
                <a:latin typeface="Arial"/>
                <a:ea typeface="Arial"/>
                <a:cs typeface="Arial"/>
              </a:rPr>
              <a:t>0 = chance-level agreement; 1 = complete agreement.</a:t>
            </a:r>
          </a:p>
        </p:txBody>
      </p:sp>
      <p:graphicFrame>
        <p:nvGraphicFramePr>
          <p:cNvPr id="233" name="Chart"/>
          <p:cNvGraphicFramePr/>
          <p:nvPr/>
        </p:nvGraphicFramePr>
        <p:xfrm>
          <a:off x="31718250" y="12001500"/>
          <a:ext cx="6096000" cy="3238500"/>
        </p:xfrm>
        <a:graphic>
          <a:graphicData uri="http://schemas.openxmlformats.org/drawingml/2006/chart">
            <c:chart xmlns:c="http://schemas.openxmlformats.org/drawingml/2006/chart" xmlns:r="http://schemas.openxmlformats.org/officeDocument/2006/relationships" r:id="rId6"/>
          </a:graphicData>
        </a:graphic>
      </p:graphicFrame>
      <p:sp>
        <p:nvSpPr>
          <p:cNvPr id="234" name="Oct4 Dot stats header">
            <a:extLst>
              <a:ext uri="{FF2B5EF4-FFF2-40B4-BE49-F238E27FC236}">
                <a16:creationId xmlns:a16="http://schemas.microsoft.com/office/drawing/2014/main" id="{B4571D23-74B2-4A70-82E8-178C1E8E360F}"/>
              </a:ext>
            </a:extLst>
          </p:cNvPr>
          <p:cNvSpPr>
            <a:spLocks noGrp="1"/>
          </p:cNvSpPr>
          <p:nvPr/>
        </p:nvSpPr>
        <p:spPr>
          <a:xfrm>
            <a:off x="38004750" y="11763375"/>
            <a:ext cx="2952750" cy="476250"/>
          </a:xfrm>
          <a:prstGeom prst="rect">
            <a:avLst/>
          </a:prstGeom>
          <a:noFill/>
          <a:ln w="0">
            <a:noFill/>
          </a:ln>
        </p:spPr>
        <p:txBody>
          <a:bodyPr lIns="0" tIns="0" rIns="0" bIns="0" anchor="ctr">
            <a:noAutofit/>
          </a:bodyPr>
          <a:lstStyle/>
          <a:p>
            <a:pPr algn="l">
              <a:defRPr sz="2175" b="1">
                <a:solidFill>
                  <a:srgbClr val="222222"/>
                </a:solidFill>
                <a:latin typeface="Arial"/>
                <a:ea typeface="Arial"/>
                <a:cs typeface="Arial"/>
              </a:defRPr>
            </a:pPr>
            <a:r>
              <a:rPr sz="2175" b="1">
                <a:solidFill>
                  <a:srgbClr val="222222"/>
                </a:solidFill>
                <a:latin typeface="Arial"/>
                <a:ea typeface="Arial"/>
                <a:cs typeface="Arial"/>
              </a:rPr>
              <a:t>κ   |   Agreement</a:t>
            </a:r>
          </a:p>
        </p:txBody>
      </p:sp>
      <p:sp>
        <p:nvSpPr>
          <p:cNvPr id="235" name="Oct4 Recording 0">
            <a:extLst>
              <a:ext uri="{FF2B5EF4-FFF2-40B4-BE49-F238E27FC236}">
                <a16:creationId xmlns:a16="http://schemas.microsoft.com/office/drawing/2014/main" id="{E1841BFC-3B4E-4AEF-BA77-368A798F6073}"/>
              </a:ext>
            </a:extLst>
          </p:cNvPr>
          <p:cNvSpPr>
            <a:spLocks noGrp="1"/>
          </p:cNvSpPr>
          <p:nvPr/>
        </p:nvSpPr>
        <p:spPr>
          <a:xfrm>
            <a:off x="29146500" y="12182475"/>
            <a:ext cx="2571750" cy="457200"/>
          </a:xfrm>
          <a:prstGeom prst="rect">
            <a:avLst/>
          </a:prstGeom>
          <a:noFill/>
          <a:ln w="0">
            <a:noFill/>
          </a:ln>
        </p:spPr>
        <p:txBody>
          <a:bodyPr lIns="0" tIns="0" rIns="0" bIns="0" anchor="ctr">
            <a:noAutofit/>
          </a:bodyPr>
          <a:lstStyle/>
          <a:p>
            <a:pPr algn="l">
              <a:defRPr sz="2325" b="0">
                <a:solidFill>
                  <a:srgbClr val="222222"/>
                </a:solidFill>
                <a:latin typeface="Arial"/>
                <a:ea typeface="Arial"/>
                <a:cs typeface="Arial"/>
              </a:defRPr>
            </a:pPr>
            <a:r>
              <a:rPr sz="2325" b="0">
                <a:solidFill>
                  <a:srgbClr val="222222"/>
                </a:solidFill>
                <a:latin typeface="Arial"/>
                <a:ea typeface="Arial"/>
                <a:cs typeface="Arial"/>
              </a:rPr>
              <a:t>P2 — Reviewer 1</a:t>
            </a:r>
          </a:p>
        </p:txBody>
      </p:sp>
      <p:sp>
        <p:nvSpPr>
          <p:cNvPr id="236" name="Oct4 Recording stats 0">
            <a:extLst>
              <a:ext uri="{FF2B5EF4-FFF2-40B4-BE49-F238E27FC236}">
                <a16:creationId xmlns:a16="http://schemas.microsoft.com/office/drawing/2014/main" id="{FF74648E-4333-4AFA-B54D-DED4162F90FA}"/>
              </a:ext>
            </a:extLst>
          </p:cNvPr>
          <p:cNvSpPr>
            <a:spLocks noGrp="1"/>
          </p:cNvSpPr>
          <p:nvPr/>
        </p:nvSpPr>
        <p:spPr>
          <a:xfrm>
            <a:off x="38004750" y="12182475"/>
            <a:ext cx="3048000" cy="457200"/>
          </a:xfrm>
          <a:prstGeom prst="rect">
            <a:avLst/>
          </a:prstGeom>
          <a:noFill/>
          <a:ln w="0">
            <a:noFill/>
          </a:ln>
        </p:spPr>
        <p:txBody>
          <a:bodyPr lIns="0" tIns="0" rIns="0" bIns="0" anchor="ctr">
            <a:noAutofit/>
          </a:bodyPr>
          <a:lstStyle/>
          <a:p>
            <a:pPr algn="l">
              <a:defRPr sz="2325" b="0">
                <a:solidFill>
                  <a:srgbClr val="222222"/>
                </a:solidFill>
                <a:latin typeface="Arial"/>
                <a:ea typeface="Arial"/>
                <a:cs typeface="Arial"/>
              </a:defRPr>
            </a:pPr>
            <a:r>
              <a:rPr sz="2325" b="0">
                <a:solidFill>
                  <a:srgbClr val="222222"/>
                </a:solidFill>
                <a:latin typeface="Arial"/>
                <a:ea typeface="Arial"/>
                <a:cs typeface="Arial"/>
              </a:rPr>
              <a:t>0.981  |  99.73%</a:t>
            </a:r>
          </a:p>
        </p:txBody>
      </p:sp>
      <p:sp>
        <p:nvSpPr>
          <p:cNvPr id="237" name="Oct4 Recording 1">
            <a:extLst>
              <a:ext uri="{FF2B5EF4-FFF2-40B4-BE49-F238E27FC236}">
                <a16:creationId xmlns:a16="http://schemas.microsoft.com/office/drawing/2014/main" id="{079BDDE0-061F-4C44-88FA-03B250821B1F}"/>
              </a:ext>
            </a:extLst>
          </p:cNvPr>
          <p:cNvSpPr>
            <a:spLocks noGrp="1"/>
          </p:cNvSpPr>
          <p:nvPr/>
        </p:nvSpPr>
        <p:spPr>
          <a:xfrm>
            <a:off x="29146500" y="12877800"/>
            <a:ext cx="2571750" cy="457200"/>
          </a:xfrm>
          <a:prstGeom prst="rect">
            <a:avLst/>
          </a:prstGeom>
          <a:noFill/>
          <a:ln w="0">
            <a:noFill/>
          </a:ln>
        </p:spPr>
        <p:txBody>
          <a:bodyPr lIns="0" tIns="0" rIns="0" bIns="0" anchor="ctr">
            <a:noAutofit/>
          </a:bodyPr>
          <a:lstStyle/>
          <a:p>
            <a:pPr algn="l">
              <a:defRPr sz="2325" b="0">
                <a:solidFill>
                  <a:srgbClr val="222222"/>
                </a:solidFill>
                <a:latin typeface="Arial"/>
                <a:ea typeface="Arial"/>
                <a:cs typeface="Arial"/>
              </a:defRPr>
            </a:pPr>
            <a:r>
              <a:rPr sz="2325" b="0">
                <a:solidFill>
                  <a:srgbClr val="222222"/>
                </a:solidFill>
                <a:latin typeface="Arial"/>
                <a:ea typeface="Arial"/>
                <a:cs typeface="Arial"/>
              </a:rPr>
              <a:t>P9 — Reviewer 1</a:t>
            </a:r>
          </a:p>
        </p:txBody>
      </p:sp>
      <p:sp>
        <p:nvSpPr>
          <p:cNvPr id="238" name="Oct4 Recording stats 1">
            <a:extLst>
              <a:ext uri="{FF2B5EF4-FFF2-40B4-BE49-F238E27FC236}">
                <a16:creationId xmlns:a16="http://schemas.microsoft.com/office/drawing/2014/main" id="{5E20968E-D33A-4800-9A09-55CD43375B32}"/>
              </a:ext>
            </a:extLst>
          </p:cNvPr>
          <p:cNvSpPr>
            <a:spLocks noGrp="1"/>
          </p:cNvSpPr>
          <p:nvPr/>
        </p:nvSpPr>
        <p:spPr>
          <a:xfrm>
            <a:off x="38004750" y="12877800"/>
            <a:ext cx="3048000" cy="457200"/>
          </a:xfrm>
          <a:prstGeom prst="rect">
            <a:avLst/>
          </a:prstGeom>
          <a:noFill/>
          <a:ln w="0">
            <a:noFill/>
          </a:ln>
        </p:spPr>
        <p:txBody>
          <a:bodyPr lIns="0" tIns="0" rIns="0" bIns="0" anchor="ctr">
            <a:noAutofit/>
          </a:bodyPr>
          <a:lstStyle/>
          <a:p>
            <a:pPr algn="l">
              <a:defRPr sz="2325" b="0">
                <a:solidFill>
                  <a:srgbClr val="222222"/>
                </a:solidFill>
                <a:latin typeface="Arial"/>
                <a:ea typeface="Arial"/>
                <a:cs typeface="Arial"/>
              </a:defRPr>
            </a:pPr>
            <a:r>
              <a:rPr sz="2325" b="0">
                <a:solidFill>
                  <a:srgbClr val="222222"/>
                </a:solidFill>
                <a:latin typeface="Arial"/>
                <a:ea typeface="Arial"/>
                <a:cs typeface="Arial"/>
              </a:rPr>
              <a:t>0.953  |  99.40%</a:t>
            </a:r>
          </a:p>
        </p:txBody>
      </p:sp>
      <p:sp>
        <p:nvSpPr>
          <p:cNvPr id="239" name="Oct4 Recording 2">
            <a:extLst>
              <a:ext uri="{FF2B5EF4-FFF2-40B4-BE49-F238E27FC236}">
                <a16:creationId xmlns:a16="http://schemas.microsoft.com/office/drawing/2014/main" id="{51745D3F-4E55-4615-8271-247A24DDC3C7}"/>
              </a:ext>
            </a:extLst>
          </p:cNvPr>
          <p:cNvSpPr>
            <a:spLocks noGrp="1"/>
          </p:cNvSpPr>
          <p:nvPr/>
        </p:nvSpPr>
        <p:spPr>
          <a:xfrm>
            <a:off x="29146500" y="13573125"/>
            <a:ext cx="2571750" cy="457200"/>
          </a:xfrm>
          <a:prstGeom prst="rect">
            <a:avLst/>
          </a:prstGeom>
          <a:noFill/>
          <a:ln w="0">
            <a:noFill/>
          </a:ln>
        </p:spPr>
        <p:txBody>
          <a:bodyPr lIns="0" tIns="0" rIns="0" bIns="0" anchor="ctr">
            <a:noAutofit/>
          </a:bodyPr>
          <a:lstStyle/>
          <a:p>
            <a:pPr algn="l">
              <a:defRPr sz="2325" b="0">
                <a:solidFill>
                  <a:srgbClr val="222222"/>
                </a:solidFill>
                <a:latin typeface="Arial"/>
                <a:ea typeface="Arial"/>
                <a:cs typeface="Arial"/>
              </a:defRPr>
            </a:pPr>
            <a:r>
              <a:rPr sz="2325" b="0">
                <a:solidFill>
                  <a:srgbClr val="222222"/>
                </a:solidFill>
                <a:latin typeface="Arial"/>
                <a:ea typeface="Arial"/>
                <a:cs typeface="Arial"/>
              </a:rPr>
              <a:t>P4 — Reviewer 2</a:t>
            </a:r>
          </a:p>
        </p:txBody>
      </p:sp>
      <p:sp>
        <p:nvSpPr>
          <p:cNvPr id="240" name="Oct4 Recording stats 2">
            <a:extLst>
              <a:ext uri="{FF2B5EF4-FFF2-40B4-BE49-F238E27FC236}">
                <a16:creationId xmlns:a16="http://schemas.microsoft.com/office/drawing/2014/main" id="{2C2B8264-679A-4823-9C0F-75E39B9798B7}"/>
              </a:ext>
            </a:extLst>
          </p:cNvPr>
          <p:cNvSpPr>
            <a:spLocks noGrp="1"/>
          </p:cNvSpPr>
          <p:nvPr/>
        </p:nvSpPr>
        <p:spPr>
          <a:xfrm>
            <a:off x="38004750" y="13573125"/>
            <a:ext cx="3048000" cy="457200"/>
          </a:xfrm>
          <a:prstGeom prst="rect">
            <a:avLst/>
          </a:prstGeom>
          <a:noFill/>
          <a:ln w="0">
            <a:noFill/>
          </a:ln>
        </p:spPr>
        <p:txBody>
          <a:bodyPr lIns="0" tIns="0" rIns="0" bIns="0" anchor="ctr">
            <a:noAutofit/>
          </a:bodyPr>
          <a:lstStyle/>
          <a:p>
            <a:pPr algn="l">
              <a:defRPr sz="2325" b="0">
                <a:solidFill>
                  <a:srgbClr val="222222"/>
                </a:solidFill>
                <a:latin typeface="Arial"/>
                <a:ea typeface="Arial"/>
                <a:cs typeface="Arial"/>
              </a:defRPr>
            </a:pPr>
            <a:r>
              <a:rPr sz="2325" b="0">
                <a:solidFill>
                  <a:srgbClr val="222222"/>
                </a:solidFill>
                <a:latin typeface="Arial"/>
                <a:ea typeface="Arial"/>
                <a:cs typeface="Arial"/>
              </a:rPr>
              <a:t>0.850  |  94.29%</a:t>
            </a:r>
          </a:p>
        </p:txBody>
      </p:sp>
      <p:sp>
        <p:nvSpPr>
          <p:cNvPr id="241" name="Oct4 Recording 3">
            <a:extLst>
              <a:ext uri="{FF2B5EF4-FFF2-40B4-BE49-F238E27FC236}">
                <a16:creationId xmlns:a16="http://schemas.microsoft.com/office/drawing/2014/main" id="{8E2BE887-1D3E-4BC7-ABD5-DB54B923DE25}"/>
              </a:ext>
            </a:extLst>
          </p:cNvPr>
          <p:cNvSpPr>
            <a:spLocks noGrp="1"/>
          </p:cNvSpPr>
          <p:nvPr/>
        </p:nvSpPr>
        <p:spPr>
          <a:xfrm>
            <a:off x="29146500" y="14268450"/>
            <a:ext cx="2571750" cy="457200"/>
          </a:xfrm>
          <a:prstGeom prst="rect">
            <a:avLst/>
          </a:prstGeom>
          <a:noFill/>
          <a:ln w="0">
            <a:noFill/>
          </a:ln>
        </p:spPr>
        <p:txBody>
          <a:bodyPr lIns="0" tIns="0" rIns="0" bIns="0" anchor="ctr">
            <a:noAutofit/>
          </a:bodyPr>
          <a:lstStyle/>
          <a:p>
            <a:pPr algn="l">
              <a:defRPr sz="2325" b="0">
                <a:solidFill>
                  <a:srgbClr val="222222"/>
                </a:solidFill>
                <a:latin typeface="Arial"/>
                <a:ea typeface="Arial"/>
                <a:cs typeface="Arial"/>
              </a:defRPr>
            </a:pPr>
            <a:r>
              <a:rPr sz="2325" b="0">
                <a:solidFill>
                  <a:srgbClr val="222222"/>
                </a:solidFill>
                <a:latin typeface="Arial"/>
                <a:ea typeface="Arial"/>
                <a:cs typeface="Arial"/>
              </a:rPr>
              <a:t>P7 — Reviewer 2</a:t>
            </a:r>
          </a:p>
        </p:txBody>
      </p:sp>
      <p:sp>
        <p:nvSpPr>
          <p:cNvPr id="242" name="Oct4 Recording stats 3">
            <a:extLst>
              <a:ext uri="{FF2B5EF4-FFF2-40B4-BE49-F238E27FC236}">
                <a16:creationId xmlns:a16="http://schemas.microsoft.com/office/drawing/2014/main" id="{0392C5C4-575A-4A04-89B7-B1428ED5F868}"/>
              </a:ext>
            </a:extLst>
          </p:cNvPr>
          <p:cNvSpPr>
            <a:spLocks noGrp="1"/>
          </p:cNvSpPr>
          <p:nvPr/>
        </p:nvSpPr>
        <p:spPr>
          <a:xfrm>
            <a:off x="38004750" y="14268450"/>
            <a:ext cx="3048000" cy="457200"/>
          </a:xfrm>
          <a:prstGeom prst="rect">
            <a:avLst/>
          </a:prstGeom>
          <a:noFill/>
          <a:ln w="0">
            <a:noFill/>
          </a:ln>
        </p:spPr>
        <p:txBody>
          <a:bodyPr lIns="0" tIns="0" rIns="0" bIns="0" anchor="ctr">
            <a:noAutofit/>
          </a:bodyPr>
          <a:lstStyle/>
          <a:p>
            <a:pPr algn="l">
              <a:defRPr sz="2325" b="0">
                <a:solidFill>
                  <a:srgbClr val="222222"/>
                </a:solidFill>
                <a:latin typeface="Arial"/>
                <a:ea typeface="Arial"/>
                <a:cs typeface="Arial"/>
              </a:defRPr>
            </a:pPr>
            <a:r>
              <a:rPr sz="2325" b="0">
                <a:solidFill>
                  <a:srgbClr val="222222"/>
                </a:solidFill>
                <a:latin typeface="Arial"/>
                <a:ea typeface="Arial"/>
                <a:cs typeface="Arial"/>
              </a:rPr>
              <a:t>0.899  |  95.50%</a:t>
            </a:r>
          </a:p>
        </p:txBody>
      </p:sp>
      <p:sp>
        <p:nvSpPr>
          <p:cNvPr id="243" name="Oct4 Read dots">
            <a:extLst>
              <a:ext uri="{FF2B5EF4-FFF2-40B4-BE49-F238E27FC236}">
                <a16:creationId xmlns:a16="http://schemas.microsoft.com/office/drawing/2014/main" id="{0DAD7CEF-4273-45BC-B071-502E24FFE5F8}"/>
              </a:ext>
            </a:extLst>
          </p:cNvPr>
          <p:cNvSpPr>
            <a:spLocks noGrp="1"/>
          </p:cNvSpPr>
          <p:nvPr/>
        </p:nvSpPr>
        <p:spPr>
          <a:xfrm>
            <a:off x="29146500" y="15430500"/>
            <a:ext cx="11811000" cy="504825"/>
          </a:xfrm>
          <a:prstGeom prst="rect">
            <a:avLst/>
          </a:prstGeom>
          <a:noFill/>
          <a:ln w="0">
            <a:noFill/>
          </a:ln>
        </p:spPr>
        <p:txBody>
          <a:bodyPr lIns="0" tIns="0" rIns="0" bIns="0" anchor="ctr">
            <a:noAutofit/>
          </a:bodyPr>
          <a:lstStyle/>
          <a:p>
            <a:pPr algn="l">
              <a:defRPr sz="2325" b="0">
                <a:solidFill>
                  <a:srgbClr val="222222"/>
                </a:solidFill>
                <a:latin typeface="Arial"/>
                <a:ea typeface="Arial"/>
                <a:cs typeface="Arial"/>
              </a:defRPr>
            </a:pPr>
            <a:r>
              <a:rPr sz="2325" b="0">
                <a:solidFill>
                  <a:srgbClr val="222222"/>
                </a:solidFill>
                <a:latin typeface="Arial"/>
                <a:ea typeface="Arial"/>
                <a:cs typeface="Arial"/>
              </a:rPr>
              <a:t>Dots closer to 1 mean stronger agreement beyond chance.</a:t>
            </a:r>
          </a:p>
        </p:txBody>
      </p:sp>
      <p:sp>
        <p:nvSpPr>
          <p:cNvPr id="244" name="System Figure background">
            <a:extLst>
              <a:ext uri="{FF2B5EF4-FFF2-40B4-BE49-F238E27FC236}">
                <a16:creationId xmlns:a16="http://schemas.microsoft.com/office/drawing/2014/main" id="{2146904A-D7FF-4099-8A2D-BC8150F64F29}"/>
              </a:ext>
            </a:extLst>
          </p:cNvPr>
          <p:cNvSpPr>
            <a:spLocks noGrp="1"/>
          </p:cNvSpPr>
          <p:nvPr/>
        </p:nvSpPr>
        <p:spPr>
          <a:xfrm>
            <a:off x="333375" y="25050750"/>
            <a:ext cx="41195625" cy="5000625"/>
          </a:xfrm>
          <a:prstGeom prst="rect">
            <a:avLst/>
          </a:prstGeom>
          <a:solidFill>
            <a:srgbClr val="FFFFFF"/>
          </a:solidFill>
          <a:ln w="0">
            <a:noFill/>
          </a:ln>
        </p:spPr>
        <p:txBody>
          <a:bodyPr/>
          <a:lstStyle/>
          <a:p>
            <a:endParaRPr lang="en-US"/>
          </a:p>
        </p:txBody>
      </p:sp>
      <p:sp>
        <p:nvSpPr>
          <p:cNvPr id="245" name="System Recording">
            <a:extLst>
              <a:ext uri="{FF2B5EF4-FFF2-40B4-BE49-F238E27FC236}">
                <a16:creationId xmlns:a16="http://schemas.microsoft.com/office/drawing/2014/main" id="{E363B3EE-5769-4854-AFB8-9FF935F57515}"/>
              </a:ext>
            </a:extLst>
          </p:cNvPr>
          <p:cNvSpPr>
            <a:spLocks noGrp="1"/>
          </p:cNvSpPr>
          <p:nvPr/>
        </p:nvSpPr>
        <p:spPr>
          <a:xfrm>
            <a:off x="762000" y="26574750"/>
            <a:ext cx="4572000" cy="2238375"/>
          </a:xfrm>
          <a:prstGeom prst="roundRect">
            <a:avLst>
              <a:gd name="adj" fmla="val 11064"/>
            </a:avLst>
          </a:prstGeom>
          <a:solidFill>
            <a:srgbClr val="E7F2F9"/>
          </a:solidFill>
          <a:ln w="0">
            <a:noFill/>
          </a:ln>
        </p:spPr>
        <p:txBody>
          <a:bodyPr/>
          <a:lstStyle/>
          <a:p>
            <a:endParaRPr lang="en-US"/>
          </a:p>
        </p:txBody>
      </p:sp>
      <p:sp>
        <p:nvSpPr>
          <p:cNvPr id="246" name="System Transcription">
            <a:extLst>
              <a:ext uri="{FF2B5EF4-FFF2-40B4-BE49-F238E27FC236}">
                <a16:creationId xmlns:a16="http://schemas.microsoft.com/office/drawing/2014/main" id="{11388AD6-AED5-478A-A950-C438BB2BA418}"/>
              </a:ext>
            </a:extLst>
          </p:cNvPr>
          <p:cNvSpPr>
            <a:spLocks noGrp="1"/>
          </p:cNvSpPr>
          <p:nvPr/>
        </p:nvSpPr>
        <p:spPr>
          <a:xfrm>
            <a:off x="6286500" y="26574750"/>
            <a:ext cx="5619750" cy="2238375"/>
          </a:xfrm>
          <a:prstGeom prst="roundRect">
            <a:avLst>
              <a:gd name="adj" fmla="val 11064"/>
            </a:avLst>
          </a:prstGeom>
          <a:solidFill>
            <a:srgbClr val="E7F2F9"/>
          </a:solidFill>
          <a:ln w="0">
            <a:noFill/>
          </a:ln>
        </p:spPr>
        <p:txBody>
          <a:bodyPr/>
          <a:lstStyle/>
          <a:p>
            <a:endParaRPr lang="en-US"/>
          </a:p>
        </p:txBody>
      </p:sp>
      <p:sp>
        <p:nvSpPr>
          <p:cNvPr id="247" name="System Participant selection">
            <a:extLst>
              <a:ext uri="{FF2B5EF4-FFF2-40B4-BE49-F238E27FC236}">
                <a16:creationId xmlns:a16="http://schemas.microsoft.com/office/drawing/2014/main" id="{C8A5CF67-519D-4795-A099-5186EF0273B9}"/>
              </a:ext>
            </a:extLst>
          </p:cNvPr>
          <p:cNvSpPr>
            <a:spLocks noGrp="1"/>
          </p:cNvSpPr>
          <p:nvPr/>
        </p:nvSpPr>
        <p:spPr>
          <a:xfrm>
            <a:off x="12858750" y="26574750"/>
            <a:ext cx="4953000" cy="2238375"/>
          </a:xfrm>
          <a:prstGeom prst="roundRect">
            <a:avLst>
              <a:gd name="adj" fmla="val 11064"/>
            </a:avLst>
          </a:prstGeom>
          <a:solidFill>
            <a:srgbClr val="E9F3E9"/>
          </a:solidFill>
          <a:ln w="0">
            <a:noFill/>
          </a:ln>
        </p:spPr>
        <p:txBody>
          <a:bodyPr/>
          <a:lstStyle/>
          <a:p>
            <a:endParaRPr lang="en-US"/>
          </a:p>
        </p:txBody>
      </p:sp>
      <p:sp>
        <p:nvSpPr>
          <p:cNvPr id="248" name="System Custom pipeline">
            <a:extLst>
              <a:ext uri="{FF2B5EF4-FFF2-40B4-BE49-F238E27FC236}">
                <a16:creationId xmlns:a16="http://schemas.microsoft.com/office/drawing/2014/main" id="{480E8EA6-1B09-48AB-B659-F348EFFF7AE5}"/>
              </a:ext>
            </a:extLst>
          </p:cNvPr>
          <p:cNvSpPr>
            <a:spLocks noGrp="1"/>
          </p:cNvSpPr>
          <p:nvPr/>
        </p:nvSpPr>
        <p:spPr>
          <a:xfrm>
            <a:off x="19812000" y="25384125"/>
            <a:ext cx="6667500" cy="1524000"/>
          </a:xfrm>
          <a:prstGeom prst="roundRect">
            <a:avLst>
              <a:gd name="adj" fmla="val 16250"/>
            </a:avLst>
          </a:prstGeom>
          <a:solidFill>
            <a:srgbClr val="EFF0FA"/>
          </a:solidFill>
          <a:ln w="0">
            <a:noFill/>
          </a:ln>
        </p:spPr>
        <p:txBody>
          <a:bodyPr/>
          <a:lstStyle/>
          <a:p>
            <a:endParaRPr lang="en-US"/>
          </a:p>
        </p:txBody>
      </p:sp>
      <p:sp>
        <p:nvSpPr>
          <p:cNvPr id="249" name="System Corrected transcript">
            <a:extLst>
              <a:ext uri="{FF2B5EF4-FFF2-40B4-BE49-F238E27FC236}">
                <a16:creationId xmlns:a16="http://schemas.microsoft.com/office/drawing/2014/main" id="{02B543F0-046B-4843-94A3-12C1C9534C9B}"/>
              </a:ext>
            </a:extLst>
          </p:cNvPr>
          <p:cNvSpPr>
            <a:spLocks noGrp="1"/>
          </p:cNvSpPr>
          <p:nvPr/>
        </p:nvSpPr>
        <p:spPr>
          <a:xfrm>
            <a:off x="19812000" y="27051000"/>
            <a:ext cx="6667500" cy="1285875"/>
          </a:xfrm>
          <a:prstGeom prst="roundRect">
            <a:avLst>
              <a:gd name="adj" fmla="val 19259"/>
            </a:avLst>
          </a:prstGeom>
          <a:solidFill>
            <a:srgbClr val="E9F3E9"/>
          </a:solidFill>
          <a:ln w="0">
            <a:noFill/>
          </a:ln>
        </p:spPr>
        <p:txBody>
          <a:bodyPr/>
          <a:lstStyle/>
          <a:p>
            <a:endParaRPr lang="en-US"/>
          </a:p>
        </p:txBody>
      </p:sp>
      <p:sp>
        <p:nvSpPr>
          <p:cNvPr id="250" name="System Software reference">
            <a:extLst>
              <a:ext uri="{FF2B5EF4-FFF2-40B4-BE49-F238E27FC236}">
                <a16:creationId xmlns:a16="http://schemas.microsoft.com/office/drawing/2014/main" id="{7D2A3B7E-D14F-43EF-9446-4298FC6BDC1E}"/>
              </a:ext>
            </a:extLst>
          </p:cNvPr>
          <p:cNvSpPr>
            <a:spLocks noGrp="1"/>
          </p:cNvSpPr>
          <p:nvPr/>
        </p:nvSpPr>
        <p:spPr>
          <a:xfrm>
            <a:off x="27813000" y="27051000"/>
            <a:ext cx="6000750" cy="1285875"/>
          </a:xfrm>
          <a:prstGeom prst="roundRect">
            <a:avLst>
              <a:gd name="adj" fmla="val 19259"/>
            </a:avLst>
          </a:prstGeom>
          <a:solidFill>
            <a:srgbClr val="EDF4F9"/>
          </a:solidFill>
          <a:ln w="0">
            <a:noFill/>
          </a:ln>
        </p:spPr>
        <p:txBody>
          <a:bodyPr/>
          <a:lstStyle/>
          <a:p>
            <a:endParaRPr lang="en-US"/>
          </a:p>
        </p:txBody>
      </p:sp>
      <p:sp>
        <p:nvSpPr>
          <p:cNvPr id="251" name="System Labeled sample">
            <a:extLst>
              <a:ext uri="{FF2B5EF4-FFF2-40B4-BE49-F238E27FC236}">
                <a16:creationId xmlns:a16="http://schemas.microsoft.com/office/drawing/2014/main" id="{8CB16136-EFCE-42AE-8784-BCFB7D82DEB6}"/>
              </a:ext>
            </a:extLst>
          </p:cNvPr>
          <p:cNvSpPr>
            <a:spLocks noGrp="1"/>
          </p:cNvSpPr>
          <p:nvPr/>
        </p:nvSpPr>
        <p:spPr>
          <a:xfrm>
            <a:off x="27813000" y="28670250"/>
            <a:ext cx="6000750" cy="1190625"/>
          </a:xfrm>
          <a:prstGeom prst="roundRect">
            <a:avLst>
              <a:gd name="adj" fmla="val 20800"/>
            </a:avLst>
          </a:prstGeom>
          <a:solidFill>
            <a:srgbClr val="E9F3E9"/>
          </a:solidFill>
          <a:ln w="0">
            <a:noFill/>
          </a:ln>
        </p:spPr>
        <p:txBody>
          <a:bodyPr/>
          <a:lstStyle/>
          <a:p>
            <a:endParaRPr lang="en-US"/>
          </a:p>
        </p:txBody>
      </p:sp>
      <p:sp>
        <p:nvSpPr>
          <p:cNvPr id="252" name="System Comparison">
            <a:extLst>
              <a:ext uri="{FF2B5EF4-FFF2-40B4-BE49-F238E27FC236}">
                <a16:creationId xmlns:a16="http://schemas.microsoft.com/office/drawing/2014/main" id="{389B12EE-C44A-4148-A1E9-7E9A20FBA49E}"/>
              </a:ext>
            </a:extLst>
          </p:cNvPr>
          <p:cNvSpPr>
            <a:spLocks noGrp="1"/>
          </p:cNvSpPr>
          <p:nvPr/>
        </p:nvSpPr>
        <p:spPr>
          <a:xfrm>
            <a:off x="36957000" y="25598438"/>
            <a:ext cx="4191000" cy="4191000"/>
          </a:xfrm>
          <a:prstGeom prst="ellipse">
            <a:avLst/>
          </a:prstGeom>
          <a:solidFill>
            <a:srgbClr val="FFF0C6"/>
          </a:solidFill>
          <a:ln w="0">
            <a:noFill/>
          </a:ln>
        </p:spPr>
        <p:txBody>
          <a:bodyPr/>
          <a:lstStyle/>
          <a:p>
            <a:endParaRPr lang="en-US"/>
          </a:p>
        </p:txBody>
      </p:sp>
      <p:cxnSp>
        <p:nvCxnSpPr>
          <p:cNvPr id="253" name="Straight Arrow Connector 252"/>
          <p:cNvCxnSpPr>
            <a:stCxn id="245" idx="3"/>
            <a:endCxn id="246" idx="1"/>
          </p:cNvCxnSpPr>
          <p:nvPr/>
        </p:nvCxnSpPr>
        <p:spPr>
          <a:xfrm>
            <a:off x="5334000" y="27693938"/>
            <a:ext cx="952500" cy="0"/>
          </a:xfrm>
          <a:prstGeom prst="straightConnector1">
            <a:avLst/>
          </a:prstGeom>
          <a:ln w="38100">
            <a:solidFill>
              <a:srgbClr val="537384"/>
            </a:solidFill>
            <a:tailEnd type="triangle" w="lg" len="lg"/>
          </a:ln>
        </p:spPr>
      </p:cxnSp>
      <p:cxnSp>
        <p:nvCxnSpPr>
          <p:cNvPr id="254" name="Straight Arrow Connector 253"/>
          <p:cNvCxnSpPr>
            <a:stCxn id="246" idx="3"/>
            <a:endCxn id="247" idx="1"/>
          </p:cNvCxnSpPr>
          <p:nvPr/>
        </p:nvCxnSpPr>
        <p:spPr>
          <a:xfrm>
            <a:off x="11906250" y="27693938"/>
            <a:ext cx="952500" cy="0"/>
          </a:xfrm>
          <a:prstGeom prst="straightConnector1">
            <a:avLst/>
          </a:prstGeom>
          <a:ln w="38100">
            <a:solidFill>
              <a:srgbClr val="537384"/>
            </a:solidFill>
            <a:tailEnd type="triangle" w="lg" len="lg"/>
          </a:ln>
        </p:spPr>
      </p:cxnSp>
      <p:sp>
        <p:nvSpPr>
          <p:cNvPr id="255" name="System Branch top">
            <a:extLst>
              <a:ext uri="{FF2B5EF4-FFF2-40B4-BE49-F238E27FC236}">
                <a16:creationId xmlns:a16="http://schemas.microsoft.com/office/drawing/2014/main" id="{A4D304FB-A1D2-4EFC-99DA-1E8B265D00EC}"/>
              </a:ext>
            </a:extLst>
          </p:cNvPr>
          <p:cNvSpPr>
            <a:spLocks noGrp="1"/>
          </p:cNvSpPr>
          <p:nvPr/>
        </p:nvSpPr>
        <p:spPr>
          <a:xfrm>
            <a:off x="18759488" y="26141363"/>
            <a:ext cx="9525" cy="9525"/>
          </a:xfrm>
          <a:prstGeom prst="ellipse">
            <a:avLst/>
          </a:prstGeom>
          <a:noFill/>
          <a:ln w="0">
            <a:noFill/>
          </a:ln>
        </p:spPr>
        <p:txBody>
          <a:bodyPr/>
          <a:lstStyle/>
          <a:p>
            <a:endParaRPr lang="en-US"/>
          </a:p>
        </p:txBody>
      </p:sp>
      <p:sp>
        <p:nvSpPr>
          <p:cNvPr id="256" name="System Branch middle">
            <a:extLst>
              <a:ext uri="{FF2B5EF4-FFF2-40B4-BE49-F238E27FC236}">
                <a16:creationId xmlns:a16="http://schemas.microsoft.com/office/drawing/2014/main" id="{4EEF4443-1370-4F3A-84CC-5432846FBE38}"/>
              </a:ext>
            </a:extLst>
          </p:cNvPr>
          <p:cNvSpPr>
            <a:spLocks noGrp="1"/>
          </p:cNvSpPr>
          <p:nvPr/>
        </p:nvSpPr>
        <p:spPr>
          <a:xfrm>
            <a:off x="18759488" y="27689175"/>
            <a:ext cx="9525" cy="9525"/>
          </a:xfrm>
          <a:prstGeom prst="ellipse">
            <a:avLst/>
          </a:prstGeom>
          <a:noFill/>
          <a:ln w="0">
            <a:noFill/>
          </a:ln>
        </p:spPr>
        <p:txBody>
          <a:bodyPr/>
          <a:lstStyle/>
          <a:p>
            <a:endParaRPr lang="en-US"/>
          </a:p>
        </p:txBody>
      </p:sp>
      <p:sp>
        <p:nvSpPr>
          <p:cNvPr id="257" name="System Branch bottom">
            <a:extLst>
              <a:ext uri="{FF2B5EF4-FFF2-40B4-BE49-F238E27FC236}">
                <a16:creationId xmlns:a16="http://schemas.microsoft.com/office/drawing/2014/main" id="{3A1F658F-DE68-431F-96F6-DF1C89B1CEE7}"/>
              </a:ext>
            </a:extLst>
          </p:cNvPr>
          <p:cNvSpPr>
            <a:spLocks noGrp="1"/>
          </p:cNvSpPr>
          <p:nvPr/>
        </p:nvSpPr>
        <p:spPr>
          <a:xfrm>
            <a:off x="18759488" y="29260800"/>
            <a:ext cx="9525" cy="9525"/>
          </a:xfrm>
          <a:prstGeom prst="ellipse">
            <a:avLst/>
          </a:prstGeom>
          <a:noFill/>
          <a:ln w="0">
            <a:noFill/>
          </a:ln>
        </p:spPr>
        <p:txBody>
          <a:bodyPr/>
          <a:lstStyle/>
          <a:p>
            <a:endParaRPr lang="en-US"/>
          </a:p>
        </p:txBody>
      </p:sp>
      <p:cxnSp>
        <p:nvCxnSpPr>
          <p:cNvPr id="258" name="Straight Arrow Connector 257"/>
          <p:cNvCxnSpPr>
            <a:stCxn id="247" idx="3"/>
            <a:endCxn id="256" idx="2"/>
          </p:cNvCxnSpPr>
          <p:nvPr/>
        </p:nvCxnSpPr>
        <p:spPr>
          <a:xfrm>
            <a:off x="17811750" y="27693938"/>
            <a:ext cx="947738" cy="0"/>
          </a:xfrm>
          <a:prstGeom prst="straightConnector1">
            <a:avLst/>
          </a:prstGeom>
          <a:ln w="38100">
            <a:solidFill>
              <a:srgbClr val="537384"/>
            </a:solidFill>
          </a:ln>
        </p:spPr>
      </p:cxnSp>
      <p:sp>
        <p:nvSpPr>
          <p:cNvPr id="259" name="System branch">
            <a:extLst>
              <a:ext uri="{FF2B5EF4-FFF2-40B4-BE49-F238E27FC236}">
                <a16:creationId xmlns:a16="http://schemas.microsoft.com/office/drawing/2014/main" id="{C0FDACCC-F9D3-4148-AA5E-378A0672EA43}"/>
              </a:ext>
            </a:extLst>
          </p:cNvPr>
          <p:cNvSpPr>
            <a:spLocks noGrp="1"/>
          </p:cNvSpPr>
          <p:nvPr/>
        </p:nvSpPr>
        <p:spPr>
          <a:xfrm>
            <a:off x="18764250" y="26146125"/>
            <a:ext cx="0" cy="3119438"/>
          </a:xfrm>
          <a:prstGeom prst="line">
            <a:avLst/>
          </a:prstGeom>
          <a:noFill/>
          <a:ln w="38100">
            <a:solidFill>
              <a:srgbClr val="537384"/>
            </a:solidFill>
          </a:ln>
        </p:spPr>
        <p:txBody>
          <a:bodyPr/>
          <a:lstStyle/>
          <a:p>
            <a:endParaRPr lang="en-US"/>
          </a:p>
        </p:txBody>
      </p:sp>
      <p:cxnSp>
        <p:nvCxnSpPr>
          <p:cNvPr id="260" name="Straight Arrow Connector 259"/>
          <p:cNvCxnSpPr>
            <a:stCxn id="255" idx="6"/>
            <a:endCxn id="248" idx="1"/>
          </p:cNvCxnSpPr>
          <p:nvPr/>
        </p:nvCxnSpPr>
        <p:spPr>
          <a:xfrm flipV="1">
            <a:off x="18769013" y="26146125"/>
            <a:ext cx="1042987" cy="1"/>
          </a:xfrm>
          <a:prstGeom prst="straightConnector1">
            <a:avLst/>
          </a:prstGeom>
          <a:ln w="38100">
            <a:solidFill>
              <a:srgbClr val="537384"/>
            </a:solidFill>
            <a:tailEnd type="triangle" w="lg" len="lg"/>
          </a:ln>
        </p:spPr>
      </p:cxnSp>
      <p:cxnSp>
        <p:nvCxnSpPr>
          <p:cNvPr id="261" name="Straight Arrow Connector 260"/>
          <p:cNvCxnSpPr>
            <a:stCxn id="256" idx="6"/>
            <a:endCxn id="249" idx="1"/>
          </p:cNvCxnSpPr>
          <p:nvPr/>
        </p:nvCxnSpPr>
        <p:spPr>
          <a:xfrm>
            <a:off x="18769013" y="27693938"/>
            <a:ext cx="1042987" cy="0"/>
          </a:xfrm>
          <a:prstGeom prst="straightConnector1">
            <a:avLst/>
          </a:prstGeom>
          <a:ln w="38100">
            <a:solidFill>
              <a:srgbClr val="537384"/>
            </a:solidFill>
            <a:tailEnd type="triangle" w="lg" len="lg"/>
          </a:ln>
        </p:spPr>
      </p:cxnSp>
      <p:cxnSp>
        <p:nvCxnSpPr>
          <p:cNvPr id="262" name="Straight Arrow Connector 261"/>
          <p:cNvCxnSpPr>
            <a:stCxn id="257" idx="6"/>
            <a:endCxn id="251" idx="1"/>
          </p:cNvCxnSpPr>
          <p:nvPr/>
        </p:nvCxnSpPr>
        <p:spPr>
          <a:xfrm>
            <a:off x="18769013" y="29265563"/>
            <a:ext cx="9043987" cy="0"/>
          </a:xfrm>
          <a:prstGeom prst="straightConnector1">
            <a:avLst/>
          </a:prstGeom>
          <a:ln w="38100">
            <a:solidFill>
              <a:srgbClr val="537384"/>
            </a:solidFill>
            <a:tailEnd type="triangle" w="lg" len="lg"/>
          </a:ln>
        </p:spPr>
      </p:cxnSp>
      <p:cxnSp>
        <p:nvCxnSpPr>
          <p:cNvPr id="263" name="Straight Arrow Connector 262"/>
          <p:cNvCxnSpPr>
            <a:stCxn id="249" idx="3"/>
            <a:endCxn id="250" idx="1"/>
          </p:cNvCxnSpPr>
          <p:nvPr/>
        </p:nvCxnSpPr>
        <p:spPr>
          <a:xfrm>
            <a:off x="26479500" y="27693938"/>
            <a:ext cx="1333500" cy="0"/>
          </a:xfrm>
          <a:prstGeom prst="straightConnector1">
            <a:avLst/>
          </a:prstGeom>
          <a:ln w="38100">
            <a:solidFill>
              <a:srgbClr val="537384"/>
            </a:solidFill>
            <a:tailEnd type="triangle" w="lg" len="lg"/>
          </a:ln>
        </p:spPr>
      </p:cxnSp>
      <p:sp>
        <p:nvSpPr>
          <p:cNvPr id="264" name="System Results top">
            <a:extLst>
              <a:ext uri="{FF2B5EF4-FFF2-40B4-BE49-F238E27FC236}">
                <a16:creationId xmlns:a16="http://schemas.microsoft.com/office/drawing/2014/main" id="{7B1539D5-9CA0-460B-B1B8-37E3B703BB08}"/>
              </a:ext>
            </a:extLst>
          </p:cNvPr>
          <p:cNvSpPr>
            <a:spLocks noGrp="1"/>
          </p:cNvSpPr>
          <p:nvPr/>
        </p:nvSpPr>
        <p:spPr>
          <a:xfrm>
            <a:off x="35523488" y="26141363"/>
            <a:ext cx="9525" cy="9525"/>
          </a:xfrm>
          <a:prstGeom prst="ellipse">
            <a:avLst/>
          </a:prstGeom>
          <a:noFill/>
          <a:ln w="0">
            <a:noFill/>
          </a:ln>
        </p:spPr>
        <p:txBody>
          <a:bodyPr/>
          <a:lstStyle/>
          <a:p>
            <a:endParaRPr lang="en-US"/>
          </a:p>
        </p:txBody>
      </p:sp>
      <p:sp>
        <p:nvSpPr>
          <p:cNvPr id="265" name="System Results middle">
            <a:extLst>
              <a:ext uri="{FF2B5EF4-FFF2-40B4-BE49-F238E27FC236}">
                <a16:creationId xmlns:a16="http://schemas.microsoft.com/office/drawing/2014/main" id="{05C9A700-9828-465F-B836-3B078213FCAE}"/>
              </a:ext>
            </a:extLst>
          </p:cNvPr>
          <p:cNvSpPr>
            <a:spLocks noGrp="1"/>
          </p:cNvSpPr>
          <p:nvPr/>
        </p:nvSpPr>
        <p:spPr>
          <a:xfrm>
            <a:off x="35523488" y="27689175"/>
            <a:ext cx="9525" cy="9525"/>
          </a:xfrm>
          <a:prstGeom prst="ellipse">
            <a:avLst/>
          </a:prstGeom>
          <a:noFill/>
          <a:ln w="0">
            <a:noFill/>
          </a:ln>
        </p:spPr>
        <p:txBody>
          <a:bodyPr/>
          <a:lstStyle/>
          <a:p>
            <a:endParaRPr lang="en-US"/>
          </a:p>
        </p:txBody>
      </p:sp>
      <p:sp>
        <p:nvSpPr>
          <p:cNvPr id="266" name="System Results bottom">
            <a:extLst>
              <a:ext uri="{FF2B5EF4-FFF2-40B4-BE49-F238E27FC236}">
                <a16:creationId xmlns:a16="http://schemas.microsoft.com/office/drawing/2014/main" id="{454A91E9-740B-4F58-80DB-A4A0CF24F569}"/>
              </a:ext>
            </a:extLst>
          </p:cNvPr>
          <p:cNvSpPr>
            <a:spLocks noGrp="1"/>
          </p:cNvSpPr>
          <p:nvPr/>
        </p:nvSpPr>
        <p:spPr>
          <a:xfrm>
            <a:off x="35523488" y="29260800"/>
            <a:ext cx="9525" cy="9525"/>
          </a:xfrm>
          <a:prstGeom prst="ellipse">
            <a:avLst/>
          </a:prstGeom>
          <a:noFill/>
          <a:ln w="0">
            <a:noFill/>
          </a:ln>
        </p:spPr>
        <p:txBody>
          <a:bodyPr/>
          <a:lstStyle/>
          <a:p>
            <a:endParaRPr lang="en-US"/>
          </a:p>
        </p:txBody>
      </p:sp>
      <p:cxnSp>
        <p:nvCxnSpPr>
          <p:cNvPr id="267" name="Straight Arrow Connector 266"/>
          <p:cNvCxnSpPr>
            <a:stCxn id="248" idx="3"/>
            <a:endCxn id="264" idx="2"/>
          </p:cNvCxnSpPr>
          <p:nvPr/>
        </p:nvCxnSpPr>
        <p:spPr>
          <a:xfrm>
            <a:off x="26479500" y="26146125"/>
            <a:ext cx="9043988" cy="1"/>
          </a:xfrm>
          <a:prstGeom prst="straightConnector1">
            <a:avLst/>
          </a:prstGeom>
          <a:ln w="38100">
            <a:solidFill>
              <a:srgbClr val="537384"/>
            </a:solidFill>
          </a:ln>
        </p:spPr>
      </p:cxnSp>
      <p:cxnSp>
        <p:nvCxnSpPr>
          <p:cNvPr id="268" name="Straight Arrow Connector 267"/>
          <p:cNvCxnSpPr>
            <a:stCxn id="250" idx="3"/>
            <a:endCxn id="265" idx="2"/>
          </p:cNvCxnSpPr>
          <p:nvPr/>
        </p:nvCxnSpPr>
        <p:spPr>
          <a:xfrm>
            <a:off x="33813750" y="27693938"/>
            <a:ext cx="1709738" cy="0"/>
          </a:xfrm>
          <a:prstGeom prst="straightConnector1">
            <a:avLst/>
          </a:prstGeom>
          <a:ln w="38100">
            <a:solidFill>
              <a:srgbClr val="537384"/>
            </a:solidFill>
          </a:ln>
        </p:spPr>
      </p:cxnSp>
      <p:cxnSp>
        <p:nvCxnSpPr>
          <p:cNvPr id="269" name="Straight Arrow Connector 268"/>
          <p:cNvCxnSpPr>
            <a:stCxn id="251" idx="3"/>
            <a:endCxn id="266" idx="2"/>
          </p:cNvCxnSpPr>
          <p:nvPr/>
        </p:nvCxnSpPr>
        <p:spPr>
          <a:xfrm>
            <a:off x="33813750" y="29265563"/>
            <a:ext cx="1709738" cy="0"/>
          </a:xfrm>
          <a:prstGeom prst="straightConnector1">
            <a:avLst/>
          </a:prstGeom>
          <a:ln w="38100">
            <a:solidFill>
              <a:srgbClr val="537384"/>
            </a:solidFill>
          </a:ln>
        </p:spPr>
      </p:cxnSp>
      <p:sp>
        <p:nvSpPr>
          <p:cNvPr id="270" name="System branch">
            <a:extLst>
              <a:ext uri="{FF2B5EF4-FFF2-40B4-BE49-F238E27FC236}">
                <a16:creationId xmlns:a16="http://schemas.microsoft.com/office/drawing/2014/main" id="{20A1FBC8-7C2E-4EF7-83CE-BC9C7A027C05}"/>
              </a:ext>
            </a:extLst>
          </p:cNvPr>
          <p:cNvSpPr>
            <a:spLocks noGrp="1"/>
          </p:cNvSpPr>
          <p:nvPr/>
        </p:nvSpPr>
        <p:spPr>
          <a:xfrm>
            <a:off x="35528250" y="26146125"/>
            <a:ext cx="0" cy="3119438"/>
          </a:xfrm>
          <a:prstGeom prst="line">
            <a:avLst/>
          </a:prstGeom>
          <a:noFill/>
          <a:ln w="38100">
            <a:solidFill>
              <a:srgbClr val="537384"/>
            </a:solidFill>
          </a:ln>
        </p:spPr>
        <p:txBody>
          <a:bodyPr/>
          <a:lstStyle/>
          <a:p>
            <a:endParaRPr lang="en-US"/>
          </a:p>
        </p:txBody>
      </p:sp>
      <p:cxnSp>
        <p:nvCxnSpPr>
          <p:cNvPr id="271" name="Straight Arrow Connector 270"/>
          <p:cNvCxnSpPr>
            <a:stCxn id="265" idx="6"/>
            <a:endCxn id="252" idx="2"/>
          </p:cNvCxnSpPr>
          <p:nvPr/>
        </p:nvCxnSpPr>
        <p:spPr>
          <a:xfrm>
            <a:off x="35533013" y="27693938"/>
            <a:ext cx="1423987" cy="1"/>
          </a:xfrm>
          <a:prstGeom prst="straightConnector1">
            <a:avLst/>
          </a:prstGeom>
          <a:ln w="38100">
            <a:solidFill>
              <a:srgbClr val="537384"/>
            </a:solidFill>
            <a:tailEnd type="triangle" w="lg" len="lg"/>
          </a:ln>
        </p:spPr>
      </p:cxnSp>
      <p:sp>
        <p:nvSpPr>
          <p:cNvPr id="272" name="System Recording title">
            <a:extLst>
              <a:ext uri="{FF2B5EF4-FFF2-40B4-BE49-F238E27FC236}">
                <a16:creationId xmlns:a16="http://schemas.microsoft.com/office/drawing/2014/main" id="{167671E4-BAD0-43BF-A8F6-9CF9A36F7885}"/>
              </a:ext>
            </a:extLst>
          </p:cNvPr>
          <p:cNvSpPr>
            <a:spLocks noGrp="1"/>
          </p:cNvSpPr>
          <p:nvPr/>
        </p:nvSpPr>
        <p:spPr>
          <a:xfrm>
            <a:off x="952500" y="26993850"/>
            <a:ext cx="4191000" cy="619125"/>
          </a:xfrm>
          <a:prstGeom prst="rect">
            <a:avLst/>
          </a:prstGeom>
          <a:noFill/>
          <a:ln w="0">
            <a:noFill/>
          </a:ln>
        </p:spPr>
        <p:txBody>
          <a:bodyPr lIns="0" tIns="0" rIns="0" bIns="0" anchor="ctr">
            <a:noAutofit/>
          </a:bodyPr>
          <a:lstStyle/>
          <a:p>
            <a:pPr algn="ctr">
              <a:defRPr sz="3225" b="1">
                <a:solidFill>
                  <a:srgbClr val="245B7F"/>
                </a:solidFill>
                <a:latin typeface="Arial"/>
                <a:ea typeface="Arial"/>
                <a:cs typeface="Arial"/>
              </a:defRPr>
            </a:pPr>
            <a:r>
              <a:rPr sz="3225" b="1">
                <a:solidFill>
                  <a:srgbClr val="245B7F"/>
                </a:solidFill>
                <a:latin typeface="Arial"/>
                <a:ea typeface="Arial"/>
                <a:cs typeface="Arial"/>
              </a:rPr>
              <a:t>Conversation</a:t>
            </a:r>
          </a:p>
        </p:txBody>
      </p:sp>
      <p:sp>
        <p:nvSpPr>
          <p:cNvPr id="273" name="System Recording detail">
            <a:extLst>
              <a:ext uri="{FF2B5EF4-FFF2-40B4-BE49-F238E27FC236}">
                <a16:creationId xmlns:a16="http://schemas.microsoft.com/office/drawing/2014/main" id="{1AA8E1A1-6CD1-4971-A044-A72D489B150F}"/>
              </a:ext>
            </a:extLst>
          </p:cNvPr>
          <p:cNvSpPr>
            <a:spLocks noGrp="1"/>
          </p:cNvSpPr>
          <p:nvPr/>
        </p:nvSpPr>
        <p:spPr>
          <a:xfrm>
            <a:off x="952500" y="27765375"/>
            <a:ext cx="4191000" cy="533400"/>
          </a:xfrm>
          <a:prstGeom prst="rect">
            <a:avLst/>
          </a:prstGeom>
          <a:noFill/>
          <a:ln w="0">
            <a:noFill/>
          </a:ln>
        </p:spPr>
        <p:txBody>
          <a:bodyPr lIns="0" tIns="0" rIns="0" bIns="0" anchor="ctr">
            <a:noAutofit/>
          </a:bodyPr>
          <a:lstStyle/>
          <a:p>
            <a:pPr algn="ctr">
              <a:defRPr sz="2475" b="0">
                <a:solidFill>
                  <a:srgbClr val="233A49"/>
                </a:solidFill>
                <a:latin typeface="Arial"/>
                <a:ea typeface="Arial"/>
                <a:cs typeface="Arial"/>
              </a:defRPr>
            </a:pPr>
            <a:r>
              <a:rPr sz="2475" b="0">
                <a:solidFill>
                  <a:srgbClr val="233A49"/>
                </a:solidFill>
                <a:latin typeface="Arial"/>
                <a:ea typeface="Arial"/>
                <a:cs typeface="Arial"/>
              </a:rPr>
              <a:t>Audio / video recording</a:t>
            </a:r>
          </a:p>
        </p:txBody>
      </p:sp>
      <p:sp>
        <p:nvSpPr>
          <p:cNvPr id="274" name="System Transcription title">
            <a:extLst>
              <a:ext uri="{FF2B5EF4-FFF2-40B4-BE49-F238E27FC236}">
                <a16:creationId xmlns:a16="http://schemas.microsoft.com/office/drawing/2014/main" id="{5CEA7AEC-2059-4E4D-9A8C-C4DD8814D7D5}"/>
              </a:ext>
            </a:extLst>
          </p:cNvPr>
          <p:cNvSpPr>
            <a:spLocks noGrp="1"/>
          </p:cNvSpPr>
          <p:nvPr/>
        </p:nvSpPr>
        <p:spPr>
          <a:xfrm>
            <a:off x="6477000" y="26993850"/>
            <a:ext cx="5238750" cy="619125"/>
          </a:xfrm>
          <a:prstGeom prst="rect">
            <a:avLst/>
          </a:prstGeom>
          <a:noFill/>
          <a:ln w="0">
            <a:noFill/>
          </a:ln>
        </p:spPr>
        <p:txBody>
          <a:bodyPr lIns="0" tIns="0" rIns="0" bIns="0" anchor="ctr">
            <a:noAutofit/>
          </a:bodyPr>
          <a:lstStyle/>
          <a:p>
            <a:pPr algn="ctr">
              <a:defRPr sz="3225" b="1">
                <a:solidFill>
                  <a:srgbClr val="245B7F"/>
                </a:solidFill>
                <a:latin typeface="Arial"/>
                <a:ea typeface="Arial"/>
                <a:cs typeface="Arial"/>
              </a:defRPr>
            </a:pPr>
            <a:r>
              <a:rPr sz="3225" b="1">
                <a:solidFill>
                  <a:srgbClr val="245B7F"/>
                </a:solidFill>
                <a:latin typeface="Arial"/>
                <a:ea typeface="Arial"/>
                <a:cs typeface="Arial"/>
              </a:rPr>
              <a:t>Transcription</a:t>
            </a:r>
          </a:p>
        </p:txBody>
      </p:sp>
      <p:sp>
        <p:nvSpPr>
          <p:cNvPr id="275" name="System Transcription detail">
            <a:extLst>
              <a:ext uri="{FF2B5EF4-FFF2-40B4-BE49-F238E27FC236}">
                <a16:creationId xmlns:a16="http://schemas.microsoft.com/office/drawing/2014/main" id="{B2C4BEF6-4F9F-4D09-BAE9-3AB78ABF1E94}"/>
              </a:ext>
            </a:extLst>
          </p:cNvPr>
          <p:cNvSpPr>
            <a:spLocks noGrp="1"/>
          </p:cNvSpPr>
          <p:nvPr/>
        </p:nvSpPr>
        <p:spPr>
          <a:xfrm>
            <a:off x="6477000" y="27717750"/>
            <a:ext cx="5238750" cy="790575"/>
          </a:xfrm>
          <a:prstGeom prst="rect">
            <a:avLst/>
          </a:prstGeom>
          <a:noFill/>
          <a:ln w="0">
            <a:noFill/>
          </a:ln>
        </p:spPr>
        <p:txBody>
          <a:bodyPr lIns="0" tIns="0" rIns="0" bIns="0" anchor="ctr">
            <a:noAutofit/>
          </a:bodyPr>
          <a:lstStyle/>
          <a:p>
            <a:pPr algn="ctr">
              <a:defRPr sz="2475" b="0">
                <a:solidFill>
                  <a:srgbClr val="233A49"/>
                </a:solidFill>
                <a:latin typeface="Arial"/>
                <a:ea typeface="Arial"/>
                <a:cs typeface="Arial"/>
              </a:defRPr>
            </a:pPr>
            <a:r>
              <a:rPr sz="2475" b="0">
                <a:solidFill>
                  <a:srgbClr val="233A49"/>
                </a:solidFill>
                <a:latin typeface="Arial"/>
                <a:ea typeface="Arial"/>
                <a:cs typeface="Arial"/>
              </a:rPr>
              <a:t>Automatic transcript</a:t>
            </a:r>
          </a:p>
          <a:p>
            <a:pPr algn="ctr">
              <a:defRPr sz="2475" b="0">
                <a:solidFill>
                  <a:srgbClr val="233A49"/>
                </a:solidFill>
                <a:latin typeface="Arial"/>
                <a:ea typeface="Arial"/>
                <a:cs typeface="Arial"/>
              </a:defRPr>
            </a:pPr>
            <a:r>
              <a:rPr sz="2475" b="0">
                <a:solidFill>
                  <a:srgbClr val="233A49"/>
                </a:solidFill>
                <a:latin typeface="Arial"/>
                <a:ea typeface="Arial"/>
                <a:cs typeface="Arial"/>
              </a:rPr>
              <a:t>and speaker labels</a:t>
            </a:r>
          </a:p>
        </p:txBody>
      </p:sp>
      <p:sp>
        <p:nvSpPr>
          <p:cNvPr id="276" name="System Selection title">
            <a:extLst>
              <a:ext uri="{FF2B5EF4-FFF2-40B4-BE49-F238E27FC236}">
                <a16:creationId xmlns:a16="http://schemas.microsoft.com/office/drawing/2014/main" id="{693D9C53-E6C1-48F4-BE0B-F74CDCADB41E}"/>
              </a:ext>
            </a:extLst>
          </p:cNvPr>
          <p:cNvSpPr>
            <a:spLocks noGrp="1"/>
          </p:cNvSpPr>
          <p:nvPr/>
        </p:nvSpPr>
        <p:spPr>
          <a:xfrm>
            <a:off x="13049250" y="26993850"/>
            <a:ext cx="4572000" cy="619125"/>
          </a:xfrm>
          <a:prstGeom prst="rect">
            <a:avLst/>
          </a:prstGeom>
          <a:noFill/>
          <a:ln w="0">
            <a:noFill/>
          </a:ln>
        </p:spPr>
        <p:txBody>
          <a:bodyPr lIns="0" tIns="0" rIns="0" bIns="0" anchor="ctr">
            <a:noAutofit/>
          </a:bodyPr>
          <a:lstStyle/>
          <a:p>
            <a:pPr algn="ctr">
              <a:defRPr sz="3000" b="1">
                <a:solidFill>
                  <a:srgbClr val="315740"/>
                </a:solidFill>
                <a:latin typeface="Arial"/>
                <a:ea typeface="Arial"/>
                <a:cs typeface="Arial"/>
              </a:defRPr>
            </a:pPr>
            <a:r>
              <a:rPr sz="3000" b="1">
                <a:solidFill>
                  <a:srgbClr val="315740"/>
                </a:solidFill>
                <a:latin typeface="Arial"/>
                <a:ea typeface="Arial"/>
                <a:cs typeface="Arial"/>
              </a:rPr>
              <a:t>Participant speech</a:t>
            </a:r>
          </a:p>
        </p:txBody>
      </p:sp>
      <p:sp>
        <p:nvSpPr>
          <p:cNvPr id="277" name="System Selection detail">
            <a:extLst>
              <a:ext uri="{FF2B5EF4-FFF2-40B4-BE49-F238E27FC236}">
                <a16:creationId xmlns:a16="http://schemas.microsoft.com/office/drawing/2014/main" id="{175E9BB7-9AD8-40BF-B078-0264432565A4}"/>
              </a:ext>
            </a:extLst>
          </p:cNvPr>
          <p:cNvSpPr>
            <a:spLocks noGrp="1"/>
          </p:cNvSpPr>
          <p:nvPr/>
        </p:nvSpPr>
        <p:spPr>
          <a:xfrm>
            <a:off x="13049250" y="27717750"/>
            <a:ext cx="4572000" cy="790575"/>
          </a:xfrm>
          <a:prstGeom prst="rect">
            <a:avLst/>
          </a:prstGeom>
          <a:noFill/>
          <a:ln w="0">
            <a:noFill/>
          </a:ln>
        </p:spPr>
        <p:txBody>
          <a:bodyPr lIns="0" tIns="0" rIns="0" bIns="0" anchor="ctr">
            <a:noAutofit/>
          </a:bodyPr>
          <a:lstStyle/>
          <a:p>
            <a:pPr algn="ctr">
              <a:defRPr sz="2475" b="0">
                <a:solidFill>
                  <a:srgbClr val="233A49"/>
                </a:solidFill>
                <a:latin typeface="Arial"/>
                <a:ea typeface="Arial"/>
                <a:cs typeface="Arial"/>
              </a:defRPr>
            </a:pPr>
            <a:r>
              <a:rPr sz="2475" b="0">
                <a:solidFill>
                  <a:srgbClr val="233A49"/>
                </a:solidFill>
                <a:latin typeface="Arial"/>
                <a:ea typeface="Arial"/>
                <a:cs typeface="Arial"/>
              </a:rPr>
              <a:t>Brief human listen</a:t>
            </a:r>
          </a:p>
          <a:p>
            <a:pPr algn="ctr">
              <a:defRPr sz="2475" b="0">
                <a:solidFill>
                  <a:srgbClr val="233A49"/>
                </a:solidFill>
                <a:latin typeface="Arial"/>
                <a:ea typeface="Arial"/>
                <a:cs typeface="Arial"/>
              </a:defRPr>
            </a:pPr>
            <a:r>
              <a:rPr sz="2475" b="0">
                <a:solidFill>
                  <a:srgbClr val="233A49"/>
                </a:solidFill>
                <a:latin typeface="Arial"/>
                <a:ea typeface="Arial"/>
                <a:cs typeface="Arial"/>
              </a:rPr>
              <a:t>Keep participant speech</a:t>
            </a:r>
          </a:p>
        </p:txBody>
      </p:sp>
      <p:pic>
        <p:nvPicPr>
          <p:cNvPr id="278" name="Picture 277"/>
          <p:cNvPicPr>
            <a:picLocks noChangeAspect="1"/>
          </p:cNvPicPr>
          <p:nvPr/>
        </p:nvPicPr>
        <p:blipFill>
          <a:blip r:embed="rId7"/>
          <a:stretch/>
        </p:blipFill>
        <p:spPr>
          <a:xfrm>
            <a:off x="20125069" y="25717500"/>
            <a:ext cx="707363" cy="857250"/>
          </a:xfrm>
          <a:prstGeom prst="rect">
            <a:avLst/>
          </a:prstGeom>
        </p:spPr>
      </p:pic>
      <p:sp>
        <p:nvSpPr>
          <p:cNvPr id="279" name="System Custom title">
            <a:extLst>
              <a:ext uri="{FF2B5EF4-FFF2-40B4-BE49-F238E27FC236}">
                <a16:creationId xmlns:a16="http://schemas.microsoft.com/office/drawing/2014/main" id="{7D4611A6-DBDC-4904-84C9-EFC385161A2C}"/>
              </a:ext>
            </a:extLst>
          </p:cNvPr>
          <p:cNvSpPr>
            <a:spLocks noGrp="1"/>
          </p:cNvSpPr>
          <p:nvPr/>
        </p:nvSpPr>
        <p:spPr>
          <a:xfrm>
            <a:off x="21145500" y="25527000"/>
            <a:ext cx="5114925" cy="533400"/>
          </a:xfrm>
          <a:prstGeom prst="rect">
            <a:avLst/>
          </a:prstGeom>
          <a:noFill/>
          <a:ln w="0">
            <a:noFill/>
          </a:ln>
        </p:spPr>
        <p:txBody>
          <a:bodyPr lIns="0" tIns="0" rIns="0" bIns="0" anchor="ctr">
            <a:noAutofit/>
          </a:bodyPr>
          <a:lstStyle/>
          <a:p>
            <a:pPr algn="l">
              <a:defRPr sz="3000" b="1">
                <a:solidFill>
                  <a:srgbClr val="3D4368"/>
                </a:solidFill>
                <a:latin typeface="Arial"/>
                <a:ea typeface="Arial"/>
                <a:cs typeface="Arial"/>
              </a:defRPr>
            </a:pPr>
            <a:r>
              <a:rPr sz="3000" b="1">
                <a:solidFill>
                  <a:srgbClr val="3D4368"/>
                </a:solidFill>
                <a:latin typeface="Arial"/>
                <a:ea typeface="Arial"/>
                <a:cs typeface="Arial"/>
              </a:rPr>
              <a:t>Our software</a:t>
            </a:r>
          </a:p>
        </p:txBody>
      </p:sp>
      <p:sp>
        <p:nvSpPr>
          <p:cNvPr id="280" name="System Custom detail">
            <a:extLst>
              <a:ext uri="{FF2B5EF4-FFF2-40B4-BE49-F238E27FC236}">
                <a16:creationId xmlns:a16="http://schemas.microsoft.com/office/drawing/2014/main" id="{11ED1D99-BC7F-4D28-95D2-576FAD562445}"/>
              </a:ext>
            </a:extLst>
          </p:cNvPr>
          <p:cNvSpPr>
            <a:spLocks noGrp="1"/>
          </p:cNvSpPr>
          <p:nvPr/>
        </p:nvSpPr>
        <p:spPr>
          <a:xfrm>
            <a:off x="21145500" y="26098500"/>
            <a:ext cx="5114925" cy="666750"/>
          </a:xfrm>
          <a:prstGeom prst="rect">
            <a:avLst/>
          </a:prstGeom>
          <a:noFill/>
          <a:ln w="0">
            <a:noFill/>
          </a:ln>
        </p:spPr>
        <p:txBody>
          <a:bodyPr lIns="0" tIns="0" rIns="0" bIns="0" anchor="ctr">
            <a:noAutofit/>
          </a:bodyPr>
          <a:lstStyle/>
          <a:p>
            <a:pPr algn="l">
              <a:defRPr sz="2400" b="0">
                <a:solidFill>
                  <a:srgbClr val="233A49"/>
                </a:solidFill>
                <a:latin typeface="Arial"/>
                <a:ea typeface="Arial"/>
                <a:cs typeface="Arial"/>
              </a:defRPr>
            </a:pPr>
            <a:r>
              <a:rPr sz="2400" b="0">
                <a:solidFill>
                  <a:srgbClr val="233A49"/>
                </a:solidFill>
                <a:latin typeface="Arial"/>
                <a:ea typeface="Arial"/>
                <a:cs typeface="Arial"/>
              </a:rPr>
              <a:t>Segment utterances,</a:t>
            </a:r>
          </a:p>
          <a:p>
            <a:pPr algn="l">
              <a:defRPr sz="2400" b="0">
                <a:solidFill>
                  <a:srgbClr val="233A49"/>
                </a:solidFill>
                <a:latin typeface="Arial"/>
                <a:ea typeface="Arial"/>
                <a:cs typeface="Arial"/>
              </a:defRPr>
            </a:pPr>
            <a:r>
              <a:rPr sz="2400" b="0">
                <a:solidFill>
                  <a:srgbClr val="233A49"/>
                </a:solidFill>
                <a:latin typeface="Arial"/>
                <a:ea typeface="Arial"/>
                <a:cs typeface="Arial"/>
              </a:rPr>
              <a:t>then score 11 measures</a:t>
            </a:r>
          </a:p>
        </p:txBody>
      </p:sp>
      <p:sp>
        <p:nvSpPr>
          <p:cNvPr id="281" name="System Correction title">
            <a:extLst>
              <a:ext uri="{FF2B5EF4-FFF2-40B4-BE49-F238E27FC236}">
                <a16:creationId xmlns:a16="http://schemas.microsoft.com/office/drawing/2014/main" id="{68AF7916-78C2-4813-B294-EA00102BFC83}"/>
              </a:ext>
            </a:extLst>
          </p:cNvPr>
          <p:cNvSpPr>
            <a:spLocks noGrp="1"/>
          </p:cNvSpPr>
          <p:nvPr/>
        </p:nvSpPr>
        <p:spPr>
          <a:xfrm>
            <a:off x="20002500" y="27136725"/>
            <a:ext cx="6286500" cy="523875"/>
          </a:xfrm>
          <a:prstGeom prst="rect">
            <a:avLst/>
          </a:prstGeom>
          <a:noFill/>
          <a:ln w="0">
            <a:noFill/>
          </a:ln>
        </p:spPr>
        <p:txBody>
          <a:bodyPr lIns="0" tIns="0" rIns="0" bIns="0" anchor="ctr">
            <a:noAutofit/>
          </a:bodyPr>
          <a:lstStyle/>
          <a:p>
            <a:pPr algn="ctr">
              <a:defRPr sz="2700" b="1">
                <a:solidFill>
                  <a:srgbClr val="315740"/>
                </a:solidFill>
                <a:latin typeface="Arial"/>
                <a:ea typeface="Arial"/>
                <a:cs typeface="Arial"/>
              </a:defRPr>
            </a:pPr>
            <a:r>
              <a:rPr sz="2700" b="1">
                <a:solidFill>
                  <a:srgbClr val="315740"/>
                </a:solidFill>
                <a:latin typeface="Arial"/>
                <a:ea typeface="Arial"/>
                <a:cs typeface="Arial"/>
              </a:rPr>
              <a:t>Corrected transcript</a:t>
            </a:r>
          </a:p>
        </p:txBody>
      </p:sp>
      <p:sp>
        <p:nvSpPr>
          <p:cNvPr id="282" name="System Correction detail">
            <a:extLst>
              <a:ext uri="{FF2B5EF4-FFF2-40B4-BE49-F238E27FC236}">
                <a16:creationId xmlns:a16="http://schemas.microsoft.com/office/drawing/2014/main" id="{8CB9FEA6-8AAC-4C99-81D1-79BEF7426254}"/>
              </a:ext>
            </a:extLst>
          </p:cNvPr>
          <p:cNvSpPr>
            <a:spLocks noGrp="1"/>
          </p:cNvSpPr>
          <p:nvPr/>
        </p:nvSpPr>
        <p:spPr>
          <a:xfrm>
            <a:off x="20002500" y="27698700"/>
            <a:ext cx="6286500" cy="466725"/>
          </a:xfrm>
          <a:prstGeom prst="rect">
            <a:avLst/>
          </a:prstGeom>
          <a:noFill/>
          <a:ln w="0">
            <a:noFill/>
          </a:ln>
        </p:spPr>
        <p:txBody>
          <a:bodyPr lIns="0" tIns="0" rIns="0" bIns="0" anchor="ctr">
            <a:noAutofit/>
          </a:bodyPr>
          <a:lstStyle/>
          <a:p>
            <a:pPr algn="ctr">
              <a:defRPr sz="2400" b="0">
                <a:solidFill>
                  <a:srgbClr val="233A49"/>
                </a:solidFill>
                <a:latin typeface="Arial"/>
                <a:ea typeface="Arial"/>
                <a:cs typeface="Arial"/>
              </a:defRPr>
            </a:pPr>
            <a:r>
              <a:rPr sz="2400" b="0">
                <a:solidFill>
                  <a:srgbClr val="233A49"/>
                </a:solidFill>
                <a:latin typeface="Arial"/>
                <a:ea typeface="Arial"/>
                <a:cs typeface="Arial"/>
              </a:rPr>
              <a:t>Human reviewers correct text</a:t>
            </a:r>
          </a:p>
        </p:txBody>
      </p:sp>
      <p:sp>
        <p:nvSpPr>
          <p:cNvPr id="283" name="System Established software">
            <a:extLst>
              <a:ext uri="{FF2B5EF4-FFF2-40B4-BE49-F238E27FC236}">
                <a16:creationId xmlns:a16="http://schemas.microsoft.com/office/drawing/2014/main" id="{199C7E55-D868-4762-87C5-CBB02BC59978}"/>
              </a:ext>
            </a:extLst>
          </p:cNvPr>
          <p:cNvSpPr>
            <a:spLocks noGrp="1"/>
          </p:cNvSpPr>
          <p:nvPr/>
        </p:nvSpPr>
        <p:spPr>
          <a:xfrm>
            <a:off x="28003500" y="27127200"/>
            <a:ext cx="5619750" cy="542925"/>
          </a:xfrm>
          <a:prstGeom prst="rect">
            <a:avLst/>
          </a:prstGeom>
          <a:noFill/>
          <a:ln w="0">
            <a:noFill/>
          </a:ln>
        </p:spPr>
        <p:txBody>
          <a:bodyPr lIns="0" tIns="0" rIns="0" bIns="0" anchor="ctr">
            <a:noAutofit/>
          </a:bodyPr>
          <a:lstStyle/>
          <a:p>
            <a:pPr algn="ctr">
              <a:defRPr sz="3000" b="1">
                <a:solidFill>
                  <a:srgbClr val="245B7F"/>
                </a:solidFill>
                <a:latin typeface="Arial"/>
                <a:ea typeface="Arial"/>
                <a:cs typeface="Arial"/>
              </a:defRPr>
            </a:pPr>
            <a:r>
              <a:rPr sz="3000" b="1">
                <a:solidFill>
                  <a:srgbClr val="245B7F"/>
                </a:solidFill>
                <a:latin typeface="Arial"/>
                <a:ea typeface="Arial"/>
                <a:cs typeface="Arial"/>
              </a:rPr>
              <a:t>Established software</a:t>
            </a:r>
          </a:p>
        </p:txBody>
      </p:sp>
      <p:sp>
        <p:nvSpPr>
          <p:cNvPr id="284" name="System Same rules">
            <a:extLst>
              <a:ext uri="{FF2B5EF4-FFF2-40B4-BE49-F238E27FC236}">
                <a16:creationId xmlns:a16="http://schemas.microsoft.com/office/drawing/2014/main" id="{D2570084-5CF4-414B-9E50-EF8073EBF3CC}"/>
              </a:ext>
            </a:extLst>
          </p:cNvPr>
          <p:cNvSpPr>
            <a:spLocks noGrp="1"/>
          </p:cNvSpPr>
          <p:nvPr/>
        </p:nvSpPr>
        <p:spPr>
          <a:xfrm>
            <a:off x="28003500" y="27708225"/>
            <a:ext cx="5619750" cy="466725"/>
          </a:xfrm>
          <a:prstGeom prst="rect">
            <a:avLst/>
          </a:prstGeom>
          <a:noFill/>
          <a:ln w="0">
            <a:noFill/>
          </a:ln>
        </p:spPr>
        <p:txBody>
          <a:bodyPr lIns="0" tIns="0" rIns="0" bIns="0" anchor="ctr">
            <a:noAutofit/>
          </a:bodyPr>
          <a:lstStyle/>
          <a:p>
            <a:pPr algn="ctr">
              <a:defRPr sz="2400" b="0">
                <a:solidFill>
                  <a:srgbClr val="233A49"/>
                </a:solidFill>
                <a:latin typeface="Arial"/>
                <a:ea typeface="Arial"/>
                <a:cs typeface="Arial"/>
              </a:defRPr>
            </a:pPr>
            <a:r>
              <a:rPr sz="2400" b="0">
                <a:solidFill>
                  <a:srgbClr val="233A49"/>
                </a:solidFill>
                <a:latin typeface="Arial"/>
                <a:ea typeface="Arial"/>
                <a:cs typeface="Arial"/>
              </a:rPr>
              <a:t>Same utterance rules</a:t>
            </a:r>
          </a:p>
        </p:txBody>
      </p:sp>
      <p:sp>
        <p:nvSpPr>
          <p:cNvPr id="285" name="System Sample title">
            <a:extLst>
              <a:ext uri="{FF2B5EF4-FFF2-40B4-BE49-F238E27FC236}">
                <a16:creationId xmlns:a16="http://schemas.microsoft.com/office/drawing/2014/main" id="{8FF85441-FD0C-4243-A6A4-8EBF71CB1309}"/>
              </a:ext>
            </a:extLst>
          </p:cNvPr>
          <p:cNvSpPr>
            <a:spLocks noGrp="1"/>
          </p:cNvSpPr>
          <p:nvPr/>
        </p:nvSpPr>
        <p:spPr>
          <a:xfrm>
            <a:off x="28003500" y="28727400"/>
            <a:ext cx="5619750" cy="495300"/>
          </a:xfrm>
          <a:prstGeom prst="rect">
            <a:avLst/>
          </a:prstGeom>
          <a:noFill/>
          <a:ln w="0">
            <a:noFill/>
          </a:ln>
        </p:spPr>
        <p:txBody>
          <a:bodyPr lIns="0" tIns="0" rIns="0" bIns="0" anchor="ctr">
            <a:noAutofit/>
          </a:bodyPr>
          <a:lstStyle/>
          <a:p>
            <a:pPr algn="ctr">
              <a:defRPr sz="2625" b="1">
                <a:solidFill>
                  <a:srgbClr val="315740"/>
                </a:solidFill>
                <a:latin typeface="Arial"/>
                <a:ea typeface="Arial"/>
                <a:cs typeface="Arial"/>
              </a:defRPr>
            </a:pPr>
            <a:r>
              <a:rPr sz="2625" b="1">
                <a:solidFill>
                  <a:srgbClr val="315740"/>
                </a:solidFill>
                <a:latin typeface="Arial"/>
                <a:ea typeface="Arial"/>
                <a:cs typeface="Arial"/>
              </a:rPr>
              <a:t>Manually labeled sample</a:t>
            </a:r>
          </a:p>
        </p:txBody>
      </p:sp>
      <p:sp>
        <p:nvSpPr>
          <p:cNvPr id="286" name="System Sample detail">
            <a:extLst>
              <a:ext uri="{FF2B5EF4-FFF2-40B4-BE49-F238E27FC236}">
                <a16:creationId xmlns:a16="http://schemas.microsoft.com/office/drawing/2014/main" id="{909B5913-1CFF-4E65-B3B0-870C04D8B77A}"/>
              </a:ext>
            </a:extLst>
          </p:cNvPr>
          <p:cNvSpPr>
            <a:spLocks noGrp="1"/>
          </p:cNvSpPr>
          <p:nvPr/>
        </p:nvSpPr>
        <p:spPr>
          <a:xfrm>
            <a:off x="28003500" y="29298900"/>
            <a:ext cx="5619750" cy="457200"/>
          </a:xfrm>
          <a:prstGeom prst="rect">
            <a:avLst/>
          </a:prstGeom>
          <a:noFill/>
          <a:ln w="0">
            <a:noFill/>
          </a:ln>
        </p:spPr>
        <p:txBody>
          <a:bodyPr lIns="0" tIns="0" rIns="0" bIns="0" anchor="ctr">
            <a:noAutofit/>
          </a:bodyPr>
          <a:lstStyle/>
          <a:p>
            <a:pPr algn="ctr">
              <a:defRPr sz="2400" b="0">
                <a:solidFill>
                  <a:srgbClr val="233A49"/>
                </a:solidFill>
                <a:latin typeface="Arial"/>
                <a:ea typeface="Arial"/>
                <a:cs typeface="Arial"/>
              </a:defRPr>
            </a:pPr>
            <a:r>
              <a:rPr sz="2400" b="0">
                <a:solidFill>
                  <a:srgbClr val="233A49"/>
                </a:solidFill>
                <a:latin typeface="Arial"/>
                <a:ea typeface="Arial"/>
                <a:cs typeface="Arial"/>
              </a:rPr>
              <a:t>~100 utterances per participant</a:t>
            </a:r>
          </a:p>
        </p:txBody>
      </p:sp>
      <p:sp>
        <p:nvSpPr>
          <p:cNvPr id="287" name="System Compare title">
            <a:extLst>
              <a:ext uri="{FF2B5EF4-FFF2-40B4-BE49-F238E27FC236}">
                <a16:creationId xmlns:a16="http://schemas.microsoft.com/office/drawing/2014/main" id="{DBD69967-7DF6-4B31-BD83-DBC3B1891AB1}"/>
              </a:ext>
            </a:extLst>
          </p:cNvPr>
          <p:cNvSpPr>
            <a:spLocks noGrp="1"/>
          </p:cNvSpPr>
          <p:nvPr/>
        </p:nvSpPr>
        <p:spPr>
          <a:xfrm>
            <a:off x="37338000" y="26222325"/>
            <a:ext cx="3429000" cy="600075"/>
          </a:xfrm>
          <a:prstGeom prst="rect">
            <a:avLst/>
          </a:prstGeom>
          <a:noFill/>
          <a:ln w="0">
            <a:noFill/>
          </a:ln>
        </p:spPr>
        <p:txBody>
          <a:bodyPr lIns="0" tIns="0" rIns="0" bIns="0" anchor="ctr">
            <a:noAutofit/>
          </a:bodyPr>
          <a:lstStyle/>
          <a:p>
            <a:pPr algn="ctr">
              <a:defRPr sz="3450" b="1">
                <a:solidFill>
                  <a:srgbClr val="604D20"/>
                </a:solidFill>
                <a:latin typeface="Arial"/>
                <a:ea typeface="Arial"/>
                <a:cs typeface="Arial"/>
              </a:defRPr>
            </a:pPr>
            <a:r>
              <a:rPr sz="3450" b="1">
                <a:solidFill>
                  <a:srgbClr val="604D20"/>
                </a:solidFill>
                <a:latin typeface="Arial"/>
                <a:ea typeface="Arial"/>
                <a:cs typeface="Arial"/>
              </a:rPr>
              <a:t>Compare</a:t>
            </a:r>
          </a:p>
        </p:txBody>
      </p:sp>
      <p:sp>
        <p:nvSpPr>
          <p:cNvPr id="288" name="System Compare measures">
            <a:extLst>
              <a:ext uri="{FF2B5EF4-FFF2-40B4-BE49-F238E27FC236}">
                <a16:creationId xmlns:a16="http://schemas.microsoft.com/office/drawing/2014/main" id="{D28A6F75-C8A1-436B-A48F-571F935C01FE}"/>
              </a:ext>
            </a:extLst>
          </p:cNvPr>
          <p:cNvSpPr>
            <a:spLocks noGrp="1"/>
          </p:cNvSpPr>
          <p:nvPr/>
        </p:nvSpPr>
        <p:spPr>
          <a:xfrm>
            <a:off x="37242750" y="27031950"/>
            <a:ext cx="3619500" cy="552450"/>
          </a:xfrm>
          <a:prstGeom prst="rect">
            <a:avLst/>
          </a:prstGeom>
          <a:noFill/>
          <a:ln w="0">
            <a:noFill/>
          </a:ln>
        </p:spPr>
        <p:txBody>
          <a:bodyPr lIns="0" tIns="0" rIns="0" bIns="0" anchor="ctr">
            <a:noAutofit/>
          </a:bodyPr>
          <a:lstStyle/>
          <a:p>
            <a:pPr algn="ctr">
              <a:defRPr sz="2475" b="1">
                <a:solidFill>
                  <a:srgbClr val="604D20"/>
                </a:solidFill>
                <a:latin typeface="Arial"/>
                <a:ea typeface="Arial"/>
                <a:cs typeface="Arial"/>
              </a:defRPr>
            </a:pPr>
            <a:r>
              <a:rPr sz="2475" b="1">
                <a:solidFill>
                  <a:srgbClr val="604D20"/>
                </a:solidFill>
                <a:latin typeface="Arial"/>
                <a:ea typeface="Arial"/>
                <a:cs typeface="Arial"/>
              </a:rPr>
              <a:t>11 language measures</a:t>
            </a:r>
          </a:p>
        </p:txBody>
      </p:sp>
      <p:sp>
        <p:nvSpPr>
          <p:cNvPr id="289" name="System Compare metric">
            <a:extLst>
              <a:ext uri="{FF2B5EF4-FFF2-40B4-BE49-F238E27FC236}">
                <a16:creationId xmlns:a16="http://schemas.microsoft.com/office/drawing/2014/main" id="{4DA77B17-55C3-465B-9FDC-089C4081A137}"/>
              </a:ext>
            </a:extLst>
          </p:cNvPr>
          <p:cNvSpPr>
            <a:spLocks noGrp="1"/>
          </p:cNvSpPr>
          <p:nvPr/>
        </p:nvSpPr>
        <p:spPr>
          <a:xfrm>
            <a:off x="37338000" y="27813000"/>
            <a:ext cx="3429000" cy="800100"/>
          </a:xfrm>
          <a:prstGeom prst="rect">
            <a:avLst/>
          </a:prstGeom>
          <a:noFill/>
          <a:ln w="0">
            <a:noFill/>
          </a:ln>
        </p:spPr>
        <p:txBody>
          <a:bodyPr lIns="0" tIns="0" rIns="0" bIns="0" anchor="ctr">
            <a:noAutofit/>
          </a:bodyPr>
          <a:lstStyle/>
          <a:p>
            <a:pPr algn="ctr">
              <a:defRPr sz="2475" b="0">
                <a:solidFill>
                  <a:srgbClr val="604D20"/>
                </a:solidFill>
                <a:latin typeface="Arial"/>
                <a:ea typeface="Arial"/>
                <a:cs typeface="Arial"/>
              </a:defRPr>
            </a:pPr>
            <a:r>
              <a:rPr sz="2475" b="0">
                <a:solidFill>
                  <a:srgbClr val="604D20"/>
                </a:solidFill>
                <a:latin typeface="Arial"/>
                <a:ea typeface="Arial"/>
                <a:cs typeface="Arial"/>
              </a:rPr>
              <a:t>Mean absolute</a:t>
            </a:r>
          </a:p>
          <a:p>
            <a:pPr algn="ctr">
              <a:defRPr sz="2475" b="0">
                <a:solidFill>
                  <a:srgbClr val="604D20"/>
                </a:solidFill>
                <a:latin typeface="Arial"/>
                <a:ea typeface="Arial"/>
                <a:cs typeface="Arial"/>
              </a:defRPr>
            </a:pPr>
            <a:r>
              <a:rPr sz="2475" b="0">
                <a:solidFill>
                  <a:srgbClr val="604D20"/>
                </a:solidFill>
                <a:latin typeface="Arial"/>
                <a:ea typeface="Arial"/>
                <a:cs typeface="Arial"/>
              </a:rPr>
              <a:t>percentage error</a:t>
            </a:r>
          </a:p>
        </p:txBody>
      </p:sp>
    </p:spTree>
    <p:extLst>
      <p:ext uri="{BB962C8B-B14F-4D97-AF65-F5344CB8AC3E}">
        <p14:creationId xmlns:p14="http://schemas.microsoft.com/office/powerpoint/2010/main" val="3303315434"/>
      </p:ext>
    </p:extLst>
  </p:cSld>
  <p:clrMapOvr>
    <a:masterClrMapping/>
  </p:clrMapOvr>
</p:sld>
</file>

<file path=ppt/theme/theme1.xml><?xml version="1.0" encoding="utf-8"?>
<a:theme xmlns:a="http://schemas.openxmlformats.org/drawingml/2006/main" name="Default Design">
  <a:themeElements>
    <a:clrScheme name="Mizzou 2020">
      <a:dk1>
        <a:srgbClr val="000000"/>
      </a:dk1>
      <a:lt1>
        <a:srgbClr val="FFFFFF"/>
      </a:lt1>
      <a:dk2>
        <a:srgbClr val="8F8883"/>
      </a:dk2>
      <a:lt2>
        <a:srgbClr val="DAD4CC"/>
      </a:lt2>
      <a:accent1>
        <a:srgbClr val="F0B82C"/>
      </a:accent1>
      <a:accent2>
        <a:srgbClr val="1C5E90"/>
      </a:accent2>
      <a:accent3>
        <a:srgbClr val="BD5B2B"/>
      </a:accent3>
      <a:accent4>
        <a:srgbClr val="69901D"/>
      </a:accent4>
      <a:accent5>
        <a:srgbClr val="900000"/>
      </a:accent5>
      <a:accent6>
        <a:srgbClr val="D7D7D7"/>
      </a:accent6>
      <a:hlink>
        <a:srgbClr val="900000"/>
      </a:hlink>
      <a:folHlink>
        <a:srgbClr val="1C5E9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izzou 202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efault Design">
  <a:themeElements>
    <a:clrScheme name="Mizzou 2020">
      <a:dk1>
        <a:srgbClr val="000000"/>
      </a:dk1>
      <a:lt1>
        <a:srgbClr val="FFFFFF"/>
      </a:lt1>
      <a:dk2>
        <a:srgbClr val="8F8883"/>
      </a:dk2>
      <a:lt2>
        <a:srgbClr val="DAD4CC"/>
      </a:lt2>
      <a:accent1>
        <a:srgbClr val="F0B82C"/>
      </a:accent1>
      <a:accent2>
        <a:srgbClr val="1C5E90"/>
      </a:accent2>
      <a:accent3>
        <a:srgbClr val="BD5B2B"/>
      </a:accent3>
      <a:accent4>
        <a:srgbClr val="69901D"/>
      </a:accent4>
      <a:accent5>
        <a:srgbClr val="900000"/>
      </a:accent5>
      <a:accent6>
        <a:srgbClr val="D7D7D7"/>
      </a:accent6>
      <a:hlink>
        <a:srgbClr val="900000"/>
      </a:hlink>
      <a:folHlink>
        <a:srgbClr val="1C5E9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izzou 202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753</Words>
  <Application>Microsoft Macintosh PowerPoint</Application>
  <DocSecurity>0</DocSecurity>
  <PresentationFormat>Custom</PresentationFormat>
  <Paragraphs>81</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Montserrat</vt:lpstr>
      <vt:lpstr>Times New Roman</vt:lpstr>
      <vt:lpstr>Default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Nafee, Kazi Sameer (MU-Student)</cp:lastModifiedBy>
  <cp:revision>2</cp:revision>
  <dcterms:created xsi:type="dcterms:W3CDTF">2026-10-02T02:50:18Z</dcterms:created>
  <dcterms:modified xsi:type="dcterms:W3CDTF">2026-10-05T18:27:31Z</dcterms:modified>
</cp:coreProperties>
</file>